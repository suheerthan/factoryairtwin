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cation ID" id="{99202f8b-74d5-dc6b-2678-b00341df7dd6}">
          <p14:sldIdLst>
            <p14:sldId id="256"/>
          </p14:sldIdLst>
        </p14:section>
        <p14:section name="Problem context" id="{90bb3786-8e37-de85-5f16-5e531ada4ce3}">
          <p14:sldIdLst>
            <p14:sldId id="257"/>
            <p14:sldId id="258"/>
          </p14:sldIdLst>
        </p14:section>
        <p14:section name="User journey" id="{e340035d-c1c9-e2ac-8f43-052622848698}">
          <p14:sldIdLst>
            <p14:sldId id="259"/>
            <p14:sldId id="260"/>
          </p14:sldIdLst>
        </p14:section>
        <p14:section name="System architecture" id="{ddc5a473-dc6f-045f-fe7c-1cea697a5f29}">
          <p14:sldIdLst>
            <p14:sldId id="261"/>
            <p14:sldId id="262"/>
          </p14:sldIdLst>
        </p14:section>
        <p14:section name="CAD &amp; mechanical" id="{65b7e918-915a-2176-a6d8-c4e03cb15a96}">
          <p14:sldIdLst>
            <p14:sldId id="263"/>
          </p14:sldIdLst>
        </p14:section>
        <p14:section name="Electronics &amp; BOM" id="{8442c8ea-2aa6-a987-571a-47b18e9e1c4b}">
          <p14:sldIdLst>
            <p14:sldId id="264"/>
          </p14:sldIdLst>
        </p14:section>
        <p14:section name="Maker journey" id="{9b01c999-1bd6-0b5f-d057-28cfde847d3d}">
          <p14:sldIdLst>
            <p14:sldId id="265"/>
            <p14:sldId id="266"/>
          </p14:sldIdLst>
        </p14:section>
        <p14:section name="Safety &amp; hazard mitigation" id="{07ac9689-da89-00a6-c08a-0c9d675a3798}">
          <p14:sldIdLst>
            <p14:sldId id="267"/>
          </p14:sldIdLst>
        </p14:section>
        <p14:section name="Roadmap" id="{bfd5206a-8d93-adff-03c1-4a1b2be5471f}">
          <p14:sldIdLst>
            <p14:sldId id="268"/>
          </p14:sldIdLst>
        </p14:section>
        <p14:section name="Technical challenges &amp; risks" id="{cb054cb8-9446-b8b9-ba69-b15dcd8c49f9}">
          <p14:sldIdLst>
            <p14:sldId id="269"/>
            <p14:sldId id="270"/>
          </p14:sldIdLst>
        </p14:section>
        <p14:section name="References" id="{66ae2312-a197-f653-e372-5663f5603ee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7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730"/>
                </a:solidFill>
                <a:latin typeface="+mn-lt"/>
              </a:rPr>
              <a:t>Nightly leak test, % of compressor capacity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Leak, % of capacity</c:v>
                </c:pt>
              </c:strCache>
            </c:strRef>
          </c:tx>
          <c:spPr>
            <a:solidFill>
              <a:srgbClr val="1C6A96"/>
            </a:solidFill>
            <a:ln w="38100" cap="flat">
              <a:solidFill>
                <a:srgbClr val="1C6A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6A96"/>
              </a:solidFill>
              <a:ln w="9525" cap="flat">
                <a:solidFill>
                  <a:srgbClr val="1C6A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Mon 1</c:v>
                  </c:pt>
                  <c:pt idx="1">
                    <c:v>Tue 2</c:v>
                  </c:pt>
                  <c:pt idx="2">
                    <c:v>Wed 3</c:v>
                  </c:pt>
                  <c:pt idx="3">
                    <c:v>Thu 4</c:v>
                  </c:pt>
                  <c:pt idx="4">
                    <c:v>Fri 5</c:v>
                  </c:pt>
                  <c:pt idx="5">
                    <c:v>Sat 6</c:v>
                  </c:pt>
                  <c:pt idx="6">
                    <c:v>Sun 7</c:v>
                  </c:pt>
                  <c:pt idx="7">
                    <c:v>Mon 8</c:v>
                  </c:pt>
                  <c:pt idx="8">
                    <c:v>Tue 9</c:v>
                  </c:pt>
                  <c:pt idx="9">
                    <c:v>Wed 10</c:v>
                  </c:pt>
                  <c:pt idx="10">
                    <c:v>Thu 11</c:v>
                  </c:pt>
                  <c:pt idx="11">
                    <c:v>Fri 12</c:v>
                  </c:pt>
                  <c:pt idx="12">
                    <c:v>Sat 13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7.3</c:v>
                </c:pt>
                <c:pt idx="1">
                  <c:v>7.4</c:v>
                </c:pt>
                <c:pt idx="2">
                  <c:v>7.5</c:v>
                </c:pt>
                <c:pt idx="3">
                  <c:v>22</c:v>
                </c:pt>
                <c:pt idx="4">
                  <c:v>22.1</c:v>
                </c:pt>
                <c:pt idx="5">
                  <c:v>22.1</c:v>
                </c:pt>
                <c:pt idx="6">
                  <c:v>22.2</c:v>
                </c:pt>
                <c:pt idx="7">
                  <c:v>22.3</c:v>
                </c:pt>
                <c:pt idx="8">
                  <c:v>22.4</c:v>
                </c:pt>
                <c:pt idx="9">
                  <c:v>22.5</c:v>
                </c:pt>
                <c:pt idx="10">
                  <c:v>8.2</c:v>
                </c:pt>
                <c:pt idx="11">
                  <c:v>8.2</c:v>
                </c:pt>
                <c:pt idx="12">
                  <c:v>8.3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2E6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7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730"/>
                </a:solidFill>
                <a:latin typeface="+mn-lt"/>
              </a:rPr>
              <a:t>Where the ₹6,100 goes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6A96"/>
              </a:solidFill>
              <a:effectLst/>
            </c:spPr>
          </c:dPt>
          <c:dPt>
            <c:idx val="1"/>
            <c:bubble3D val="0"/>
            <c:spPr>
              <a:solidFill>
                <a:srgbClr val="0F2730"/>
              </a:solidFill>
              <a:effectLst/>
            </c:spPr>
          </c:dPt>
          <c:dPt>
            <c:idx val="2"/>
            <c:bubble3D val="0"/>
            <c:spPr>
              <a:solidFill>
                <a:srgbClr val="F2A516"/>
              </a:solidFill>
              <a:effectLst/>
            </c:spPr>
          </c:dPt>
          <c:dPt>
            <c:idx val="3"/>
            <c:bubble3D val="0"/>
            <c:spPr>
              <a:solidFill>
                <a:srgbClr val="7FC4EA"/>
              </a:solidFill>
              <a:effectLst/>
            </c:spPr>
          </c:dPt>
          <c:dPt>
            <c:idx val="4"/>
            <c:bubble3D val="0"/>
            <c:spPr>
              <a:solidFill>
                <a:srgbClr val="5A6A6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Sensors</c:v>
                </c:pt>
                <c:pt idx="1">
                  <c:v>Controller + ADC</c:v>
                </c:pt>
                <c:pt idx="2">
                  <c:v>Power</c:v>
                </c:pt>
                <c:pt idx="3">
                  <c:v>Enclosure + fittings</c:v>
                </c:pt>
                <c:pt idx="4">
                  <c:v>Storage + protection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2250</c:v>
                </c:pt>
                <c:pt idx="1">
                  <c:v>1150</c:v>
                </c:pt>
                <c:pt idx="2">
                  <c:v>1100</c:v>
                </c:pt>
                <c:pt idx="3">
                  <c:v>1050</c:v>
                </c:pt>
                <c:pt idx="4">
                  <c:v>550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F27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7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730"/>
                </a:solidFill>
                <a:latin typeface="+mn-lt"/>
              </a:rPr>
              <a:t>30 unseen plants: estimated vs hidden true leak (m³/min)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leak</c:v>
                </c:pt>
              </c:strCache>
            </c:strRef>
          </c:tx>
          <c:spPr>
            <a:solidFill>
              <a:srgbClr val="1C6A96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1C6A96"/>
              </a:solidFill>
              <a:ln w="9525" cap="flat">
                <a:solidFill>
                  <a:srgbClr val="1C6A96"/>
                </a:solidFill>
                <a:prstDash val="solid"/>
                <a:round/>
              </a:ln>
              <a:effectLst/>
            </c:spPr>
          </c:marker>
          <c:xVal>
            <c:numRef>
              <c:f>Sheet1!$A$2:$A$31</c:f>
              <c:numCache>
                <c:formatCode>General</c:formatCode>
                <c:ptCount val="30"/>
                <c:pt idx="0">
                  <c:v>0.2714</c:v>
                </c:pt>
                <c:pt idx="1">
                  <c:v>0.1475</c:v>
                </c:pt>
                <c:pt idx="2">
                  <c:v>0.2019</c:v>
                </c:pt>
                <c:pt idx="3">
                  <c:v>0.28</c:v>
                </c:pt>
                <c:pt idx="4">
                  <c:v>0.305</c:v>
                </c:pt>
                <c:pt idx="5">
                  <c:v>0.0506</c:v>
                </c:pt>
                <c:pt idx="6">
                  <c:v>0.0689</c:v>
                </c:pt>
                <c:pt idx="7">
                  <c:v>0.148</c:v>
                </c:pt>
                <c:pt idx="8">
                  <c:v>0.1489</c:v>
                </c:pt>
                <c:pt idx="9">
                  <c:v>0.1879</c:v>
                </c:pt>
                <c:pt idx="10">
                  <c:v>0.2448</c:v>
                </c:pt>
                <c:pt idx="11">
                  <c:v>0.231</c:v>
                </c:pt>
                <c:pt idx="12">
                  <c:v>0.2786</c:v>
                </c:pt>
                <c:pt idx="13">
                  <c:v>0.3047</c:v>
                </c:pt>
                <c:pt idx="14">
                  <c:v>0.2542</c:v>
                </c:pt>
                <c:pt idx="15">
                  <c:v>0.2633</c:v>
                </c:pt>
                <c:pt idx="16">
                  <c:v>0.1582</c:v>
                </c:pt>
                <c:pt idx="17">
                  <c:v>0.1605</c:v>
                </c:pt>
                <c:pt idx="18">
                  <c:v>0.2632</c:v>
                </c:pt>
                <c:pt idx="19">
                  <c:v>0.2308</c:v>
                </c:pt>
                <c:pt idx="20">
                  <c:v>0.2663</c:v>
                </c:pt>
                <c:pt idx="21">
                  <c:v>0.1333</c:v>
                </c:pt>
                <c:pt idx="22">
                  <c:v>0.0331</c:v>
                </c:pt>
                <c:pt idx="23">
                  <c:v>0.2009</c:v>
                </c:pt>
                <c:pt idx="24">
                  <c:v>0.2985</c:v>
                </c:pt>
                <c:pt idx="25">
                  <c:v>0.246</c:v>
                </c:pt>
                <c:pt idx="26">
                  <c:v>0.1623</c:v>
                </c:pt>
                <c:pt idx="27">
                  <c:v>0.0529</c:v>
                </c:pt>
                <c:pt idx="28">
                  <c:v>0.1152</c:v>
                </c:pt>
                <c:pt idx="29">
                  <c:v>0.135</c:v>
                </c:pt>
              </c:numCache>
            </c:numRef>
          </c:xVal>
          <c:yVal>
            <c:numRef>
              <c:f>Sheet1!$B$2:$B$31</c:f>
              <c:numCache>
                <c:formatCode>General</c:formatCode>
                <c:ptCount val="30"/>
                <c:pt idx="0">
                  <c:v>0.2755</c:v>
                </c:pt>
                <c:pt idx="1">
                  <c:v>0.1445</c:v>
                </c:pt>
                <c:pt idx="2">
                  <c:v>0.2034</c:v>
                </c:pt>
                <c:pt idx="3">
                  <c:v>0.2951</c:v>
                </c:pt>
                <c:pt idx="4">
                  <c:v>0.3181</c:v>
                </c:pt>
                <c:pt idx="5">
                  <c:v>0.0491</c:v>
                </c:pt>
                <c:pt idx="6">
                  <c:v>0.0697</c:v>
                </c:pt>
                <c:pt idx="7">
                  <c:v>0.1474</c:v>
                </c:pt>
                <c:pt idx="8">
                  <c:v>0.1504</c:v>
                </c:pt>
                <c:pt idx="9">
                  <c:v>0.1904</c:v>
                </c:pt>
                <c:pt idx="10">
                  <c:v>0.2419</c:v>
                </c:pt>
                <c:pt idx="11">
                  <c:v>0.2341</c:v>
                </c:pt>
                <c:pt idx="12">
                  <c:v>0.2835</c:v>
                </c:pt>
                <c:pt idx="13">
                  <c:v>0.3035</c:v>
                </c:pt>
                <c:pt idx="14">
                  <c:v>0.2543</c:v>
                </c:pt>
                <c:pt idx="15">
                  <c:v>0.2698</c:v>
                </c:pt>
                <c:pt idx="16">
                  <c:v>0.1583</c:v>
                </c:pt>
                <c:pt idx="17">
                  <c:v>0.1676</c:v>
                </c:pt>
                <c:pt idx="18">
                  <c:v>0.266</c:v>
                </c:pt>
                <c:pt idx="19">
                  <c:v>0.2279</c:v>
                </c:pt>
                <c:pt idx="20">
                  <c:v>0.2593</c:v>
                </c:pt>
                <c:pt idx="21">
                  <c:v>0.1336</c:v>
                </c:pt>
                <c:pt idx="22">
                  <c:v>0.0339</c:v>
                </c:pt>
                <c:pt idx="23">
                  <c:v>0.2031</c:v>
                </c:pt>
                <c:pt idx="24">
                  <c:v>0.2997</c:v>
                </c:pt>
                <c:pt idx="25">
                  <c:v>0.2541</c:v>
                </c:pt>
                <c:pt idx="26">
                  <c:v>0.1586</c:v>
                </c:pt>
                <c:pt idx="27">
                  <c:v>0.0519</c:v>
                </c:pt>
                <c:pt idx="28">
                  <c:v>0.1139</c:v>
                </c:pt>
                <c:pt idx="29">
                  <c:v>0.1417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35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A6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A6F"/>
                    </a:solidFill>
                    <a:latin typeface="Arial"/>
                  </a:rPr>
                  <a:t>hidden true leak</a:t>
                </a:r>
              </a:p>
            </c:rich>
          </c:tx>
          <c:layout/>
          <c:overlay val="0"/>
        </c:title>
        <c:numFmt formatCode="0.0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A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9525" cap="flat">
              <a:solidFill>
                <a:srgbClr val="E2E6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A6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A6F"/>
                    </a:solidFill>
                    <a:latin typeface="Arial"/>
                  </a:rPr>
                  <a:t>estimated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A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_TITLE">
    <p:bg>
      <p:bgPr>
        <a:solidFill>
          <a:srgbClr val="0F2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image" Target="../media/image-5-8.png"/><Relationship Id="rId10" Type="http://schemas.openxmlformats.org/officeDocument/2006/relationships/image" Target="../media/image-5-9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0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6" Type="http://schemas.openxmlformats.org/officeDocument/2006/relationships/image" Target="../media/image-11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Application ID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A51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VK26-IITI-AHM-0210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FactoryAir Twin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731520" cy="731520"/>
          </a:xfrm>
          <a:prstGeom prst="ellipse">
            <a:avLst/>
          </a:prstGeom>
          <a:solidFill>
            <a:srgbClr val="183A45"/>
          </a:solidFill>
          <a:ln w="12700">
            <a:solidFill>
              <a:srgbClr val="183A45"/>
            </a:solidFill>
            <a:prstDash val="solid"/>
          </a:ln>
        </p:spPr>
      </p:sp>
      <p:pic>
        <p:nvPicPr>
          <p:cNvPr id="6" name="Image 0" descr="Gau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14" y="304129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971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965960" y="2880360"/>
            <a:ext cx="731520" cy="731520"/>
          </a:xfrm>
          <a:prstGeom prst="ellipse">
            <a:avLst/>
          </a:prstGeom>
          <a:solidFill>
            <a:srgbClr val="183A45"/>
          </a:solidFill>
          <a:ln w="12700">
            <a:solidFill>
              <a:srgbClr val="183A45"/>
            </a:solidFill>
            <a:prstDash val="solid"/>
          </a:ln>
        </p:spPr>
      </p:sp>
      <p:pic>
        <p:nvPicPr>
          <p:cNvPr id="10" name="Image 1" descr="Bo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894" y="304129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971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3291840" y="2880360"/>
            <a:ext cx="731520" cy="73152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4" name="Image 2" descr="Brai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774" y="3041294"/>
            <a:ext cx="409651" cy="4096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0896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069080" y="2971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4617720" y="2880360"/>
            <a:ext cx="731520" cy="73152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pic>
        <p:nvPicPr>
          <p:cNvPr id="18" name="Image 3" descr="CurrencyRupe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654" y="3041294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3484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Volts and Bolts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______________________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______________________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______________________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______________________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Design Development · October 2026 · figures from simulation unless marked real data</a:t>
            </a:r>
            <a:endParaRPr lang="en-US" sz="1100" dirty="0"/>
          </a:p>
        </p:txBody>
      </p:sp>
      <p:pic>
        <p:nvPicPr>
          <p:cNvPr id="22" name="Image 4" descr="FactoryAir Twin plant overview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234440"/>
            <a:ext cx="5257800" cy="328612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492240" y="4630293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prototype: plant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 factories pay for compressed air they never use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Problem context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035040" cy="3154680"/>
          </a:xfrm>
          <a:prstGeom prst="roundRect">
            <a:avLst>
              <a:gd name="adj" fmla="val 2899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1097280" cy="1097280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6" name="Image 0" descr="Engi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390242"/>
            <a:ext cx="614477" cy="6144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920240" y="2697480"/>
            <a:ext cx="4206240" cy="0"/>
          </a:xfrm>
          <a:prstGeom prst="line">
            <a:avLst/>
          </a:prstGeom>
          <a:noFill/>
          <a:ln w="114300">
            <a:solidFill>
              <a:srgbClr val="7FC4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17520" y="2697480"/>
            <a:ext cx="0" cy="502920"/>
          </a:xfrm>
          <a:prstGeom prst="line">
            <a:avLst/>
          </a:prstGeom>
          <a:noFill/>
          <a:ln w="63500">
            <a:solidFill>
              <a:srgbClr val="7FC4EA"/>
            </a:solidFill>
            <a:prstDash val="solid"/>
          </a:ln>
        </p:spPr>
      </p:sp>
      <p:pic>
        <p:nvPicPr>
          <p:cNvPr id="10" name="Image 1" descr="BuildingFactory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154680"/>
            <a:ext cx="566928" cy="5669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51960" y="2697480"/>
            <a:ext cx="0" cy="502920"/>
          </a:xfrm>
          <a:prstGeom prst="line">
            <a:avLst/>
          </a:prstGeom>
          <a:noFill/>
          <a:ln w="63500">
            <a:solidFill>
              <a:srgbClr val="7FC4EA"/>
            </a:solidFill>
            <a:prstDash val="solid"/>
          </a:ln>
        </p:spPr>
      </p:sp>
      <p:pic>
        <p:nvPicPr>
          <p:cNvPr id="12" name="Image 2" descr="BuildingFactory2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154680"/>
            <a:ext cx="566928" cy="56692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0" y="2697480"/>
            <a:ext cx="0" cy="502920"/>
          </a:xfrm>
          <a:prstGeom prst="line">
            <a:avLst/>
          </a:prstGeom>
          <a:noFill/>
          <a:ln w="63500">
            <a:solidFill>
              <a:srgbClr val="7FC4EA"/>
            </a:solidFill>
            <a:prstDash val="solid"/>
          </a:ln>
        </p:spPr>
      </p:sp>
      <p:pic>
        <p:nvPicPr>
          <p:cNvPr id="14" name="Image 3" descr="BuildingFactory2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154680"/>
            <a:ext cx="566928" cy="566928"/>
          </a:xfrm>
          <a:prstGeom prst="rect">
            <a:avLst/>
          </a:prstGeom>
        </p:spPr>
      </p:pic>
      <p:pic>
        <p:nvPicPr>
          <p:cNvPr id="15" name="Image 4" descr="Win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2148840"/>
            <a:ext cx="457200" cy="457200"/>
          </a:xfrm>
          <a:prstGeom prst="rect">
            <a:avLst/>
          </a:prstGeom>
        </p:spPr>
      </p:pic>
      <p:pic>
        <p:nvPicPr>
          <p:cNvPr id="16" name="Image 5" descr="Win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057400"/>
            <a:ext cx="457200" cy="457200"/>
          </a:xfrm>
          <a:prstGeom prst="rect">
            <a:avLst/>
          </a:prstGeom>
        </p:spPr>
      </p:pic>
      <p:pic>
        <p:nvPicPr>
          <p:cNvPr id="17" name="Image 6" descr="Win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2194560"/>
            <a:ext cx="457200" cy="457200"/>
          </a:xfrm>
          <a:prstGeom prst="rect">
            <a:avLst/>
          </a:prstGeom>
        </p:spPr>
      </p:pic>
      <p:pic>
        <p:nvPicPr>
          <p:cNvPr id="18" name="Image 7" descr="Win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2103120"/>
            <a:ext cx="457200" cy="457200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5852160" y="1417320"/>
            <a:ext cx="548640" cy="54864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pic>
        <p:nvPicPr>
          <p:cNvPr id="20" name="Image 8" descr="CurrencyRupe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2861" y="1538021"/>
            <a:ext cx="307238" cy="307238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Leaks hiss away day and night; no meter shows it</a:t>
            </a:r>
            <a:endParaRPr lang="en-US" sz="1600" dirty="0"/>
          </a:p>
        </p:txBody>
      </p:sp>
      <p:sp>
        <p:nvSpPr>
          <p:cNvPr id="22" name="Text 11"/>
          <p:cNvSpPr txBox="1"/>
          <p:nvPr/>
        </p:nvSpPr>
        <p:spPr>
          <a:xfrm>
            <a:off x="274320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6858000" y="1234440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24" name="Shape 13"/>
          <p:cNvSpPr/>
          <p:nvPr/>
        </p:nvSpPr>
        <p:spPr>
          <a:xfrm>
            <a:off x="7040880" y="1435608"/>
            <a:ext cx="566928" cy="566928"/>
          </a:xfrm>
          <a:prstGeom prst="ellipse">
            <a:avLst/>
          </a:prstGeom>
          <a:solidFill>
            <a:srgbClr val="8F5600"/>
          </a:solidFill>
          <a:ln w="12700">
            <a:solidFill>
              <a:srgbClr val="8F5600"/>
            </a:solidFill>
            <a:prstDash val="solid"/>
          </a:ln>
        </p:spPr>
      </p:sp>
      <p:pic>
        <p:nvPicPr>
          <p:cNvPr id="25" name="Image 9" descr="Wind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5604" y="1560332"/>
            <a:ext cx="317480" cy="31748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754112" y="13258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F56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20–30%</a:t>
            </a:r>
            <a:endParaRPr lang="en-US" sz="2800" dirty="0"/>
          </a:p>
        </p:txBody>
      </p:sp>
      <p:sp>
        <p:nvSpPr>
          <p:cNvPr id="27" name="Text 15"/>
          <p:cNvSpPr txBox="1"/>
          <p:nvPr/>
        </p:nvSpPr>
        <p:spPr>
          <a:xfrm>
            <a:off x="7754112" y="1837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compressor output is often lost to leaks</a:t>
            </a:r>
            <a:endParaRPr lang="en-US" sz="1250" dirty="0"/>
          </a:p>
        </p:txBody>
      </p:sp>
      <p:sp>
        <p:nvSpPr>
          <p:cNvPr id="28" name="Text 16"/>
          <p:cNvSpPr txBox="1"/>
          <p:nvPr/>
        </p:nvSpPr>
        <p:spPr>
          <a:xfrm>
            <a:off x="7754112" y="2075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DOE sourcebook [1]</a:t>
            </a:r>
            <a:endParaRPr lang="en-US" sz="950" dirty="0"/>
          </a:p>
        </p:txBody>
      </p:sp>
      <p:sp>
        <p:nvSpPr>
          <p:cNvPr id="29" name="Shape 17"/>
          <p:cNvSpPr/>
          <p:nvPr/>
        </p:nvSpPr>
        <p:spPr>
          <a:xfrm>
            <a:off x="6858000" y="2304288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7040880" y="2505456"/>
            <a:ext cx="566928" cy="566928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31" name="Image 10" descr="Bolt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5604" y="2630180"/>
            <a:ext cx="317480" cy="31748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7754112" y="23957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6A9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~10%</a:t>
            </a:r>
            <a:endParaRPr lang="en-US" sz="2800" dirty="0"/>
          </a:p>
        </p:txBody>
      </p:sp>
      <p:sp>
        <p:nvSpPr>
          <p:cNvPr id="33" name="Text 20"/>
          <p:cNvSpPr txBox="1"/>
          <p:nvPr/>
        </p:nvSpPr>
        <p:spPr>
          <a:xfrm>
            <a:off x="7754112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industrial electricity makes compressed air</a:t>
            </a:r>
            <a:endParaRPr lang="en-US" sz="1250" dirty="0"/>
          </a:p>
        </p:txBody>
      </p:sp>
      <p:sp>
        <p:nvSpPr>
          <p:cNvPr id="34" name="Text 21"/>
          <p:cNvSpPr txBox="1"/>
          <p:nvPr/>
        </p:nvSpPr>
        <p:spPr>
          <a:xfrm>
            <a:off x="7754112" y="3145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DOE sourcebook [1]</a:t>
            </a:r>
            <a:endParaRPr lang="en-US" sz="950" dirty="0"/>
          </a:p>
        </p:txBody>
      </p:sp>
      <p:sp>
        <p:nvSpPr>
          <p:cNvPr id="35" name="Shape 22"/>
          <p:cNvSpPr/>
          <p:nvPr/>
        </p:nvSpPr>
        <p:spPr>
          <a:xfrm>
            <a:off x="6858000" y="3374136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7040880" y="3575304"/>
            <a:ext cx="566928" cy="566928"/>
          </a:xfrm>
          <a:prstGeom prst="ellipse">
            <a:avLst/>
          </a:prstGeom>
          <a:solidFill>
            <a:srgbClr val="8F5600"/>
          </a:solidFill>
          <a:ln w="12700">
            <a:solidFill>
              <a:srgbClr val="8F5600"/>
            </a:solidFill>
            <a:prstDash val="solid"/>
          </a:ln>
        </p:spPr>
      </p:sp>
      <p:pic>
        <p:nvPicPr>
          <p:cNvPr id="37" name="Image 11" descr="CurrencyRupe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5604" y="3700028"/>
            <a:ext cx="317480" cy="31748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7754112" y="346557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F56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36%</a:t>
            </a:r>
            <a:endParaRPr lang="en-US" sz="2800" dirty="0"/>
          </a:p>
        </p:txBody>
      </p:sp>
      <p:sp>
        <p:nvSpPr>
          <p:cNvPr id="39" name="Text 25"/>
          <p:cNvSpPr txBox="1"/>
          <p:nvPr/>
        </p:nvSpPr>
        <p:spPr>
          <a:xfrm>
            <a:off x="7754112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demo plant's compressor bill buys no useful air</a:t>
            </a:r>
            <a:endParaRPr lang="en-US" sz="1250" dirty="0"/>
          </a:p>
        </p:txBody>
      </p:sp>
      <p:sp>
        <p:nvSpPr>
          <p:cNvPr id="40" name="Text 26"/>
          <p:cNvSpPr txBox="1"/>
          <p:nvPr/>
        </p:nvSpPr>
        <p:spPr>
          <a:xfrm>
            <a:off x="7754112" y="4215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Twin, simulated</a:t>
            </a:r>
            <a:endParaRPr lang="en-US" sz="950" dirty="0"/>
          </a:p>
        </p:txBody>
      </p:sp>
      <p:sp>
        <p:nvSpPr>
          <p:cNvPr id="41" name="Shape 27"/>
          <p:cNvSpPr/>
          <p:nvPr/>
        </p:nvSpPr>
        <p:spPr>
          <a:xfrm>
            <a:off x="548640" y="4663440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42" name="Image 12" descr="Users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516" y="4814316"/>
            <a:ext cx="384048" cy="384048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1371600" y="46177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suffers: </a:t>
            </a:r>
            <a:pPr indent="0" marL="0">
              <a:buNone/>
            </a:pPr>
            <a:r>
              <a:rPr lang="en-US" sz="13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foundries, machine shops, textile and packaging units with one or two 5–30 kW compressors, an owner, one technician and no energy manager.</a:t>
            </a:r>
            <a:endParaRPr lang="en-US" sz="1350" dirty="0"/>
          </a:p>
        </p:txBody>
      </p:sp>
      <p:sp>
        <p:nvSpPr>
          <p:cNvPr id="44" name="Shape 29"/>
          <p:cNvSpPr/>
          <p:nvPr/>
        </p:nvSpPr>
        <p:spPr>
          <a:xfrm>
            <a:off x="6858000" y="4663440"/>
            <a:ext cx="685800" cy="68580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pic>
        <p:nvPicPr>
          <p:cNvPr id="45" name="Image 13" descr="Bulb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8876" y="4814316"/>
            <a:ext cx="384048" cy="384048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680960" y="4617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innovation: </a:t>
            </a:r>
            <a:pPr indent="0" marL="0">
              <a:buNone/>
            </a:pPr>
            <a:r>
              <a:rPr lang="en-US" sz="13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load/unload leak test on pressure + power that teaches the twin each plant — no flow meter.</a:t>
            </a:r>
            <a:endParaRPr lang="en-US" sz="1350" dirty="0"/>
          </a:p>
        </p:txBody>
      </p:sp>
      <p:sp>
        <p:nvSpPr>
          <p:cNvPr id="47" name="Text 31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</a:t>
            </a:r>
            <a:pPr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VK26-IITI-AHM-0210   ·   </a:t>
            </a:r>
            <a:pPr indent="0" marL="0">
              <a:buNone/>
            </a:pPr>
            <a:r>
              <a:rPr lang="en-US" sz="1300" b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</a:t>
            </a:r>
            <a:pPr indent="0" marL="0">
              <a:buNone/>
            </a:pPr>
            <a:r>
              <a:rPr lang="en-US" sz="1300" dirty="0">
                <a:solidFill>
                  <a:srgbClr val="8F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Today's options are too rare, too costly or brand-locked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Problem context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1508760"/>
            <a:ext cx="914400" cy="91440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6" name="Image 0" descr="ClipboardLis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1709928"/>
            <a:ext cx="512064" cy="5120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80260" y="1417320"/>
            <a:ext cx="384048" cy="384048"/>
          </a:xfrm>
          <a:prstGeom prst="ellipse">
            <a:avLst/>
          </a:prstGeom>
          <a:solidFill>
            <a:srgbClr val="B93A2A"/>
          </a:solidFill>
          <a:ln w="12700">
            <a:solidFill>
              <a:srgbClr val="B93A2A"/>
            </a:solidFill>
            <a:prstDash val="solid"/>
          </a:ln>
        </p:spPr>
      </p:sp>
      <p:pic>
        <p:nvPicPr>
          <p:cNvPr id="8" name="Image 1" descr="X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751" y="1501811"/>
            <a:ext cx="215067" cy="21506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Annual leak survey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9718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year. Leaks return in weeks; the repair is never checked.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67735" y="12801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13555" y="1508760"/>
            <a:ext cx="914400" cy="91440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13" name="Image 2" descr="Gaug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723" y="1709928"/>
            <a:ext cx="512064" cy="51206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99355" y="1417320"/>
            <a:ext cx="384048" cy="384048"/>
          </a:xfrm>
          <a:prstGeom prst="ellipse">
            <a:avLst/>
          </a:prstGeom>
          <a:solidFill>
            <a:srgbClr val="B93A2A"/>
          </a:solidFill>
          <a:ln w="12700">
            <a:solidFill>
              <a:srgbClr val="B93A2A"/>
            </a:solidFill>
            <a:prstDash val="solid"/>
          </a:ln>
        </p:spPr>
      </p:sp>
      <p:pic>
        <p:nvPicPr>
          <p:cNvPr id="15" name="Image 3" descr="X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846" y="1501811"/>
            <a:ext cx="215067" cy="21506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504895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Inline flow meter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3550615" y="29718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cutting and a shutdown. Says how much, not where.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86830" y="12801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032650" y="1508760"/>
            <a:ext cx="914400" cy="91440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20" name="Image 4" descr="Lo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818" y="1709928"/>
            <a:ext cx="512064" cy="51206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718450" y="1417320"/>
            <a:ext cx="384048" cy="384048"/>
          </a:xfrm>
          <a:prstGeom prst="ellipse">
            <a:avLst/>
          </a:prstGeom>
          <a:solidFill>
            <a:srgbClr val="B93A2A"/>
          </a:solidFill>
          <a:ln w="12700">
            <a:solidFill>
              <a:srgbClr val="B93A2A"/>
            </a:solidFill>
            <a:prstDash val="solid"/>
          </a:ln>
        </p:spPr>
      </p:sp>
      <p:pic>
        <p:nvPicPr>
          <p:cNvPr id="22" name="Image 5" descr="X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2941" y="1501811"/>
            <a:ext cx="215067" cy="21506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32399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Maker's monitoring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6369710" y="29718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that brand's newer machines. Mixed rooms left out.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9005926" y="12801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851746" y="1508760"/>
            <a:ext cx="914400" cy="91440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27" name="Image 6" descr="Receip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2914" y="1709928"/>
            <a:ext cx="512064" cy="512064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10537546" y="1417320"/>
            <a:ext cx="384048" cy="384048"/>
          </a:xfrm>
          <a:prstGeom prst="ellipse">
            <a:avLst/>
          </a:prstGeom>
          <a:solidFill>
            <a:srgbClr val="B93A2A"/>
          </a:solidFill>
          <a:ln w="12700">
            <a:solidFill>
              <a:srgbClr val="B93A2A"/>
            </a:solidFill>
            <a:prstDash val="solid"/>
          </a:ln>
        </p:spPr>
      </p:sp>
      <p:pic>
        <p:nvPicPr>
          <p:cNvPr id="29" name="Image 7" descr="X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2036" y="1501811"/>
            <a:ext cx="215067" cy="21506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143086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Electricity bill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9188806" y="29718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 late. Cannot tell production from waste.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548640" y="425196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822960" y="4663440"/>
            <a:ext cx="1097280" cy="1097280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34" name="Image 8" descr="Circle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362" y="4904842"/>
            <a:ext cx="614477" cy="614477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2148840" y="4480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84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FactoryAir Twin</a:t>
            </a:r>
            <a:endParaRPr lang="en-US" sz="2200" dirty="0"/>
          </a:p>
        </p:txBody>
      </p:sp>
      <p:pic>
        <p:nvPicPr>
          <p:cNvPr id="36" name="Image 9" descr="PlugConnected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8840" y="5074920"/>
            <a:ext cx="502920" cy="50292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2715768" y="5074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Clip-on, any brand</a:t>
            </a:r>
            <a:endParaRPr lang="en-US" sz="1300" dirty="0"/>
          </a:p>
        </p:txBody>
      </p:sp>
      <p:pic>
        <p:nvPicPr>
          <p:cNvPr id="38" name="Image 10" descr="MoonStars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3360" y="5074920"/>
            <a:ext cx="502920" cy="50292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4590288" y="5074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every night</a:t>
            </a:r>
            <a:endParaRPr lang="en-US" sz="1300" dirty="0"/>
          </a:p>
        </p:txBody>
      </p:sp>
      <p:pic>
        <p:nvPicPr>
          <p:cNvPr id="40" name="Image 11" descr="MapPin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7880" y="5074920"/>
            <a:ext cx="502920" cy="50292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6464808" y="5074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zone</a:t>
            </a:r>
            <a:endParaRPr lang="en-US" sz="1300" dirty="0"/>
          </a:p>
        </p:txBody>
      </p:sp>
      <p:pic>
        <p:nvPicPr>
          <p:cNvPr id="42" name="Image 12" descr="CurrencyRupee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0" y="5074920"/>
            <a:ext cx="502920" cy="50292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8339328" y="5074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it in ₹</a:t>
            </a:r>
            <a:endParaRPr lang="en-US" sz="1300" dirty="0"/>
          </a:p>
        </p:txBody>
      </p:sp>
      <p:pic>
        <p:nvPicPr>
          <p:cNvPr id="44" name="Image 13" descr="Checks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6920" y="5074920"/>
            <a:ext cx="502920" cy="50292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10213848" y="5074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repair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Before: one failed coupling costs money for weeks unseen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User journey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655064" y="2217420"/>
            <a:ext cx="8851392" cy="0"/>
          </a:xfrm>
          <a:prstGeom prst="line">
            <a:avLst/>
          </a:prstGeom>
          <a:noFill/>
          <a:ln w="31750">
            <a:solidFill>
              <a:srgbClr val="D9DEE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39903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14:24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65860" y="1728216"/>
            <a:ext cx="978408" cy="9784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0724" y="1783080"/>
            <a:ext cx="868680" cy="868680"/>
          </a:xfrm>
          <a:prstGeom prst="ellipse">
            <a:avLst/>
          </a:prstGeom>
          <a:solidFill>
            <a:srgbClr val="8F5600"/>
          </a:solidFill>
          <a:ln w="12700">
            <a:solidFill>
              <a:srgbClr val="8F5600"/>
            </a:solidFill>
            <a:prstDash val="solid"/>
          </a:ln>
        </p:spPr>
      </p:sp>
      <p:pic>
        <p:nvPicPr>
          <p:cNvPr id="8" name="Image 0" descr="Too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834" y="1974190"/>
            <a:ext cx="486461" cy="4864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7889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hose coupling fails in the assembly bay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761488" y="139903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78708" y="1728216"/>
            <a:ext cx="978408" cy="9784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33572" y="1783080"/>
            <a:ext cx="868680" cy="86868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13" name="Image 1" descr="Win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682" y="1974190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52928" y="27889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hisses out; the compressor loads more often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974336" y="139903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days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591556" y="1728216"/>
            <a:ext cx="978408" cy="9784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46420" y="1783080"/>
            <a:ext cx="868680" cy="86868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18" name="Image 2" descr="Receip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530" y="1974190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65776" y="27889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 rises; the owner blames an old machine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187184" y="139903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804404" y="1728216"/>
            <a:ext cx="978408" cy="9784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859268" y="1783080"/>
            <a:ext cx="868680" cy="86868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23" name="Image 3" descr="CalendarEve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78" y="1974190"/>
            <a:ext cx="486461" cy="48646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78624" y="27889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the annual survey finds it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400032" y="139903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repair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0017252" y="1728216"/>
            <a:ext cx="978408" cy="9784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0072116" y="1783080"/>
            <a:ext cx="868680" cy="868680"/>
          </a:xfrm>
          <a:prstGeom prst="ellipse">
            <a:avLst/>
          </a:prstGeom>
          <a:solidFill>
            <a:srgbClr val="B93A2A"/>
          </a:solidFill>
          <a:ln w="12700">
            <a:solidFill>
              <a:srgbClr val="B93A2A"/>
            </a:solidFill>
            <a:prstDash val="solid"/>
          </a:ln>
        </p:spPr>
      </p:sp>
      <p:pic>
        <p:nvPicPr>
          <p:cNvPr id="28" name="Image 4" descr="QuestionMar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3226" y="1974190"/>
            <a:ext cx="486461" cy="48646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491472" y="27889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checks the fix held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Quantified inefficiency · demo plant, 14-day twin (simulated)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548640" y="42976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31520" y="4498848"/>
            <a:ext cx="566928" cy="566928"/>
          </a:xfrm>
          <a:prstGeom prst="ellipse">
            <a:avLst/>
          </a:prstGeom>
          <a:solidFill>
            <a:srgbClr val="8F5600"/>
          </a:solidFill>
          <a:ln w="12700">
            <a:solidFill>
              <a:srgbClr val="8F5600"/>
            </a:solidFill>
            <a:prstDash val="solid"/>
          </a:ln>
        </p:spPr>
      </p:sp>
      <p:pic>
        <p:nvPicPr>
          <p:cNvPr id="33" name="Image 5" descr="CurrencyRupe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44" y="4623572"/>
            <a:ext cx="317480" cy="31748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444752" y="43891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F56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₹5,580</a:t>
            </a:r>
            <a:endParaRPr lang="en-US" sz="2800" dirty="0"/>
          </a:p>
        </p:txBody>
      </p:sp>
      <p:sp>
        <p:nvSpPr>
          <p:cNvPr id="35" name="Text 27"/>
          <p:cNvSpPr txBox="1"/>
          <p:nvPr/>
        </p:nvSpPr>
        <p:spPr>
          <a:xfrm>
            <a:off x="1444752" y="49377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added by the one failed coupling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3355848" y="42976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538728" y="4498848"/>
            <a:ext cx="566928" cy="566928"/>
          </a:xfrm>
          <a:prstGeom prst="ellipse">
            <a:avLst/>
          </a:prstGeom>
          <a:solidFill>
            <a:srgbClr val="8F5600"/>
          </a:solidFill>
          <a:ln w="12700">
            <a:solidFill>
              <a:srgbClr val="8F5600"/>
            </a:solidFill>
            <a:prstDash val="solid"/>
          </a:ln>
        </p:spPr>
      </p:sp>
      <p:pic>
        <p:nvPicPr>
          <p:cNvPr id="38" name="Image 6" descr="Win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3452" y="4623572"/>
            <a:ext cx="317480" cy="31748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4251960" y="43891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F56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22.5%</a:t>
            </a:r>
            <a:endParaRPr lang="en-US" sz="2800" dirty="0"/>
          </a:p>
        </p:txBody>
      </p:sp>
      <p:sp>
        <p:nvSpPr>
          <p:cNvPr id="40" name="Text 31"/>
          <p:cNvSpPr txBox="1"/>
          <p:nvPr/>
        </p:nvSpPr>
        <p:spPr>
          <a:xfrm>
            <a:off x="4251960" y="49377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compressor capacity leaking on the worst night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6163056" y="42976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345936" y="4498848"/>
            <a:ext cx="566928" cy="566928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43" name="Image 7" descr="Bol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0660" y="4623572"/>
            <a:ext cx="317480" cy="31748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059168" y="43891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8.3%</a:t>
            </a:r>
            <a:endParaRPr lang="en-US" sz="2800" dirty="0"/>
          </a:p>
        </p:txBody>
      </p:sp>
      <p:sp>
        <p:nvSpPr>
          <p:cNvPr id="45" name="Text 35"/>
          <p:cNvSpPr txBox="1"/>
          <p:nvPr/>
        </p:nvSpPr>
        <p:spPr>
          <a:xfrm>
            <a:off x="7059168" y="49377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electricity spent running unloaded (₹1,094/month)</a:t>
            </a:r>
            <a:endParaRPr lang="en-US" sz="1250" dirty="0"/>
          </a:p>
        </p:txBody>
      </p:sp>
      <p:sp>
        <p:nvSpPr>
          <p:cNvPr id="46" name="Shape 36"/>
          <p:cNvSpPr/>
          <p:nvPr/>
        </p:nvSpPr>
        <p:spPr>
          <a:xfrm>
            <a:off x="8970264" y="42976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9153144" y="4498848"/>
            <a:ext cx="566928" cy="566928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48" name="Image 8" descr="Hourglas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7868" y="4623572"/>
            <a:ext cx="317480" cy="31748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866376" y="43891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~30 days</a:t>
            </a:r>
            <a:endParaRPr lang="en-US" sz="2800" dirty="0"/>
          </a:p>
        </p:txBody>
      </p:sp>
      <p:sp>
        <p:nvSpPr>
          <p:cNvPr id="50" name="Text 39"/>
          <p:cNvSpPr txBox="1"/>
          <p:nvPr/>
        </p:nvSpPr>
        <p:spPr>
          <a:xfrm>
            <a:off x="9866376" y="49377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bill gives the first signal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After: found overnight, located at lunch, verified next night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User journey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655064" y="2080260"/>
            <a:ext cx="8851392" cy="0"/>
          </a:xfrm>
          <a:prstGeom prst="line">
            <a:avLst/>
          </a:prstGeom>
          <a:noFill/>
          <a:ln w="31750">
            <a:solidFill>
              <a:srgbClr val="7FC4E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30759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23:00–05:00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11580" y="1636776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6444" y="1691640"/>
            <a:ext cx="777240" cy="77724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8" name="Image 0" descr="MoonSta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437" y="1862633"/>
            <a:ext cx="435254" cy="4352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60604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leak test on pressure + power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761488" y="130759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4428" y="1636776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9292" y="1691640"/>
            <a:ext cx="777240" cy="777240"/>
          </a:xfrm>
          <a:prstGeom prst="ellipse">
            <a:avLst/>
          </a:prstGeom>
          <a:solidFill>
            <a:srgbClr val="8F5600"/>
          </a:solidFill>
          <a:ln w="12700">
            <a:solidFill>
              <a:srgbClr val="8F5600"/>
            </a:solidFill>
            <a:prstDash val="solid"/>
          </a:ln>
        </p:spPr>
      </p:sp>
      <p:pic>
        <p:nvPicPr>
          <p:cNvPr id="13" name="Image 1" descr="BrandWhatsap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285" y="1862633"/>
            <a:ext cx="435254" cy="435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52928" y="260604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+₹5,580/month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974336" y="130759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break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37276" y="1636776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92140" y="1691640"/>
            <a:ext cx="777240" cy="77724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8" name="Image 2" descr="Sear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33" y="1862633"/>
            <a:ext cx="435254" cy="43525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65776" y="260604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Hunter: Bay 2 = 58%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187184" y="130759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850124" y="1636776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904988" y="1691640"/>
            <a:ext cx="777240" cy="777240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23" name="Image 3" descr="Too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981" y="1862633"/>
            <a:ext cx="435254" cy="43525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78624" y="260604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Ticket, repair done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400032" y="130759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night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0062972" y="1636776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0117836" y="1691640"/>
            <a:ext cx="777240" cy="777240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28" name="Image 4" descr="Circle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8829" y="1862633"/>
            <a:ext cx="435254" cy="43525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491472" y="260604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measured, not promised</a:t>
            </a:r>
            <a:endParaRPr lang="en-US" sz="13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48640" y="3429000"/>
          <a:ext cx="6035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1" name="Text 23"/>
          <p:cNvSpPr txBox="1"/>
          <p:nvPr/>
        </p:nvSpPr>
        <p:spPr>
          <a:xfrm>
            <a:off x="178308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leak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489204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repaired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812280" y="342900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995160" y="3630168"/>
            <a:ext cx="566928" cy="566928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35" name="Image 5" descr="Clo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884" y="3754892"/>
            <a:ext cx="317480" cy="3174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708392" y="35204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6A9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night</a:t>
            </a:r>
            <a:endParaRPr lang="en-US" sz="2800" dirty="0"/>
          </a:p>
        </p:txBody>
      </p:sp>
      <p:sp>
        <p:nvSpPr>
          <p:cNvPr id="37" name="Text 28"/>
          <p:cNvSpPr txBox="1"/>
          <p:nvPr/>
        </p:nvSpPr>
        <p:spPr>
          <a:xfrm>
            <a:off x="7708392" y="4069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detect, vs ~30 days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9281160" y="342900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464040" y="3630168"/>
            <a:ext cx="566928" cy="566928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40" name="Image 6" descr="Search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764" y="3754892"/>
            <a:ext cx="317480" cy="31748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177272" y="35204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6A9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~15 min</a:t>
            </a:r>
            <a:endParaRPr lang="en-US" sz="2800" dirty="0"/>
          </a:p>
        </p:txBody>
      </p:sp>
      <p:sp>
        <p:nvSpPr>
          <p:cNvPr id="42" name="Text 32"/>
          <p:cNvSpPr txBox="1"/>
          <p:nvPr/>
        </p:nvSpPr>
        <p:spPr>
          <a:xfrm>
            <a:off x="10177272" y="4069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locate the zone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6812280" y="48920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995160" y="5093208"/>
            <a:ext cx="566928" cy="566928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45" name="Image 7" descr="Check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9884" y="5217932"/>
            <a:ext cx="317480" cy="31748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708392" y="498348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84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₹5,453</a:t>
            </a:r>
            <a:endParaRPr lang="en-US" sz="2800" dirty="0"/>
          </a:p>
        </p:txBody>
      </p:sp>
      <p:sp>
        <p:nvSpPr>
          <p:cNvPr id="47" name="Text 36"/>
          <p:cNvSpPr txBox="1"/>
          <p:nvPr/>
        </p:nvSpPr>
        <p:spPr>
          <a:xfrm>
            <a:off x="7708392" y="5532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saving, measured overnight</a:t>
            </a:r>
            <a:endParaRPr lang="en-US" sz="1250" dirty="0"/>
          </a:p>
        </p:txBody>
      </p:sp>
      <p:sp>
        <p:nvSpPr>
          <p:cNvPr id="48" name="Shape 37"/>
          <p:cNvSpPr/>
          <p:nvPr/>
        </p:nvSpPr>
        <p:spPr>
          <a:xfrm>
            <a:off x="9281160" y="48920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9464040" y="5093208"/>
            <a:ext cx="566928" cy="566928"/>
          </a:xfrm>
          <a:prstGeom prst="ellipse">
            <a:avLst/>
          </a:prstGeom>
          <a:solidFill>
            <a:srgbClr val="8F5600"/>
          </a:solidFill>
          <a:ln w="12700">
            <a:solidFill>
              <a:srgbClr val="8F5600"/>
            </a:solidFill>
            <a:prstDash val="solid"/>
          </a:ln>
        </p:spPr>
      </p:sp>
      <p:pic>
        <p:nvPicPr>
          <p:cNvPr id="50" name="Image 8" descr="Flam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8764" y="5217932"/>
            <a:ext cx="317480" cy="31748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10177272" y="498348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F56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₹7,414</a:t>
            </a:r>
            <a:endParaRPr lang="en-US" sz="2800" dirty="0"/>
          </a:p>
        </p:txBody>
      </p:sp>
      <p:sp>
        <p:nvSpPr>
          <p:cNvPr id="52" name="Text 40"/>
          <p:cNvSpPr txBox="1"/>
          <p:nvPr/>
        </p:nvSpPr>
        <p:spPr>
          <a:xfrm>
            <a:off x="10177272" y="5532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saved by heat recovery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 block diagram: two signals in, a verified saving out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System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3611880"/>
          </a:xfrm>
          <a:prstGeom prst="roundRect">
            <a:avLst>
              <a:gd name="adj" fmla="val 384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463040"/>
            <a:ext cx="1097280" cy="109728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6" name="Image 0" descr="Gau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122" y="1704442"/>
            <a:ext cx="614477" cy="6144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6A9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Sensing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4–20 mA pressure on the gauge 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Clip-on CT on one phase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Machine-on contact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90088" y="1874520"/>
            <a:ext cx="329184" cy="365760"/>
          </a:xfrm>
          <a:prstGeom prst="rightArrow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280160"/>
            <a:ext cx="2377440" cy="3611880"/>
          </a:xfrm>
          <a:prstGeom prst="roundRect">
            <a:avLst>
              <a:gd name="adj" fmla="val 384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23360" y="1463040"/>
            <a:ext cx="1097280" cy="109728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2" name="Image 1" descr="Cpu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762" y="1704442"/>
            <a:ext cx="614477" cy="61447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6A9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Electronics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1546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ADS1115 16-bit ADC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ESP32-S3, Wi-Fi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 → 5 V, microSD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824728" y="1874520"/>
            <a:ext cx="329184" cy="365760"/>
          </a:xfrm>
          <a:prstGeom prst="rightArrow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280160"/>
            <a:ext cx="2377440" cy="3611880"/>
          </a:xfrm>
          <a:prstGeom prst="roundRect">
            <a:avLst>
              <a:gd name="adj" fmla="val 384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0" y="1463040"/>
            <a:ext cx="1097280" cy="109728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8" name="Image 2" descr="Cod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402" y="1704442"/>
            <a:ext cx="614477" cy="61447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0936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6A9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Firmware (1 Hz)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31546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→ bar, CT → kW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invalid frames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→ REST / MQTT, SD spool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659368" y="1874520"/>
            <a:ext cx="329184" cy="365760"/>
          </a:xfrm>
          <a:prstGeom prst="rightArrow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52560" y="1280160"/>
            <a:ext cx="2377440" cy="3611880"/>
          </a:xfrm>
          <a:prstGeom prst="roundRect">
            <a:avLst>
              <a:gd name="adj" fmla="val 384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692640" y="1463040"/>
            <a:ext cx="1097280" cy="1097280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24" name="Image 3" descr="DeviceLapto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042" y="1704442"/>
            <a:ext cx="614477" cy="61447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4400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Twin software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35440" y="31546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sensor health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ML + self-calibration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Hunter, tickets, report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283464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/ mV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66928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850392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77240" y="5303520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32" name="Image 4" descr="Shield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5454396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45920" y="51206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design. </a:t>
            </a:r>
            <a:pPr indent="0" marL="0">
              <a:buNone/>
            </a:pPr>
            <a:r>
              <a:rPr lang="en-US" sz="14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meter, nothing cut or shut down, and no output stage: the node physically cannot command the compressor. Everything after the ADC already runs today as the virtual edge node.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Target specifications and hardware selection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System architecture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73736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hardware / 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 + ADS1115 (860 SPS)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0–16 bar, ±0.5 % 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4–20 mA transmitter, 165 Ω shunt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0–30 A 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SCT-013-030 split-core 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10-frame batches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REST; MQTT optional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 offline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microSD spool, replay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IP65, DIN 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PC/ABS box, PG glands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₹10,000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₹6,100 indicative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Screenshot of the calibratio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80160"/>
            <a:ext cx="4754880" cy="2971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0" y="1280160"/>
            <a:ext cx="4754880" cy="2971800"/>
          </a:xfrm>
          <a:prstGeom prst="rect">
            <a:avLst/>
          </a:prstGeom>
          <a:ln w="9525">
            <a:solidFill>
              <a:srgbClr val="D9DEE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85800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Self-calibration screen: storage, leak and specific power learned from pressure + power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48640" y="4937760"/>
            <a:ext cx="3611880" cy="1280160"/>
          </a:xfrm>
          <a:prstGeom prst="roundRect">
            <a:avLst>
              <a:gd name="adj" fmla="val 7143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5138928"/>
            <a:ext cx="566928" cy="566928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10" name="Image 1" descr="TargetArrow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44" y="5263652"/>
            <a:ext cx="317480" cy="317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44752" y="502920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84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1.8%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1444752" y="5577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leak error on 30 unseen plants (target ±10%)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297680" y="4937760"/>
            <a:ext cx="3611880" cy="1280160"/>
          </a:xfrm>
          <a:prstGeom prst="roundRect">
            <a:avLst>
              <a:gd name="adj" fmla="val 7143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480560" y="5138928"/>
            <a:ext cx="566928" cy="566928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15" name="Image 2" descr="Check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284" y="5263652"/>
            <a:ext cx="317480" cy="3174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193792" y="502920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84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30/30</a:t>
            </a:r>
            <a:endParaRPr lang="en-US" sz="2800" dirty="0"/>
          </a:p>
        </p:txBody>
      </p:sp>
      <p:sp>
        <p:nvSpPr>
          <p:cNvPr id="17" name="Text 11"/>
          <p:cNvSpPr txBox="1"/>
          <p:nvPr/>
        </p:nvSpPr>
        <p:spPr>
          <a:xfrm>
            <a:off x="5193792" y="5577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within ±10% · storage error 1.9%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046720" y="493776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229600" y="5138928"/>
            <a:ext cx="566928" cy="566928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20" name="Image 3" descr="MoonSta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324" y="5263652"/>
            <a:ext cx="317480" cy="317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42832" y="50292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6A9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night</a:t>
            </a:r>
            <a:endParaRPr lang="en-US" sz="2800" dirty="0"/>
          </a:p>
        </p:txBody>
      </p:sp>
      <p:sp>
        <p:nvSpPr>
          <p:cNvPr id="22" name="Text 15"/>
          <p:cNvSpPr txBox="1"/>
          <p:nvPr/>
        </p:nvSpPr>
        <p:spPr>
          <a:xfrm>
            <a:off x="8942832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new leak to an alert (14-day twin)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Mechanical design: a sealed box and a safe pressure tap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CAD &amp; mechanical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2971800"/>
          </a:xfrm>
          <a:prstGeom prst="roundRect">
            <a:avLst>
              <a:gd name="adj" fmla="val 3077"/>
            </a:avLst>
          </a:prstGeom>
          <a:solidFill>
            <a:srgbClr val="F2F4F5"/>
          </a:solidFill>
          <a:ln w="19050">
            <a:solidFill>
              <a:srgbClr val="0F27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layout (concept, not CAD)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3474720" cy="109728"/>
          </a:xfrm>
          <a:prstGeom prst="rect">
            <a:avLst/>
          </a:prstGeom>
          <a:solidFill>
            <a:srgbClr val="9AA6AA"/>
          </a:solidFill>
          <a:ln w="12700">
            <a:solidFill>
              <a:srgbClr val="9AA6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94560"/>
            <a:ext cx="868680" cy="10058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8" name="Image 0" descr="Bo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286000"/>
            <a:ext cx="402336" cy="4023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7432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 PSU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737360" y="2194560"/>
            <a:ext cx="731520" cy="10058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11" name="Image 1" descr="ArrowsDow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22860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 buck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560320" y="219456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14" name="Image 2" descr="Cpu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972" y="228600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0604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ADC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560320" y="3291840"/>
            <a:ext cx="86868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F273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2560320" y="32918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14400" y="3822192"/>
            <a:ext cx="292608" cy="292608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417320" y="3822192"/>
            <a:ext cx="292608" cy="292608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920240" y="3822192"/>
            <a:ext cx="292608" cy="292608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377440" y="3813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PG7 glands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443484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2F4F5"/>
          </a:solidFill>
          <a:ln w="19050">
            <a:solidFill>
              <a:srgbClr val="0F273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5800" y="4507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tap (concept)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31520" y="5029200"/>
            <a:ext cx="804672" cy="731520"/>
          </a:xfrm>
          <a:prstGeom prst="roundRect">
            <a:avLst>
              <a:gd name="adj" fmla="val 12500"/>
            </a:avLst>
          </a:prstGeom>
          <a:solidFill>
            <a:srgbClr val="7FC4EA"/>
          </a:solidFill>
          <a:ln w="12700">
            <a:solidFill>
              <a:srgbClr val="7FC4E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31520" y="502920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port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517904" y="5166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664208" y="5029200"/>
            <a:ext cx="804672" cy="731520"/>
          </a:xfrm>
          <a:prstGeom prst="roundRect">
            <a:avLst>
              <a:gd name="adj" fmla="val 12500"/>
            </a:avLst>
          </a:prstGeom>
          <a:solidFill>
            <a:srgbClr val="7FC4EA"/>
          </a:solidFill>
          <a:ln w="12700">
            <a:solidFill>
              <a:srgbClr val="7FC4E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664208" y="502920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G¼ tee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2450592" y="5166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2596896" y="5029200"/>
            <a:ext cx="804672" cy="731520"/>
          </a:xfrm>
          <a:prstGeom prst="roundRect">
            <a:avLst>
              <a:gd name="adj" fmla="val 12500"/>
            </a:avLst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2596896" y="502920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valve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3383280" y="5166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3529584" y="5029200"/>
            <a:ext cx="804672" cy="731520"/>
          </a:xfrm>
          <a:prstGeom prst="roundRect">
            <a:avLst>
              <a:gd name="adj" fmla="val 12500"/>
            </a:avLst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529584" y="502920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754880" y="1280160"/>
            <a:ext cx="2194560" cy="2148840"/>
          </a:xfrm>
          <a:prstGeom prst="roundRect">
            <a:avLst>
              <a:gd name="adj" fmla="val 4255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532120" y="1417320"/>
            <a:ext cx="640080" cy="64008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37" name="Image 3" descr="Box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938" y="1558138"/>
            <a:ext cx="358445" cy="358445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4846320" y="2121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4846320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PC/ABS IP65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4864608" y="27889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non-conductive, light, ≈ ₹700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7086600" y="1280160"/>
            <a:ext cx="2194560" cy="2148840"/>
          </a:xfrm>
          <a:prstGeom prst="roundRect">
            <a:avLst>
              <a:gd name="adj" fmla="val 4255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863840" y="1417320"/>
            <a:ext cx="640080" cy="64008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43" name="Image 4" descr="ArrowsJoi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658" y="1558138"/>
            <a:ext cx="358445" cy="35844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7178040" y="2121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fittings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7178040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Brass G¼, ≥ 16 bar</a:t>
            </a:r>
            <a:endParaRPr lang="en-US" sz="1500" dirty="0"/>
          </a:p>
        </p:txBody>
      </p:sp>
      <p:sp>
        <p:nvSpPr>
          <p:cNvPr id="46" name="Text 39"/>
          <p:cNvSpPr txBox="1"/>
          <p:nvPr/>
        </p:nvSpPr>
        <p:spPr>
          <a:xfrm>
            <a:off x="7196328" y="27889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2× the 7.4 bar band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9418320" y="1280160"/>
            <a:ext cx="2194560" cy="2148840"/>
          </a:xfrm>
          <a:prstGeom prst="roundRect">
            <a:avLst>
              <a:gd name="adj" fmla="val 4255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10195560" y="1417320"/>
            <a:ext cx="640080" cy="64008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49" name="Image 5" descr="LayoutBoardSpli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6378" y="1558138"/>
            <a:ext cx="358445" cy="358445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9509760" y="2121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9509760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Steel DIN rail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9528048" y="27889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panel wall, off the vibrating frame</a:t>
            </a:r>
            <a:endParaRPr lang="en-US" sz="1150" dirty="0"/>
          </a:p>
        </p:txBody>
      </p:sp>
      <p:sp>
        <p:nvSpPr>
          <p:cNvPr id="53" name="Shape 45"/>
          <p:cNvSpPr/>
          <p:nvPr/>
        </p:nvSpPr>
        <p:spPr>
          <a:xfrm>
            <a:off x="4754880" y="361188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4937760" y="3767328"/>
            <a:ext cx="594360" cy="59436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55" name="Image 6" descr="Ruler2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519" y="3898087"/>
            <a:ext cx="332842" cy="332842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5715000" y="36118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analysis: </a:t>
            </a:r>
            <a:pPr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load-bearing part at Stage 2; pressure parts are rated fittings. Stage 3 adds a bracket vibration check.</a:t>
            </a:r>
            <a:endParaRPr lang="en-US" sz="1300" dirty="0"/>
          </a:p>
        </p:txBody>
      </p:sp>
      <p:sp>
        <p:nvSpPr>
          <p:cNvPr id="57" name="Shape 48"/>
          <p:cNvSpPr/>
          <p:nvPr/>
        </p:nvSpPr>
        <p:spPr>
          <a:xfrm>
            <a:off x="4754880" y="4709160"/>
            <a:ext cx="6858000" cy="1463040"/>
          </a:xfrm>
          <a:prstGeom prst="roundRect">
            <a:avLst>
              <a:gd name="adj" fmla="val 6250"/>
            </a:avLst>
          </a:prstGeom>
          <a:solidFill>
            <a:srgbClr val="FDF1D8"/>
          </a:solidFill>
          <a:ln w="19050">
            <a:solidFill>
              <a:srgbClr val="F2A516"/>
            </a:solidFill>
            <a:prstDash val="dash"/>
          </a:ln>
        </p:spPr>
      </p:sp>
      <p:pic>
        <p:nvPicPr>
          <p:cNvPr id="58" name="Image 7" descr="Box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4913986"/>
            <a:ext cx="548640" cy="548640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4892040" y="5508346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screenshot of the team's enclosure CAD model (isometric + exploded, feature tree visible)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Electronics connections and bill of materials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Electronics &amp; BOM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E8F3FA"/>
          </a:solidFill>
          <a:ln w="12700">
            <a:solidFill>
              <a:srgbClr val="D9DEE0"/>
            </a:solidFill>
            <a:prstDash val="solid"/>
          </a:ln>
        </p:spPr>
      </p:sp>
      <p:pic>
        <p:nvPicPr>
          <p:cNvPr id="5" name="Image 0" descr="Gau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04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transmitter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4–20 mA loop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E8F3FA"/>
          </a:solidFill>
          <a:ln w="12700">
            <a:solidFill>
              <a:srgbClr val="D9DEE0"/>
            </a:solidFill>
            <a:prstDash val="solid"/>
          </a:ln>
        </p:spPr>
      </p:sp>
      <p:pic>
        <p:nvPicPr>
          <p:cNvPr id="8" name="Image 1" descr="Bo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048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240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SCT-013-030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 : 1 V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315468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E8F3FA"/>
          </a:solidFill>
          <a:ln w="12700">
            <a:solidFill>
              <a:srgbClr val="D9DEE0"/>
            </a:solidFill>
            <a:prstDash val="solid"/>
          </a:ln>
        </p:spPr>
      </p:sp>
      <p:pic>
        <p:nvPicPr>
          <p:cNvPr id="11" name="Image 2" descr="PlugConnect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927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154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Machine-on contact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GND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406908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F2F4F5"/>
          </a:solidFill>
          <a:ln w="12700">
            <a:solidFill>
              <a:srgbClr val="D9DEE0"/>
            </a:solidFill>
            <a:prstDash val="solid"/>
          </a:ln>
        </p:spPr>
      </p:sp>
      <p:pic>
        <p:nvPicPr>
          <p:cNvPr id="14" name="Image 3" descr="Battery2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33672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15568" y="4069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 PSU → 5 V buck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108960" y="13258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2F4F5"/>
          </a:solidFill>
          <a:ln w="12700">
            <a:solidFill>
              <a:srgbClr val="D9DEE0"/>
            </a:solidFill>
            <a:prstDash val="solid"/>
          </a:ln>
        </p:spPr>
      </p:sp>
      <p:pic>
        <p:nvPicPr>
          <p:cNvPr id="17" name="Image 4" descr="WaveSin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1490472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675888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Ω shunt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ADS1115 A0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3108960" y="22402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2F4F5"/>
          </a:solidFill>
          <a:ln w="12700">
            <a:solidFill>
              <a:srgbClr val="D9DEE0"/>
            </a:solidFill>
            <a:prstDash val="solid"/>
          </a:ln>
        </p:spPr>
      </p:sp>
      <p:pic>
        <p:nvPicPr>
          <p:cNvPr id="20" name="Image 5" descr="ChartDot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2404872"/>
            <a:ext cx="402336" cy="40233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675888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ADS1115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A1–A3 differential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3108960" y="31546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DCEBF5"/>
          </a:solidFill>
          <a:ln w="12700">
            <a:solidFill>
              <a:srgbClr val="D9DEE0"/>
            </a:solidFill>
            <a:prstDash val="solid"/>
          </a:ln>
        </p:spPr>
      </p:sp>
      <p:pic>
        <p:nvPicPr>
          <p:cNvPr id="23" name="Image 6" descr="Cpu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8688" y="3319272"/>
            <a:ext cx="402336" cy="40233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3675888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8 · SCL 9 · GPIO 7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3108960" y="406908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2F4F5"/>
          </a:solidFill>
          <a:ln w="12700">
            <a:solidFill>
              <a:srgbClr val="D9DEE0"/>
            </a:solidFill>
            <a:prstDash val="solid"/>
          </a:ln>
        </p:spPr>
      </p:sp>
      <p:pic>
        <p:nvPicPr>
          <p:cNvPr id="26" name="Image 7" descr="Databas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4233672"/>
            <a:ext cx="402336" cy="40233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3675888" y="4069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· CS GPIO 10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2816352" y="1554480"/>
            <a:ext cx="256032" cy="256032"/>
          </a:xfrm>
          <a:prstGeom prst="rightArrow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2816352" y="2468880"/>
            <a:ext cx="256032" cy="256032"/>
          </a:xfrm>
          <a:prstGeom prst="rightArrow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2816352" y="3383280"/>
            <a:ext cx="256032" cy="256032"/>
          </a:xfrm>
          <a:prstGeom prst="rightArrow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2816352" y="4297680"/>
            <a:ext cx="256032" cy="256032"/>
          </a:xfrm>
          <a:prstGeom prst="rightArrow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548640" y="502920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731520" y="5257800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34" name="Image 8" descr="Wifi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" y="5408676"/>
            <a:ext cx="384048" cy="38404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554480" y="50292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→ /api/edge/ingest every 10 s; same frames the software emulator sends today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25880"/>
          <a:ext cx="3108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(qty 1 each)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 DevKitC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 ADC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4–20 mA transmitter 0–16 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SCT-013-030 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Shunt, TVS, fuses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V PSU + 5 V buck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microSD + 16 GB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IP65 box, glands, 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G¼ tee + ball valve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(indicative)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Chart 0" descr=""/>
          <p:cNvGraphicFramePr/>
          <p:nvPr/>
        </p:nvGraphicFramePr>
        <p:xfrm>
          <a:off x="9006840" y="1234440"/>
          <a:ext cx="2651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8" name="Text 25"/>
          <p:cNvSpPr txBox="1"/>
          <p:nvPr/>
        </p:nvSpPr>
        <p:spPr>
          <a:xfrm>
            <a:off x="5715000" y="566928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sold by Indian online distributors; confirm prices and lead times with quotes.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Maker journey: working software, built and tested by the team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Maker journey</a:t>
            </a:r>
            <a:endParaRPr lang="en-US" sz="1000" dirty="0"/>
          </a:p>
        </p:txBody>
      </p:sp>
      <p:pic>
        <p:nvPicPr>
          <p:cNvPr id="4" name="Image 0" descr="Screenshot of the gateway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40480" cy="2400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80160"/>
            <a:ext cx="3840480" cy="2400300"/>
          </a:xfrm>
          <a:prstGeom prst="rect">
            <a:avLst/>
          </a:prstGeom>
          <a:ln w="9525">
            <a:solidFill>
              <a:srgbClr val="D9DEE0"/>
            </a:solidFill>
            <a:prstDash val="solid"/>
          </a:ln>
        </p:spPr>
      </p:sp>
      <p:pic>
        <p:nvPicPr>
          <p:cNvPr id="6" name="Image 1" descr="Screenshot of the leaks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80160"/>
            <a:ext cx="3840480" cy="24003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26280" y="1280160"/>
            <a:ext cx="3840480" cy="2400300"/>
          </a:xfrm>
          <a:prstGeom prst="rect">
            <a:avLst/>
          </a:prstGeom>
          <a:ln w="9525">
            <a:solidFill>
              <a:srgbClr val="D9DE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gateway: edge node streaming firmware frames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2628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Hunter: Bay 2 carries 58% of the leakage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549640" y="128016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FDF1D8"/>
          </a:solidFill>
          <a:ln w="19050">
            <a:solidFill>
              <a:srgbClr val="F2A516"/>
            </a:solidFill>
            <a:prstDash val="dash"/>
          </a:ln>
        </p:spPr>
      </p:sp>
      <p:pic>
        <p:nvPicPr>
          <p:cNvPr id="11" name="Image 2" descr="Camera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228" y="1459382"/>
            <a:ext cx="512064" cy="5120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017166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lab photo, team with ID badges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549640" y="269748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FDF1D8"/>
          </a:solidFill>
          <a:ln w="19050">
            <a:solidFill>
              <a:srgbClr val="F2A516"/>
            </a:solidFill>
            <a:prstDash val="dash"/>
          </a:ln>
        </p:spPr>
      </p:sp>
      <p:pic>
        <p:nvPicPr>
          <p:cNvPr id="14" name="Image 3" descr="Camera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228" y="2876702"/>
            <a:ext cx="512064" cy="5120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434486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review photo with faculty mentor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425196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31520" y="4434840"/>
            <a:ext cx="640080" cy="640080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18" name="Image 4" descr="BrandGithub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4575658"/>
            <a:ext cx="358445" cy="35844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08760" y="4480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31520" y="5212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github.com/Suheerthan/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FactoryAirTwin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337560" y="425196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3520440" y="4434840"/>
            <a:ext cx="640080" cy="640080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23" name="Image 5" descr="Flas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1258" y="4575658"/>
            <a:ext cx="358445" cy="35844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297680" y="4480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124 tests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3520440" y="5212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number reproduced by code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126480" y="425196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309360" y="4434840"/>
            <a:ext cx="640080" cy="640080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28" name="Image 6" descr="Cpu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0178" y="4575658"/>
            <a:ext cx="358445" cy="35844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086600" y="4480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Firmware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6309360" y="5212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factoryair_edge.ino + wiring README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915400" y="425196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9098280" y="4434840"/>
            <a:ext cx="640080" cy="640080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33" name="Image 7" descr="FileSpreadshee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098" y="4575658"/>
            <a:ext cx="358445" cy="35844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875520" y="4480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 files</a:t>
            </a:r>
            <a:endParaRPr lang="en-US" sz="1600" dirty="0"/>
          </a:p>
        </p:txBody>
      </p:sp>
      <p:sp>
        <p:nvSpPr>
          <p:cNvPr id="35" name="Text 25"/>
          <p:cNvSpPr txBox="1"/>
          <p:nvPr/>
        </p:nvSpPr>
        <p:spPr>
          <a:xfrm>
            <a:off x="9098280" y="5212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source, sample logger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Stage 1 → Stage 2: what we learned and changed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Maker journey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pic>
        <p:nvPicPr>
          <p:cNvPr id="5" name="Image 0" descr="Brai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801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 data: AI failed, physics worked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45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MetroPT-3 (real): the synthetic AI flagged 0 windows (AUC 0.58); the physics duty test put all 4 documented-leak nights in the top 7 of 159 (AUC 0.988)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9" name="Image 1" descr="CalendarEve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69290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4963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minutes → 14 days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8620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twin with shifts and nights caught the new leak the same night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58184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3" name="Image 2" descr="Sear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9090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7124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"Where is it?"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07822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Hunter allocates leakage by zone, then verifies the repair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974336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7" name="Image 3" descr="Cpu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512521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9286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hardware budget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52943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edge node + firmware + CSV upload run the full pipeline today</a:t>
            </a:r>
            <a:endParaRPr lang="en-US" sz="12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217920" y="12344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1" name="Text 14"/>
          <p:cNvSpPr txBox="1"/>
          <p:nvPr/>
        </p:nvSpPr>
        <p:spPr>
          <a:xfrm>
            <a:off x="6217920" y="5120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 1.8% · storage 1.9% · all 30 within ±10% (simulated)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217920" y="553212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FDF1D8"/>
          </a:solidFill>
          <a:ln w="19050">
            <a:solidFill>
              <a:srgbClr val="F2A516"/>
            </a:solidFill>
            <a:prstDash val="dash"/>
          </a:ln>
        </p:spPr>
      </p:sp>
      <p:pic>
        <p:nvPicPr>
          <p:cNvPr id="23" name="Image 4" descr="Signatur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562813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355080" y="59481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faculty sign-off (name, department, college)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Safety by design: read-only, clip-on, fail-quiet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Safety &amp; hazard mitigation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6" name="Image 0" descr="HandS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6139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4813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output stage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start, stop or reload the compressor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6042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3300" y="1463040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1" name="Image 1" descr="PlugConnecte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6139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66260" y="14813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Clip-on CT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mains conductor opened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1463040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6" name="Image 2" descr="ArrowsJoi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6139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78040" y="14813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Isolated tap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valve, fittings rated &gt; 2× pressure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8398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66860" y="1463040"/>
            <a:ext cx="685800" cy="68580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21" name="Image 3" descr="ShieldLo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16139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89820" y="14813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Sealed + fused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IP65 box, fused 24 V supply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7680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3657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protection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Transmitter open loop / drift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leak figure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3.6 mA frames dropped; stuck and range checks 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dropout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 SD spool; gaps flagged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jump / bad frame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rejects them (tested live)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leak alarm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Wasted labour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estimators must agree; weak nights graded 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nameplate FAD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Biased 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openly; Stage 3 pump-up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8458200" y="3063240"/>
            <a:ext cx="3154680" cy="3108960"/>
          </a:xfrm>
          <a:prstGeom prst="roundRect">
            <a:avLst>
              <a:gd name="adj" fmla="val 2941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646920" y="3200400"/>
            <a:ext cx="777240" cy="777240"/>
          </a:xfrm>
          <a:prstGeom prst="ellipse">
            <a:avLst/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pic>
        <p:nvPicPr>
          <p:cNvPr id="27" name="Image 4" descr="Certificat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913" y="3371393"/>
            <a:ext cx="435254" cy="43525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595360" y="40416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Standards considered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8686800" y="44348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61010-1, 61010-2-032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60529 (IP65)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11011 (air audits)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2379 (pipe colours)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Four-month plan to a field-tested prototype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Roadmap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931670" y="2286000"/>
            <a:ext cx="8298180" cy="0"/>
          </a:xfrm>
          <a:prstGeom prst="line">
            <a:avLst/>
          </a:prstGeom>
          <a:noFill/>
          <a:ln w="31750">
            <a:solidFill>
              <a:srgbClr val="7FC4E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399032"/>
            <a:ext cx="2766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3886" y="1728216"/>
            <a:ext cx="1115568" cy="11155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8750" y="1783080"/>
            <a:ext cx="1005840" cy="100584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8" name="Image 0" descr="Too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035" y="2004365"/>
            <a:ext cx="563270" cy="56327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926080"/>
            <a:ext cx="25831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assemble node, flash firmware, bench-test vs gauge + clamp meter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314700" y="1399032"/>
            <a:ext cx="2766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39946" y="1728216"/>
            <a:ext cx="1115568" cy="11155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94810" y="1783080"/>
            <a:ext cx="1005840" cy="100584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3" name="Image 1" descr="PlugConnecte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095" y="2004365"/>
            <a:ext cx="563270" cy="56327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06140" y="2926080"/>
            <a:ext cx="25831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Integrate: enclosure CAD + fit-out, college compressor install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080760" y="1399032"/>
            <a:ext cx="2766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906006" y="1728216"/>
            <a:ext cx="1115568" cy="11155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60870" y="1783080"/>
            <a:ext cx="1005840" cy="1005840"/>
          </a:xfrm>
          <a:prstGeom prst="ellipse">
            <a:avLst/>
          </a:prstGeom>
          <a:solidFill>
            <a:srgbClr val="1C6A96"/>
          </a:solidFill>
          <a:ln w="12700">
            <a:solidFill>
              <a:srgbClr val="1C6A96"/>
            </a:solidFill>
            <a:prstDash val="solid"/>
          </a:ln>
        </p:spPr>
      </p:sp>
      <p:pic>
        <p:nvPicPr>
          <p:cNvPr id="18" name="Image 2" descr="Microscop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155" y="2004365"/>
            <a:ext cx="563270" cy="56327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72200" y="2926080"/>
            <a:ext cx="25831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MSME pilot vs manual leak-down + ultrasonic walk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846820" y="1399032"/>
            <a:ext cx="2766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2027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672066" y="1728216"/>
            <a:ext cx="1115568" cy="11155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726930" y="1783080"/>
            <a:ext cx="1005840" cy="1005840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23" name="Image 3" descr="Rocke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215" y="2004365"/>
            <a:ext cx="563270" cy="56327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938260" y="2926080"/>
            <a:ext cx="25831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Prove: site recalibration, repair a found leak, verify overnight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20624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77240" y="4389120"/>
            <a:ext cx="640080" cy="640080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27" name="Image 4" descr="Fla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8" y="4529938"/>
            <a:ext cx="358445" cy="35844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00200" y="43891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84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Stage 3 commitment: demonstrated live on this dashboard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30" name="Image 5" descr="Cpu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537850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463040" y="51937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edge node on a real compressor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4434840" y="5257800"/>
            <a:ext cx="548640" cy="548640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33" name="Image 6" descr="ChartLin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541" y="5378501"/>
            <a:ext cx="307238" cy="30723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120640" y="51937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leak index from real data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8092440" y="5257800"/>
            <a:ext cx="548640" cy="548640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36" name="Image 7" descr="Check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3141" y="5378501"/>
            <a:ext cx="307238" cy="30723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778240" y="51937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leak located, repaired and verified overnight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Engineering bottlenecks we hit in simulation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Technical challenges &amp; risks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822960" cy="82296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6" name="Image 0" descr="ArrowsSplit2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6898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leak looks like demand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data cannot separate production air from leaks.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2801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508760"/>
            <a:ext cx="822960" cy="82296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11" name="Image 1" descr="T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331" y="16898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Nameplate is not the truth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low delivery biased estimates by ~3%.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2801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508760"/>
            <a:ext cx="822960" cy="82296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pic>
        <p:nvPicPr>
          <p:cNvPr id="16" name="Image 2" descr="Brai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371" y="16898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56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Synthetic AI does not transfer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MetroPT-3: 0 windows flagged, AUC 0.58. The physics test scored 0.988.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023360"/>
            <a:ext cx="822960" cy="82296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21" name="Image 3" descr="Clock2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2044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quiet hours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plants give the nightly test no window.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26280" y="4023360"/>
            <a:ext cx="822960" cy="82296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26" name="Image 4" descr="Drople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331" y="4204411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Valves are not perfect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Seeping valve seats blur the zone split.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4023360"/>
            <a:ext cx="822960" cy="82296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31" name="Image 5" descr="WifiOff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371" y="4204411"/>
            <a:ext cx="460858" cy="46085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data is messy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Dropouts, stuck sensors, spikes, clock jumps.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Backup solutions for each risk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Technical challenges &amp; risks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solution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55064"/>
            <a:ext cx="502920" cy="50292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8" name="Image 0" descr="ArrowsSplit2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1765706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6002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Leak vs demand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37560" y="1783080"/>
            <a:ext cx="365760" cy="256032"/>
          </a:xfrm>
          <a:prstGeom prst="rightArrow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60020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77640" y="1600200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only in idle windows via the machine-on contact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474720" cy="621792"/>
          </a:xfrm>
          <a:prstGeom prst="roundRect">
            <a:avLst>
              <a:gd name="adj" fmla="val 1470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160020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leak-down test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404872"/>
            <a:ext cx="502920" cy="50292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16" name="Image 1" descr="T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2515514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88720" y="235000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Nameplate bias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337560" y="2532888"/>
            <a:ext cx="365760" cy="256032"/>
          </a:xfrm>
          <a:prstGeom prst="rightArrow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40480" y="2350008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977640" y="235000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pump-up test measures real FAD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38160" y="2350008"/>
            <a:ext cx="3474720" cy="621792"/>
          </a:xfrm>
          <a:prstGeom prst="roundRect">
            <a:avLst>
              <a:gd name="adj" fmla="val 1470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75320" y="235000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bias band on every ₹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24" name="Image 2" descr="Brai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3265322"/>
            <a:ext cx="281635" cy="28163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88720" y="309981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 transfer gap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3337560" y="3282696"/>
            <a:ext cx="365760" cy="256032"/>
          </a:xfrm>
          <a:prstGeom prst="rightArrow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840480" y="3099816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977640" y="3099816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sets all ₹: AUC 0.988 on real MetroPT-3 nights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8138160" y="3099816"/>
            <a:ext cx="3474720" cy="621792"/>
          </a:xfrm>
          <a:prstGeom prst="roundRect">
            <a:avLst>
              <a:gd name="adj" fmla="val 1470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275320" y="309981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model recalibration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548640" y="3904488"/>
            <a:ext cx="502920" cy="50292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32" name="Image 3" descr="Clock2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4015130"/>
            <a:ext cx="281635" cy="28163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88720" y="38496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quiet hours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3337560" y="4032504"/>
            <a:ext cx="365760" cy="256032"/>
          </a:xfrm>
          <a:prstGeom prst="rightArrow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840480" y="3849624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3977640" y="3849624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Lunch-break tests; decay-only mode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8138160" y="3849624"/>
            <a:ext cx="3474720" cy="621792"/>
          </a:xfrm>
          <a:prstGeom prst="roundRect">
            <a:avLst>
              <a:gd name="adj" fmla="val 1470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275320" y="384962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during planned stops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548640" y="4654296"/>
            <a:ext cx="502920" cy="502920"/>
          </a:xfrm>
          <a:prstGeom prst="ellipse">
            <a:avLst/>
          </a:prstGeom>
          <a:solidFill>
            <a:srgbClr val="5A6A6F"/>
          </a:solidFill>
          <a:ln w="12700">
            <a:solidFill>
              <a:srgbClr val="5A6A6F"/>
            </a:solidFill>
            <a:prstDash val="solid"/>
          </a:ln>
        </p:spPr>
      </p:sp>
      <p:pic>
        <p:nvPicPr>
          <p:cNvPr id="40" name="Image 4" descr="Drople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4764938"/>
            <a:ext cx="281635" cy="281635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188720" y="45994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Seeping valves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3337560" y="4782312"/>
            <a:ext cx="365760" cy="256032"/>
          </a:xfrm>
          <a:prstGeom prst="rightArrow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840480" y="4599432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E2F2EA"/>
          </a:solidFill>
          <a:ln w="12700">
            <a:solidFill>
              <a:srgbClr val="E2F2EA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3977640" y="4599432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both directions and compare</a:t>
            </a:r>
            <a:endParaRPr lang="en-US" sz="1250" dirty="0"/>
          </a:p>
        </p:txBody>
      </p:sp>
      <p:sp>
        <p:nvSpPr>
          <p:cNvPr id="45" name="Shape 38"/>
          <p:cNvSpPr/>
          <p:nvPr/>
        </p:nvSpPr>
        <p:spPr>
          <a:xfrm>
            <a:off x="8138160" y="4599432"/>
            <a:ext cx="3474720" cy="621792"/>
          </a:xfrm>
          <a:prstGeom prst="roundRect">
            <a:avLst>
              <a:gd name="adj" fmla="val 1470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8275320" y="459943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walk in the top zone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731520" y="5577840"/>
            <a:ext cx="548640" cy="548640"/>
          </a:xfrm>
          <a:prstGeom prst="ellipse">
            <a:avLst/>
          </a:prstGeom>
          <a:solidFill>
            <a:srgbClr val="17845A"/>
          </a:solidFill>
          <a:ln w="12700">
            <a:solidFill>
              <a:srgbClr val="17845A"/>
            </a:solidFill>
            <a:prstDash val="solid"/>
          </a:ln>
        </p:spPr>
      </p:sp>
      <p:pic>
        <p:nvPicPr>
          <p:cNvPr id="49" name="Image 5" descr="Check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1" y="5698541"/>
            <a:ext cx="307238" cy="307238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463040" y="5486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verified in simulation: the repeat valve survey measured ₹4,276/month vs ₹4,741 predicted (−9.8%, 92% repair efficacy).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73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References and sources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FactoryAir Twin · VK26-IITI-AHM-0210 · References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U.S. Department of Energy &amp; Compressed Air Challenge, Improving Compressed Air System Performance: A Sourcebook for Industry (3rd ed.).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ISO 11011:2013, Compressed air — Energy efficiency — Assessment.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Bureau of Energy Efficiency (India), Energy Efficiency in Electrical Utilities, Chapter 3: Compressed Air System.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Veloso, B. et al., "The MetroPT dataset for predictive maintenance", Scientific Data 9, 764 (2022); UCI Machine Learning Repository, MetroPT-3 (id 791).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IEC 61010-1, IEC 61010-2-032 (measurement equipment, current clamps); IEC 60529 (IP code).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IS 2379, Pipelines — Identification colour code (Bureau of Indian Standards).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Data sheets: Espressif ESP32-S3, Texas Instruments ADS1115, YHDC SCT-013 series.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F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screenshots of the team's own software; diagrams drawn by the team; icons from the open-source Tabler Icons set (MIT licence).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A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toryAir Twin">
  <a:themeElements>
    <a:clrScheme name="FactoryAir Twin">
      <a:dk1>
        <a:srgbClr val="0F2730"/>
      </a:dk1>
      <a:lt1>
        <a:srgbClr val="FFFFFF"/>
      </a:lt1>
      <a:dk2>
        <a:srgbClr val="183A45"/>
      </a:dk2>
      <a:lt2>
        <a:srgbClr val="F2F4F5"/>
      </a:lt2>
      <a:accent1>
        <a:srgbClr val="1C6A96"/>
      </a:accent1>
      <a:accent2>
        <a:srgbClr val="F2A516"/>
      </a:accent2>
      <a:accent3>
        <a:srgbClr val="17845A"/>
      </a:accent3>
      <a:accent4>
        <a:srgbClr val="7FC4EA"/>
      </a:accent4>
      <a:accent5>
        <a:srgbClr val="B93A2A"/>
      </a:accent5>
      <a:accent6>
        <a:srgbClr val="5A6A6F"/>
      </a:accent6>
      <a:hlink>
        <a:srgbClr val="1C6A96"/>
      </a:hlink>
      <a:folHlink>
        <a:srgbClr val="183A45"/>
      </a:folHlink>
    </a:clrScheme>
    <a:fontScheme name="FactoryAir Twin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FactoryAir Twin — Vishwakarma Stage 2</dc:title>
  <dc:subject>PptxGenJS Presentation</dc:subject>
  <dc:creator>Team Volts and Bolts</dc:creator>
  <cp:lastModifiedBy>Team Volts and Bolts</cp:lastModifiedBy>
  <cp:revision>1</cp:revision>
  <dcterms:created xsi:type="dcterms:W3CDTF">2026-10-22T08:11:22Z</dcterms:created>
  <dcterms:modified xsi:type="dcterms:W3CDTF">2026-10-22T08:11:22Z</dcterms:modified>
</cp:coreProperties>
</file>