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plication ID" id="{99202F8B-74D5-DC6B-2678-B00341DF7DD6}">
          <p14:sldIdLst>
            <p14:sldId id="256"/>
          </p14:sldIdLst>
        </p14:section>
        <p14:section name="Problem context" id="{90BB3786-8E37-DE85-5F16-5E531ADA4CE3}">
          <p14:sldIdLst>
            <p14:sldId id="257"/>
            <p14:sldId id="258"/>
          </p14:sldIdLst>
        </p14:section>
        <p14:section name="User journey" id="{E340035D-C1C9-E2AC-8F43-052622848698}">
          <p14:sldIdLst>
            <p14:sldId id="259"/>
            <p14:sldId id="260"/>
          </p14:sldIdLst>
        </p14:section>
        <p14:section name="System architecture" id="{DDC5A473-DC6F-045F-FE7C-1CEA697A5F29}">
          <p14:sldIdLst>
            <p14:sldId id="261"/>
            <p14:sldId id="262"/>
          </p14:sldIdLst>
        </p14:section>
        <p14:section name="CAD &amp; mechanical" id="{65B7E918-915A-2176-A6D8-C4E03CB15A96}">
          <p14:sldIdLst>
            <p14:sldId id="263"/>
          </p14:sldIdLst>
        </p14:section>
        <p14:section name="Electronics &amp; BOM" id="{8442C8EA-2AA6-A987-571A-47B18E9E1C4B}">
          <p14:sldIdLst>
            <p14:sldId id="264"/>
          </p14:sldIdLst>
        </p14:section>
        <p14:section name="Maker journey" id="{9B01C999-1BD6-0B5F-D057-28CFDE847D3D}">
          <p14:sldIdLst>
            <p14:sldId id="265"/>
            <p14:sldId id="266"/>
          </p14:sldIdLst>
        </p14:section>
        <p14:section name="Safety &amp; hazard mitigation" id="{07AC9689-DA89-00A6-C08A-0C9D675A3798}">
          <p14:sldIdLst>
            <p14:sldId id="267"/>
          </p14:sldIdLst>
        </p14:section>
        <p14:section name="Roadmap" id="{BFD5206A-8D93-ADFF-03C1-4A1B2BE5471F}">
          <p14:sldIdLst>
            <p14:sldId id="268"/>
          </p14:sldIdLst>
        </p14:section>
        <p14:section name="Technical challenges &amp; risks" id="{CB054CB8-9446-B8B9-BA69-B15DCD8C49F9}">
          <p14:sldIdLst>
            <p14:sldId id="269"/>
            <p14:sldId id="270"/>
          </p14:sldIdLst>
        </p14:section>
        <p14:section name="References" id="{66AE2312-A197-F653-E372-5663F5603EE9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A6A6F"/>
    <a:srgbClr val="8C97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0" d="100"/>
          <a:sy n="80" d="100"/>
        </p:scale>
        <p:origin x="754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F273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pPr>
            <a:r>
              <a:rPr lang="en-US" sz="1400" b="0" i="0" u="none" strike="noStrike">
                <a:solidFill>
                  <a:srgbClr val="0F273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Nightly leak test, % of compressor capacity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Leak, % of capacity</c:v>
                </c:pt>
              </c:strCache>
            </c:strRef>
          </c:tx>
          <c:spPr>
            <a:ln w="38100" cap="flat">
              <a:solidFill>
                <a:srgbClr val="1C6A96"/>
              </a:solidFill>
              <a:prstDash val="solid"/>
              <a:round/>
            </a:ln>
            <a:effectLst/>
          </c:spPr>
          <c:marker>
            <c:symbol val="circle"/>
            <c:size val="7"/>
            <c:spPr>
              <a:solidFill>
                <a:srgbClr val="1C6A96"/>
              </a:solidFill>
              <a:ln w="9525" cap="flat">
                <a:solidFill>
                  <a:srgbClr val="1C6A96"/>
                </a:solidFill>
                <a:prstDash val="solid"/>
                <a:round/>
              </a:ln>
              <a:effectLst/>
            </c:spPr>
          </c:marker>
          <c:cat>
            <c:strRef>
              <c:f>Sheet1!$A$2:$A$14</c:f>
              <c:strCache>
                <c:ptCount val="13"/>
                <c:pt idx="0">
                  <c:v>Mon 1</c:v>
                </c:pt>
                <c:pt idx="1">
                  <c:v>Tue 2</c:v>
                </c:pt>
                <c:pt idx="2">
                  <c:v>Wed 3</c:v>
                </c:pt>
                <c:pt idx="3">
                  <c:v>Thu 4</c:v>
                </c:pt>
                <c:pt idx="4">
                  <c:v>Fri 5</c:v>
                </c:pt>
                <c:pt idx="5">
                  <c:v>Sat 6</c:v>
                </c:pt>
                <c:pt idx="6">
                  <c:v>Sun 7</c:v>
                </c:pt>
                <c:pt idx="7">
                  <c:v>Mon 8</c:v>
                </c:pt>
                <c:pt idx="8">
                  <c:v>Tue 9</c:v>
                </c:pt>
                <c:pt idx="9">
                  <c:v>Wed 10</c:v>
                </c:pt>
                <c:pt idx="10">
                  <c:v>Thu 11</c:v>
                </c:pt>
                <c:pt idx="11">
                  <c:v>Fri 12</c:v>
                </c:pt>
                <c:pt idx="12">
                  <c:v>Sat 13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7.3</c:v>
                </c:pt>
                <c:pt idx="1">
                  <c:v>7.4</c:v>
                </c:pt>
                <c:pt idx="2">
                  <c:v>7.5</c:v>
                </c:pt>
                <c:pt idx="3">
                  <c:v>22</c:v>
                </c:pt>
                <c:pt idx="4">
                  <c:v>22.1</c:v>
                </c:pt>
                <c:pt idx="5">
                  <c:v>22.1</c:v>
                </c:pt>
                <c:pt idx="6">
                  <c:v>22.2</c:v>
                </c:pt>
                <c:pt idx="7">
                  <c:v>22.3</c:v>
                </c:pt>
                <c:pt idx="8">
                  <c:v>22.4</c:v>
                </c:pt>
                <c:pt idx="9">
                  <c:v>22.5</c:v>
                </c:pt>
                <c:pt idx="10">
                  <c:v>8.1999999999999993</c:v>
                </c:pt>
                <c:pt idx="11">
                  <c:v>8.1999999999999993</c:v>
                </c:pt>
                <c:pt idx="12">
                  <c:v>8.3000000000000007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763-4BBE-8FEF-E89E6A47ABF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A6F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5"/>
          <c:min val="0"/>
        </c:scaling>
        <c:delete val="0"/>
        <c:axPos val="l"/>
        <c:majorGridlines>
          <c:spPr>
            <a:ln w="9525" cap="flat">
              <a:solidFill>
                <a:srgbClr val="E2E6E8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A6F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F273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pPr>
            <a:r>
              <a:rPr lang="en-IN" sz="1400" b="0" i="0" u="none" strike="noStrike">
                <a:solidFill>
                  <a:srgbClr val="0F273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Where the ₹6,100 goes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Cost share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C6A9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F87F-41B2-82A0-61B3FE35780B}"/>
              </c:ext>
            </c:extLst>
          </c:dPt>
          <c:dPt>
            <c:idx val="1"/>
            <c:bubble3D val="0"/>
            <c:spPr>
              <a:solidFill>
                <a:srgbClr val="0F273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F87F-41B2-82A0-61B3FE35780B}"/>
              </c:ext>
            </c:extLst>
          </c:dPt>
          <c:dPt>
            <c:idx val="2"/>
            <c:bubble3D val="0"/>
            <c:spPr>
              <a:solidFill>
                <a:srgbClr val="F2A51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F87F-41B2-82A0-61B3FE35780B}"/>
              </c:ext>
            </c:extLst>
          </c:dPt>
          <c:dPt>
            <c:idx val="3"/>
            <c:bubble3D val="0"/>
            <c:spPr>
              <a:solidFill>
                <a:srgbClr val="7FC4E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F87F-41B2-82A0-61B3FE35780B}"/>
              </c:ext>
            </c:extLst>
          </c:dPt>
          <c:dPt>
            <c:idx val="4"/>
            <c:bubble3D val="0"/>
            <c:spPr>
              <a:solidFill>
                <a:srgbClr val="5A6A6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F87F-41B2-82A0-61B3FE35780B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FFFFFF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F87F-41B2-82A0-61B3FE35780B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FFFFFF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87F-41B2-82A0-61B3FE35780B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FFFFFF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F87F-41B2-82A0-61B3FE35780B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FFFFFF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F87F-41B2-82A0-61B3FE35780B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FFFFFF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F87F-41B2-82A0-61B3FE35780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Sheet1!$A$2:$A$6</c:f>
              <c:strCache>
                <c:ptCount val="5"/>
                <c:pt idx="0">
                  <c:v>Sensors</c:v>
                </c:pt>
                <c:pt idx="1">
                  <c:v>Controller + ADC</c:v>
                </c:pt>
                <c:pt idx="2">
                  <c:v>Power</c:v>
                </c:pt>
                <c:pt idx="3">
                  <c:v>Enclosure + fittings</c:v>
                </c:pt>
                <c:pt idx="4">
                  <c:v>Storage + protection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2250</c:v>
                </c:pt>
                <c:pt idx="1">
                  <c:v>1150</c:v>
                </c:pt>
                <c:pt idx="2">
                  <c:v>1100</c:v>
                </c:pt>
                <c:pt idx="3">
                  <c:v>1050</c:v>
                </c:pt>
                <c:pt idx="4">
                  <c:v>550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F87F-41B2-82A0-61B3FE35780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400">
              <a:solidFill>
                <a:srgbClr val="0F2730"/>
              </a:solidFill>
              <a:latin typeface="Times New Roman" panose="02020603050405020304" pitchFamily="18" charset="0"/>
              <a:cs typeface="Times New Roman" panose="02020603050405020304" pitchFamily="18" charset="0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F273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pPr>
            <a:r>
              <a:rPr lang="en-US" sz="1400" b="0" i="0" u="none" strike="noStrike">
                <a:solidFill>
                  <a:srgbClr val="0F273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30 unseen plants: estimated vs hidden true leak (m³/min)</a:t>
            </a:r>
          </a:p>
        </c:rich>
      </c:tx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Estimated leak</c:v>
                </c:pt>
              </c:strCache>
            </c:strRef>
          </c:tx>
          <c:spPr>
            <a:ln>
              <a:noFill/>
            </a:ln>
            <a:effectLst/>
          </c:spPr>
          <c:marker>
            <c:symbol val="circle"/>
            <c:size val="8"/>
            <c:spPr>
              <a:solidFill>
                <a:srgbClr val="1C6A96"/>
              </a:solidFill>
              <a:ln w="9525" cap="flat">
                <a:solidFill>
                  <a:srgbClr val="1C6A96"/>
                </a:solidFill>
                <a:prstDash val="solid"/>
                <a:round/>
              </a:ln>
              <a:effectLst/>
            </c:spPr>
          </c:marker>
          <c:xVal>
            <c:numRef>
              <c:f>Sheet1!$A$2:$A$31</c:f>
              <c:numCache>
                <c:formatCode>General</c:formatCode>
                <c:ptCount val="30"/>
                <c:pt idx="0">
                  <c:v>0.27139999999999997</c:v>
                </c:pt>
                <c:pt idx="1">
                  <c:v>0.14749999999999999</c:v>
                </c:pt>
                <c:pt idx="2">
                  <c:v>0.2019</c:v>
                </c:pt>
                <c:pt idx="3">
                  <c:v>0.28000000000000003</c:v>
                </c:pt>
                <c:pt idx="4">
                  <c:v>0.30499999999999999</c:v>
                </c:pt>
                <c:pt idx="5">
                  <c:v>5.0599999999999999E-2</c:v>
                </c:pt>
                <c:pt idx="6">
                  <c:v>6.8900000000000003E-2</c:v>
                </c:pt>
                <c:pt idx="7">
                  <c:v>0.14799999999999999</c:v>
                </c:pt>
                <c:pt idx="8">
                  <c:v>0.1489</c:v>
                </c:pt>
                <c:pt idx="9">
                  <c:v>0.18790000000000001</c:v>
                </c:pt>
                <c:pt idx="10">
                  <c:v>0.24479999999999999</c:v>
                </c:pt>
                <c:pt idx="11">
                  <c:v>0.23100000000000001</c:v>
                </c:pt>
                <c:pt idx="12">
                  <c:v>0.27860000000000001</c:v>
                </c:pt>
                <c:pt idx="13">
                  <c:v>0.30470000000000003</c:v>
                </c:pt>
                <c:pt idx="14">
                  <c:v>0.25419999999999998</c:v>
                </c:pt>
                <c:pt idx="15">
                  <c:v>0.26329999999999998</c:v>
                </c:pt>
                <c:pt idx="16">
                  <c:v>0.15820000000000001</c:v>
                </c:pt>
                <c:pt idx="17">
                  <c:v>0.1605</c:v>
                </c:pt>
                <c:pt idx="18">
                  <c:v>0.26319999999999999</c:v>
                </c:pt>
                <c:pt idx="19">
                  <c:v>0.23080000000000001</c:v>
                </c:pt>
                <c:pt idx="20">
                  <c:v>0.26629999999999998</c:v>
                </c:pt>
                <c:pt idx="21">
                  <c:v>0.1333</c:v>
                </c:pt>
                <c:pt idx="22">
                  <c:v>3.3099999999999997E-2</c:v>
                </c:pt>
                <c:pt idx="23">
                  <c:v>0.2009</c:v>
                </c:pt>
                <c:pt idx="24">
                  <c:v>0.29849999999999999</c:v>
                </c:pt>
                <c:pt idx="25">
                  <c:v>0.246</c:v>
                </c:pt>
                <c:pt idx="26">
                  <c:v>0.1623</c:v>
                </c:pt>
                <c:pt idx="27">
                  <c:v>5.2900000000000003E-2</c:v>
                </c:pt>
                <c:pt idx="28">
                  <c:v>0.1152</c:v>
                </c:pt>
                <c:pt idx="29">
                  <c:v>0.13500000000000001</c:v>
                </c:pt>
              </c:numCache>
            </c:numRef>
          </c:xVal>
          <c:yVal>
            <c:numRef>
              <c:f>Sheet1!$B$2:$B$31</c:f>
              <c:numCache>
                <c:formatCode>General</c:formatCode>
                <c:ptCount val="30"/>
                <c:pt idx="0">
                  <c:v>0.27550000000000002</c:v>
                </c:pt>
                <c:pt idx="1">
                  <c:v>0.14449999999999999</c:v>
                </c:pt>
                <c:pt idx="2">
                  <c:v>0.2034</c:v>
                </c:pt>
                <c:pt idx="3">
                  <c:v>0.29509999999999997</c:v>
                </c:pt>
                <c:pt idx="4">
                  <c:v>0.31809999999999999</c:v>
                </c:pt>
                <c:pt idx="5">
                  <c:v>4.9099999999999998E-2</c:v>
                </c:pt>
                <c:pt idx="6">
                  <c:v>6.9699999999999998E-2</c:v>
                </c:pt>
                <c:pt idx="7">
                  <c:v>0.1474</c:v>
                </c:pt>
                <c:pt idx="8">
                  <c:v>0.15040000000000001</c:v>
                </c:pt>
                <c:pt idx="9">
                  <c:v>0.19040000000000001</c:v>
                </c:pt>
                <c:pt idx="10">
                  <c:v>0.2419</c:v>
                </c:pt>
                <c:pt idx="11">
                  <c:v>0.2341</c:v>
                </c:pt>
                <c:pt idx="12">
                  <c:v>0.28349999999999997</c:v>
                </c:pt>
                <c:pt idx="13">
                  <c:v>0.30349999999999999</c:v>
                </c:pt>
                <c:pt idx="14">
                  <c:v>0.25430000000000003</c:v>
                </c:pt>
                <c:pt idx="15">
                  <c:v>0.26979999999999998</c:v>
                </c:pt>
                <c:pt idx="16">
                  <c:v>0.1583</c:v>
                </c:pt>
                <c:pt idx="17">
                  <c:v>0.1676</c:v>
                </c:pt>
                <c:pt idx="18">
                  <c:v>0.26600000000000001</c:v>
                </c:pt>
                <c:pt idx="19">
                  <c:v>0.22789999999999999</c:v>
                </c:pt>
                <c:pt idx="20">
                  <c:v>0.25929999999999997</c:v>
                </c:pt>
                <c:pt idx="21">
                  <c:v>0.1336</c:v>
                </c:pt>
                <c:pt idx="22">
                  <c:v>3.39E-2</c:v>
                </c:pt>
                <c:pt idx="23">
                  <c:v>0.2031</c:v>
                </c:pt>
                <c:pt idx="24">
                  <c:v>0.29970000000000002</c:v>
                </c:pt>
                <c:pt idx="25">
                  <c:v>0.25409999999999999</c:v>
                </c:pt>
                <c:pt idx="26">
                  <c:v>0.15859999999999999</c:v>
                </c:pt>
                <c:pt idx="27">
                  <c:v>5.1900000000000002E-2</c:v>
                </c:pt>
                <c:pt idx="28">
                  <c:v>0.1139</c:v>
                </c:pt>
                <c:pt idx="29">
                  <c:v>0.14169999999999999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D872-46CC-8120-0491660BF0E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0.35"/>
          <c:min val="0"/>
        </c:scaling>
        <c:delete val="0"/>
        <c:axPos val="b"/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5A6A6F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defRPr>
                </a:pPr>
                <a:r>
                  <a:rPr lang="en-IN" sz="1400" b="0" i="0" u="none" strike="noStrike">
                    <a:solidFill>
                      <a:srgbClr val="5A6A6F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hidden true leak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A6A6F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pPr>
            <a:endParaRPr lang="en-US"/>
          </a:p>
        </c:txPr>
        <c:crossAx val="2094734552"/>
        <c:crosses val="autoZero"/>
        <c:crossBetween val="midCat"/>
      </c:valAx>
      <c:valAx>
        <c:axId val="2094734552"/>
        <c:scaling>
          <c:orientation val="minMax"/>
          <c:max val="0.35"/>
          <c:min val="0"/>
        </c:scaling>
        <c:delete val="0"/>
        <c:axPos val="l"/>
        <c:majorGridlines>
          <c:spPr>
            <a:ln w="9525" cap="flat">
              <a:solidFill>
                <a:srgbClr val="E2E6E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5A6A6F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defRPr>
                </a:pPr>
                <a:r>
                  <a:rPr lang="en-IN" sz="1400" b="0" i="0" u="none" strike="noStrike">
                    <a:solidFill>
                      <a:srgbClr val="5A6A6F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estimated</a:t>
                </a:r>
              </a:p>
            </c:rich>
          </c:tx>
          <c:overlay val="0"/>
        </c:title>
        <c:numFmt formatCode="0.00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A6A6F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337927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_TITLE">
    <p:bg>
      <p:bgPr>
        <a:solidFill>
          <a:srgbClr val="0F27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_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rgbClr val="0F2730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defRPr>
            </a:lvl1pPr>
          </a:lstStyle>
          <a:p>
            <a:pPr marL="0" indent="0" algn="l">
              <a:buNone/>
            </a:pPr>
            <a:endParaRPr lang="en-US" sz="3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000" dirty="0">
                <a:solidFill>
                  <a:srgbClr val="5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A6A6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A6A6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2.png"/><Relationship Id="rId9" Type="http://schemas.openxmlformats.org/officeDocument/2006/relationships/image" Target="../media/image11.png"/><Relationship Id="rId10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image" Target="../media/image20.png"/><Relationship Id="rId12" Type="http://schemas.openxmlformats.org/officeDocument/2006/relationships/image" Target="../media/image21.png"/><Relationship Id="rId13" Type="http://schemas.openxmlformats.org/officeDocument/2006/relationships/image" Target="../media/image2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3.png"/><Relationship Id="rId4" Type="http://schemas.openxmlformats.org/officeDocument/2006/relationships/image" Target="../media/image10.png"/><Relationship Id="rId5" Type="http://schemas.openxmlformats.org/officeDocument/2006/relationships/image" Target="../media/image16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9.png"/><Relationship Id="rId9" Type="http://schemas.openxmlformats.org/officeDocument/2006/relationships/image" Target="../media/image2.png"/><Relationship Id="rId10" Type="http://schemas.openxmlformats.org/officeDocument/2006/relationships/image" Target="../media/image2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23.png"/><Relationship Id="rId7" Type="http://schemas.openxmlformats.org/officeDocument/2006/relationships/image" Target="../media/image17.png"/><Relationship Id="rId8" Type="http://schemas.openxmlformats.org/officeDocument/2006/relationships/chart" Target="../charts/chart1.xml"/><Relationship Id="rId9" Type="http://schemas.openxmlformats.org/officeDocument/2006/relationships/image" Target="../media/image30.png"/><Relationship Id="rId10" Type="http://schemas.openxmlformats.org/officeDocument/2006/relationships/image" Target="../media/image31.png"/><Relationship Id="rId11" Type="http://schemas.openxmlformats.org/officeDocument/2006/relationships/image" Target="../media/image3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Relationship Id="rId7" Type="http://schemas.openxmlformats.org/officeDocument/2006/relationships/image" Target="../media/image3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image" Target="../media/image31.png"/><Relationship Id="rId6" Type="http://schemas.openxmlformats.org/officeDocument/2006/relationships/image" Target="../media/image2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image" Target="../media/image42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image" Target="../media/image45.png"/><Relationship Id="rId10" Type="http://schemas.openxmlformats.org/officeDocument/2006/relationships/image" Target="../media/image46.png"/><Relationship Id="rId11" Type="http://schemas.openxmlformats.org/officeDocument/2006/relationships/image" Target="../media/image7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7.png"/><Relationship Id="rId4" Type="http://schemas.openxmlformats.org/officeDocument/2006/relationships/image" Target="../media/image39.png"/><Relationship Id="rId5" Type="http://schemas.openxmlformats.org/officeDocument/2006/relationships/image" Target="../media/image48.png"/><Relationship Id="rId6" Type="http://schemas.openxmlformats.org/officeDocument/2006/relationships/image" Target="../media/image49.png"/><Relationship Id="rId7" Type="http://schemas.openxmlformats.org/officeDocument/2006/relationships/image" Target="../media/image50.png"/><Relationship Id="rId8" Type="http://schemas.openxmlformats.org/officeDocument/2006/relationships/image" Target="../media/image51.png"/><Relationship Id="rId9" Type="http://schemas.openxmlformats.org/officeDocument/2006/relationships/image" Target="../media/image41.png"/><Relationship Id="rId10" Type="http://schemas.openxmlformats.org/officeDocument/2006/relationships/image" Target="../media/image52.png"/><Relationship Id="rId11" Type="http://schemas.openxmlformats.org/officeDocument/2006/relationships/image" Target="../media/image53.png"/><Relationship Id="rId12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4.png"/><Relationship Id="rId4" Type="http://schemas.openxmlformats.org/officeDocument/2006/relationships/image" Target="../media/image55.png"/><Relationship Id="rId5" Type="http://schemas.openxmlformats.org/officeDocument/2006/relationships/image" Target="../media/image56.png"/><Relationship Id="rId6" Type="http://schemas.openxmlformats.org/officeDocument/2006/relationships/image" Target="../media/image57.png"/><Relationship Id="rId7" Type="http://schemas.openxmlformats.org/officeDocument/2006/relationships/image" Target="../media/image33.png"/><Relationship Id="rId8" Type="http://schemas.openxmlformats.org/officeDocument/2006/relationships/image" Target="../media/image58.png"/><Relationship Id="rId9" Type="http://schemas.openxmlformats.org/officeDocument/2006/relationships/image" Target="../media/image59.jpeg"/><Relationship Id="rId10" Type="http://schemas.openxmlformats.org/officeDocument/2006/relationships/image" Target="../media/image75.jpg"/><Relationship Id="rId11" Type="http://schemas.openxmlformats.org/officeDocument/2006/relationships/image" Target="../media/image76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24.png"/><Relationship Id="rId5" Type="http://schemas.openxmlformats.org/officeDocument/2006/relationships/image" Target="../media/image29.png"/><Relationship Id="rId6" Type="http://schemas.openxmlformats.org/officeDocument/2006/relationships/image" Target="../media/image33.png"/><Relationship Id="rId7" Type="http://schemas.openxmlformats.org/officeDocument/2006/relationships/chart" Target="../charts/chart3.xml"/><Relationship Id="rId8" Type="http://schemas.openxmlformats.org/officeDocument/2006/relationships/image" Target="../media/image60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1.png"/><Relationship Id="rId4" Type="http://schemas.openxmlformats.org/officeDocument/2006/relationships/image" Target="../media/image62.png"/><Relationship Id="rId5" Type="http://schemas.openxmlformats.org/officeDocument/2006/relationships/image" Target="../media/image43.png"/><Relationship Id="rId6" Type="http://schemas.openxmlformats.org/officeDocument/2006/relationships/image" Target="../media/image63.png"/><Relationship Id="rId7" Type="http://schemas.openxmlformats.org/officeDocument/2006/relationships/image" Target="../media/image6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3.png"/><Relationship Id="rId4" Type="http://schemas.openxmlformats.org/officeDocument/2006/relationships/image" Target="../media/image62.png"/><Relationship Id="rId5" Type="http://schemas.openxmlformats.org/officeDocument/2006/relationships/image" Target="../media/image65.png"/><Relationship Id="rId6" Type="http://schemas.openxmlformats.org/officeDocument/2006/relationships/image" Target="../media/image66.png"/><Relationship Id="rId7" Type="http://schemas.openxmlformats.org/officeDocument/2006/relationships/image" Target="../media/image67.png"/><Relationship Id="rId8" Type="http://schemas.openxmlformats.org/officeDocument/2006/relationships/image" Target="../media/image33.png"/><Relationship Id="rId9" Type="http://schemas.openxmlformats.org/officeDocument/2006/relationships/image" Target="../media/image68.png"/><Relationship Id="rId10" Type="http://schemas.openxmlformats.org/officeDocument/2006/relationships/image" Target="../media/image3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9.png"/><Relationship Id="rId4" Type="http://schemas.openxmlformats.org/officeDocument/2006/relationships/image" Target="../media/image70.png"/><Relationship Id="rId5" Type="http://schemas.openxmlformats.org/officeDocument/2006/relationships/image" Target="../media/image3.png"/><Relationship Id="rId6" Type="http://schemas.openxmlformats.org/officeDocument/2006/relationships/image" Target="../media/image71.png"/><Relationship Id="rId7" Type="http://schemas.openxmlformats.org/officeDocument/2006/relationships/image" Target="../media/image72.png"/><Relationship Id="rId8" Type="http://schemas.openxmlformats.org/officeDocument/2006/relationships/image" Target="../media/image7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69.png"/><Relationship Id="rId4" Type="http://schemas.openxmlformats.org/officeDocument/2006/relationships/image" Target="../media/image70.png"/><Relationship Id="rId5" Type="http://schemas.openxmlformats.org/officeDocument/2006/relationships/image" Target="../media/image3.png"/><Relationship Id="rId6" Type="http://schemas.openxmlformats.org/officeDocument/2006/relationships/image" Target="../media/image71.png"/><Relationship Id="rId7" Type="http://schemas.openxmlformats.org/officeDocument/2006/relationships/image" Target="../media/image72.png"/><Relationship Id="rId8" Type="http://schemas.openxmlformats.org/officeDocument/2006/relationships/image" Target="../media/image3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7FC4E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Vishwakarma Application ID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640080" y="914400"/>
            <a:ext cx="5669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F2A516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VK26-IITI-AHM-0210</a:t>
            </a:r>
            <a:endParaRPr lang="en-US" sz="3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640080" y="182880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000" b="1" dirty="0">
                <a:solidFill>
                  <a:srgbClr val="FFFFFF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FactoryAir Twin</a:t>
            </a:r>
            <a:endParaRPr lang="en-US" sz="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40080" y="2880360"/>
            <a:ext cx="731520" cy="731520"/>
          </a:xfrm>
          <a:prstGeom prst="ellipse">
            <a:avLst/>
          </a:prstGeom>
          <a:solidFill>
            <a:srgbClr val="183A45"/>
          </a:solidFill>
          <a:ln w="12700">
            <a:solidFill>
              <a:srgbClr val="183A45"/>
            </a:solidFill>
            <a:prstDash val="solid"/>
          </a:ln>
        </p:spPr>
      </p:sp>
      <p:pic>
        <p:nvPicPr>
          <p:cNvPr id="6" name="Image 0" descr="Gauge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014" y="3041294"/>
            <a:ext cx="409651" cy="40965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3657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4D8DD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pressure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1417320" y="297180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7FC4E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+</a:t>
            </a:r>
            <a:endParaRPr lang="en-US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1965960" y="2880360"/>
            <a:ext cx="731520" cy="731520"/>
          </a:xfrm>
          <a:prstGeom prst="ellipse">
            <a:avLst/>
          </a:prstGeom>
          <a:solidFill>
            <a:srgbClr val="183A45"/>
          </a:solidFill>
          <a:ln w="12700">
            <a:solidFill>
              <a:srgbClr val="183A45"/>
            </a:solidFill>
            <a:prstDash val="solid"/>
          </a:ln>
        </p:spPr>
      </p:sp>
      <p:pic>
        <p:nvPicPr>
          <p:cNvPr id="10" name="Image 1" descr="Bolt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26894" y="3041294"/>
            <a:ext cx="409651" cy="40965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783080" y="3657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4D8DD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power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 8"/>
          <p:cNvSpPr txBox="1"/>
          <p:nvPr/>
        </p:nvSpPr>
        <p:spPr>
          <a:xfrm>
            <a:off x="2743200" y="297180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7FC4E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→</a:t>
            </a:r>
            <a:endParaRPr lang="en-US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3291840" y="2880360"/>
            <a:ext cx="731520" cy="731520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pic>
        <p:nvPicPr>
          <p:cNvPr id="14" name="Image 2" descr="Brain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52774" y="3041294"/>
            <a:ext cx="409651" cy="409651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108960" y="3657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4D8DD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twin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11"/>
          <p:cNvSpPr txBox="1"/>
          <p:nvPr/>
        </p:nvSpPr>
        <p:spPr>
          <a:xfrm>
            <a:off x="4069080" y="297180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7FC4E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→</a:t>
            </a:r>
            <a:endParaRPr lang="en-US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Shape 12"/>
          <p:cNvSpPr/>
          <p:nvPr/>
        </p:nvSpPr>
        <p:spPr>
          <a:xfrm>
            <a:off x="4617720" y="2880360"/>
            <a:ext cx="731520" cy="731520"/>
          </a:xfrm>
          <a:prstGeom prst="ellipse">
            <a:avLst/>
          </a:prstGeom>
          <a:solidFill>
            <a:srgbClr val="F2A516"/>
          </a:solidFill>
          <a:ln w="12700">
            <a:solidFill>
              <a:srgbClr val="F2A516"/>
            </a:solidFill>
            <a:prstDash val="solid"/>
          </a:ln>
        </p:spPr>
      </p:sp>
      <p:pic>
        <p:nvPicPr>
          <p:cNvPr id="18" name="Image 3" descr="CurrencyRupee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8654" y="3041294"/>
            <a:ext cx="409651" cy="409651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434840" y="3657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4D8DD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saving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 14"/>
          <p:cNvSpPr txBox="1"/>
          <p:nvPr/>
        </p:nvSpPr>
        <p:spPr>
          <a:xfrm>
            <a:off x="640080" y="4206240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Team Volts and Bolts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F2A51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Track: </a:t>
            </a:r>
            <a:r>
              <a:rPr lang="en-US" sz="1500" dirty="0">
                <a:solidFill>
                  <a:srgbClr val="F2A51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AI in Hardware &amp; Manufacturing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F2A51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Team members: </a:t>
            </a:r>
            <a:r>
              <a:rPr lang="en-US" sz="1500" dirty="0">
                <a:solidFill>
                  <a:srgbClr val="F2A51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Suheerthan S, Saai Varshan S, </a:t>
            </a:r>
            <a:r>
              <a:rPr lang="en-US" sz="1500" dirty="0" err="1">
                <a:solidFill>
                  <a:srgbClr val="F2A51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Neeljaynagasiva</a:t>
            </a:r>
            <a:r>
              <a:rPr lang="en-US" sz="1500" dirty="0">
                <a:solidFill>
                  <a:srgbClr val="F2A51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P N, Santhosh R, Raimon I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F2A51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Institution: </a:t>
            </a:r>
            <a:r>
              <a:rPr lang="en-US" sz="1500" dirty="0">
                <a:solidFill>
                  <a:srgbClr val="F2A51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Easwari Engineering College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F2A51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Faculty mentor: </a:t>
            </a:r>
            <a:r>
              <a:rPr lang="en-US" sz="1500" dirty="0">
                <a:solidFill>
                  <a:srgbClr val="F2A51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Dr Sathiyamoorthy R M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Text 15"/>
          <p:cNvSpPr txBox="1"/>
          <p:nvPr/>
        </p:nvSpPr>
        <p:spPr>
          <a:xfrm>
            <a:off x="640080" y="6217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FBCC4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Stage 2 · Design Development · October 2026 · figures from simulation unless marked real data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2" name="Image 4" descr="FactoryAir Twin plant overview scree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92240" y="1234440"/>
            <a:ext cx="5257800" cy="3286125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492240" y="4630293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9FBCC4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Working software prototype: plant overview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273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Small factories pay for compressed air they never use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00" dirty="0">
                <a:solidFill>
                  <a:srgbClr val="5A6A6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FactoryAir Twin · VK26-IITI-AHM-0210 · Problem context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6035040" cy="3154680"/>
          </a:xfrm>
          <a:prstGeom prst="roundRect">
            <a:avLst>
              <a:gd name="adj" fmla="val 2899"/>
            </a:avLst>
          </a:prstGeom>
          <a:solidFill>
            <a:srgbClr val="E8F3FA"/>
          </a:solidFill>
          <a:ln w="12700">
            <a:solidFill>
              <a:srgbClr val="E8F3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48840"/>
            <a:ext cx="1097280" cy="1097280"/>
          </a:xfrm>
          <a:prstGeom prst="ellipse">
            <a:avLst/>
          </a:prstGeom>
          <a:solidFill>
            <a:srgbClr val="0F2730"/>
          </a:solidFill>
          <a:ln w="12700">
            <a:solidFill>
              <a:srgbClr val="0F2730"/>
            </a:solidFill>
            <a:prstDash val="solid"/>
          </a:ln>
        </p:spPr>
      </p:sp>
      <p:pic>
        <p:nvPicPr>
          <p:cNvPr id="6" name="Image 0" descr="Engine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362" y="2390242"/>
            <a:ext cx="614477" cy="61447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85800" y="32918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compressor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Shape 5"/>
          <p:cNvSpPr/>
          <p:nvPr/>
        </p:nvSpPr>
        <p:spPr>
          <a:xfrm>
            <a:off x="1920240" y="2697480"/>
            <a:ext cx="4206240" cy="0"/>
          </a:xfrm>
          <a:prstGeom prst="line">
            <a:avLst/>
          </a:prstGeom>
          <a:noFill/>
          <a:ln w="114300">
            <a:solidFill>
              <a:srgbClr val="7FC4E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017520" y="2697480"/>
            <a:ext cx="0" cy="502920"/>
          </a:xfrm>
          <a:prstGeom prst="line">
            <a:avLst/>
          </a:prstGeom>
          <a:noFill/>
          <a:ln w="63500">
            <a:solidFill>
              <a:srgbClr val="7FC4EA"/>
            </a:solidFill>
            <a:prstDash val="solid"/>
          </a:ln>
        </p:spPr>
      </p:sp>
      <p:pic>
        <p:nvPicPr>
          <p:cNvPr id="10" name="Image 1" descr="BuildingFactory2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0" y="3154680"/>
            <a:ext cx="566928" cy="56692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251960" y="2697480"/>
            <a:ext cx="0" cy="502920"/>
          </a:xfrm>
          <a:prstGeom prst="line">
            <a:avLst/>
          </a:prstGeom>
          <a:noFill/>
          <a:ln w="63500">
            <a:solidFill>
              <a:srgbClr val="7FC4EA"/>
            </a:solidFill>
            <a:prstDash val="solid"/>
          </a:ln>
        </p:spPr>
      </p:sp>
      <p:pic>
        <p:nvPicPr>
          <p:cNvPr id="12" name="Image 2" descr="BuildingFactory2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77640" y="3154680"/>
            <a:ext cx="566928" cy="566928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5486400" y="2697480"/>
            <a:ext cx="0" cy="502920"/>
          </a:xfrm>
          <a:prstGeom prst="line">
            <a:avLst/>
          </a:prstGeom>
          <a:noFill/>
          <a:ln w="63500">
            <a:solidFill>
              <a:srgbClr val="7FC4EA"/>
            </a:solidFill>
            <a:prstDash val="solid"/>
          </a:ln>
        </p:spPr>
      </p:sp>
      <p:pic>
        <p:nvPicPr>
          <p:cNvPr id="14" name="Image 3" descr="BuildingFactory2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80" y="3154680"/>
            <a:ext cx="566928" cy="566928"/>
          </a:xfrm>
          <a:prstGeom prst="rect">
            <a:avLst/>
          </a:prstGeom>
        </p:spPr>
      </p:pic>
      <p:pic>
        <p:nvPicPr>
          <p:cNvPr id="15" name="Image 4" descr="Wind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31720" y="2148840"/>
            <a:ext cx="457200" cy="457200"/>
          </a:xfrm>
          <a:prstGeom prst="rect">
            <a:avLst/>
          </a:prstGeom>
        </p:spPr>
      </p:pic>
      <p:pic>
        <p:nvPicPr>
          <p:cNvPr id="16" name="Image 5" descr="Wind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0440" y="2057400"/>
            <a:ext cx="457200" cy="457200"/>
          </a:xfrm>
          <a:prstGeom prst="rect">
            <a:avLst/>
          </a:prstGeom>
        </p:spPr>
      </p:pic>
      <p:pic>
        <p:nvPicPr>
          <p:cNvPr id="17" name="Image 6" descr="Wind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60" y="2194560"/>
            <a:ext cx="457200" cy="457200"/>
          </a:xfrm>
          <a:prstGeom prst="rect">
            <a:avLst/>
          </a:prstGeom>
        </p:spPr>
      </p:pic>
      <p:pic>
        <p:nvPicPr>
          <p:cNvPr id="18" name="Image 7" descr="Wind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0" y="2103120"/>
            <a:ext cx="457200" cy="457200"/>
          </a:xfrm>
          <a:prstGeom prst="rect">
            <a:avLst/>
          </a:prstGeom>
        </p:spPr>
      </p:pic>
      <p:sp>
        <p:nvSpPr>
          <p:cNvPr id="19" name="Shape 9"/>
          <p:cNvSpPr/>
          <p:nvPr/>
        </p:nvSpPr>
        <p:spPr>
          <a:xfrm>
            <a:off x="5852160" y="1417320"/>
            <a:ext cx="548640" cy="548640"/>
          </a:xfrm>
          <a:prstGeom prst="ellipse">
            <a:avLst/>
          </a:prstGeom>
          <a:solidFill>
            <a:srgbClr val="F2A516"/>
          </a:solidFill>
          <a:ln w="12700">
            <a:solidFill>
              <a:srgbClr val="F2A516"/>
            </a:solidFill>
            <a:prstDash val="solid"/>
          </a:ln>
        </p:spPr>
      </p:sp>
      <p:pic>
        <p:nvPicPr>
          <p:cNvPr id="20" name="Image 8" descr="CurrencyRupee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72861" y="1538021"/>
            <a:ext cx="307238" cy="307238"/>
          </a:xfrm>
          <a:prstGeom prst="rect">
            <a:avLst/>
          </a:prstGeom>
        </p:spPr>
      </p:pic>
      <p:sp>
        <p:nvSpPr>
          <p:cNvPr id="21" name="Text 10"/>
          <p:cNvSpPr txBox="1"/>
          <p:nvPr/>
        </p:nvSpPr>
        <p:spPr>
          <a:xfrm>
            <a:off x="777240" y="13716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b="1" dirty="0">
                <a:solidFill>
                  <a:srgbClr val="0F273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Leaks hiss away day and night; no meter shows it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 11"/>
          <p:cNvSpPr txBox="1"/>
          <p:nvPr/>
        </p:nvSpPr>
        <p:spPr>
          <a:xfrm>
            <a:off x="2743200" y="3749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machines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Shape 12"/>
          <p:cNvSpPr/>
          <p:nvPr/>
        </p:nvSpPr>
        <p:spPr>
          <a:xfrm>
            <a:off x="6858000" y="1234440"/>
            <a:ext cx="4754880" cy="1024128"/>
          </a:xfrm>
          <a:prstGeom prst="roundRect">
            <a:avLst>
              <a:gd name="adj" fmla="val 8929"/>
            </a:avLst>
          </a:prstGeom>
          <a:solidFill>
            <a:srgbClr val="FDF1D8"/>
          </a:solidFill>
          <a:ln w="12700">
            <a:solidFill>
              <a:srgbClr val="FDF1D8"/>
            </a:solidFill>
            <a:prstDash val="solid"/>
          </a:ln>
        </p:spPr>
      </p:sp>
      <p:sp>
        <p:nvSpPr>
          <p:cNvPr id="24" name="Shape 13"/>
          <p:cNvSpPr/>
          <p:nvPr/>
        </p:nvSpPr>
        <p:spPr>
          <a:xfrm>
            <a:off x="7040880" y="1435608"/>
            <a:ext cx="566928" cy="566928"/>
          </a:xfrm>
          <a:prstGeom prst="ellipse">
            <a:avLst/>
          </a:prstGeom>
          <a:solidFill>
            <a:srgbClr val="8F5600"/>
          </a:solidFill>
          <a:ln w="12700">
            <a:solidFill>
              <a:srgbClr val="8F5600"/>
            </a:solidFill>
            <a:prstDash val="solid"/>
          </a:ln>
        </p:spPr>
      </p:sp>
      <p:pic>
        <p:nvPicPr>
          <p:cNvPr id="25" name="Image 9" descr="Wind 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65604" y="1560332"/>
            <a:ext cx="317480" cy="317480"/>
          </a:xfrm>
          <a:prstGeom prst="rect">
            <a:avLst/>
          </a:prstGeom>
        </p:spPr>
      </p:pic>
      <p:sp>
        <p:nvSpPr>
          <p:cNvPr id="26" name="Text 14"/>
          <p:cNvSpPr txBox="1"/>
          <p:nvPr/>
        </p:nvSpPr>
        <p:spPr>
          <a:xfrm>
            <a:off x="7754112" y="1325880"/>
            <a:ext cx="3749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8F560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20–30%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 15"/>
          <p:cNvSpPr txBox="1"/>
          <p:nvPr/>
        </p:nvSpPr>
        <p:spPr>
          <a:xfrm>
            <a:off x="7726680" y="174650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of compressor output is often lost to leaks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 16"/>
          <p:cNvSpPr txBox="1"/>
          <p:nvPr/>
        </p:nvSpPr>
        <p:spPr>
          <a:xfrm>
            <a:off x="7754112" y="2075688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US DOE sourcebook [1]</a:t>
            </a:r>
            <a:endParaRPr lang="en-US" sz="9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Shape 17"/>
          <p:cNvSpPr/>
          <p:nvPr/>
        </p:nvSpPr>
        <p:spPr>
          <a:xfrm>
            <a:off x="6858000" y="2304288"/>
            <a:ext cx="4754880" cy="1024128"/>
          </a:xfrm>
          <a:prstGeom prst="roundRect">
            <a:avLst>
              <a:gd name="adj" fmla="val 8929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30" name="Shape 18"/>
          <p:cNvSpPr/>
          <p:nvPr/>
        </p:nvSpPr>
        <p:spPr>
          <a:xfrm>
            <a:off x="7040880" y="2505456"/>
            <a:ext cx="566928" cy="566928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pic>
        <p:nvPicPr>
          <p:cNvPr id="31" name="Image 10" descr="Bolt icon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65604" y="2630180"/>
            <a:ext cx="317480" cy="317480"/>
          </a:xfrm>
          <a:prstGeom prst="rect">
            <a:avLst/>
          </a:prstGeom>
        </p:spPr>
      </p:pic>
      <p:sp>
        <p:nvSpPr>
          <p:cNvPr id="32" name="Text 19"/>
          <p:cNvSpPr txBox="1"/>
          <p:nvPr/>
        </p:nvSpPr>
        <p:spPr>
          <a:xfrm>
            <a:off x="7754112" y="2395728"/>
            <a:ext cx="3749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C6A96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~10%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Text 20"/>
          <p:cNvSpPr txBox="1"/>
          <p:nvPr/>
        </p:nvSpPr>
        <p:spPr>
          <a:xfrm>
            <a:off x="7726680" y="281635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of industrial electricity makes compressed air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Text 21"/>
          <p:cNvSpPr txBox="1"/>
          <p:nvPr/>
        </p:nvSpPr>
        <p:spPr>
          <a:xfrm>
            <a:off x="7754112" y="3145536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US DOE sourcebook [1]</a:t>
            </a:r>
            <a:endParaRPr lang="en-US" sz="9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Shape 22"/>
          <p:cNvSpPr/>
          <p:nvPr/>
        </p:nvSpPr>
        <p:spPr>
          <a:xfrm>
            <a:off x="6858000" y="3374136"/>
            <a:ext cx="4754880" cy="1024128"/>
          </a:xfrm>
          <a:prstGeom prst="roundRect">
            <a:avLst>
              <a:gd name="adj" fmla="val 8929"/>
            </a:avLst>
          </a:prstGeom>
          <a:solidFill>
            <a:srgbClr val="FDF1D8"/>
          </a:solidFill>
          <a:ln w="12700">
            <a:solidFill>
              <a:srgbClr val="FDF1D8"/>
            </a:solidFill>
            <a:prstDash val="solid"/>
          </a:ln>
        </p:spPr>
      </p:sp>
      <p:sp>
        <p:nvSpPr>
          <p:cNvPr id="36" name="Shape 23"/>
          <p:cNvSpPr/>
          <p:nvPr/>
        </p:nvSpPr>
        <p:spPr>
          <a:xfrm>
            <a:off x="7040880" y="3575304"/>
            <a:ext cx="566928" cy="566928"/>
          </a:xfrm>
          <a:prstGeom prst="ellipse">
            <a:avLst/>
          </a:prstGeom>
          <a:solidFill>
            <a:srgbClr val="8F5600"/>
          </a:solidFill>
          <a:ln w="12700">
            <a:solidFill>
              <a:srgbClr val="8F5600"/>
            </a:solidFill>
            <a:prstDash val="solid"/>
          </a:ln>
        </p:spPr>
      </p:sp>
      <p:pic>
        <p:nvPicPr>
          <p:cNvPr id="37" name="Image 11" descr="CurrencyRupee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65604" y="3700028"/>
            <a:ext cx="317480" cy="317480"/>
          </a:xfrm>
          <a:prstGeom prst="rect">
            <a:avLst/>
          </a:prstGeom>
        </p:spPr>
      </p:pic>
      <p:sp>
        <p:nvSpPr>
          <p:cNvPr id="38" name="Text 24"/>
          <p:cNvSpPr txBox="1"/>
          <p:nvPr/>
        </p:nvSpPr>
        <p:spPr>
          <a:xfrm>
            <a:off x="7754112" y="3465576"/>
            <a:ext cx="3749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8F560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36%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Text 25"/>
          <p:cNvSpPr txBox="1"/>
          <p:nvPr/>
        </p:nvSpPr>
        <p:spPr>
          <a:xfrm>
            <a:off x="7726680" y="388620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of the demo plant's compressor bill buys no useful air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Text 26"/>
          <p:cNvSpPr txBox="1"/>
          <p:nvPr/>
        </p:nvSpPr>
        <p:spPr>
          <a:xfrm>
            <a:off x="8043361" y="4197096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FactoryAir Twin, simulated</a:t>
            </a:r>
            <a:endParaRPr lang="en-US" sz="9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Shape 27"/>
          <p:cNvSpPr/>
          <p:nvPr/>
        </p:nvSpPr>
        <p:spPr>
          <a:xfrm>
            <a:off x="548640" y="4663440"/>
            <a:ext cx="685800" cy="685800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pic>
        <p:nvPicPr>
          <p:cNvPr id="42" name="Image 12" descr="Users icon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9516" y="4814316"/>
            <a:ext cx="384048" cy="384048"/>
          </a:xfrm>
          <a:prstGeom prst="rect">
            <a:avLst/>
          </a:prstGeom>
        </p:spPr>
      </p:pic>
      <p:sp>
        <p:nvSpPr>
          <p:cNvPr id="43" name="Text 28"/>
          <p:cNvSpPr txBox="1"/>
          <p:nvPr/>
        </p:nvSpPr>
        <p:spPr>
          <a:xfrm>
            <a:off x="1371600" y="4617720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Who suffers: </a:t>
            </a:r>
            <a:r>
              <a:rPr lang="en-US" sz="15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MSME foundries, machine shops, textile and packaging units with one or two 5–30 kW compressors, an owner, one technician and no energy manager.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Shape 29"/>
          <p:cNvSpPr/>
          <p:nvPr/>
        </p:nvSpPr>
        <p:spPr>
          <a:xfrm>
            <a:off x="6858000" y="4663440"/>
            <a:ext cx="685800" cy="685800"/>
          </a:xfrm>
          <a:prstGeom prst="ellipse">
            <a:avLst/>
          </a:prstGeom>
          <a:solidFill>
            <a:srgbClr val="F2A516"/>
          </a:solidFill>
          <a:ln w="12700">
            <a:solidFill>
              <a:srgbClr val="F2A516"/>
            </a:solidFill>
            <a:prstDash val="solid"/>
          </a:ln>
        </p:spPr>
      </p:sp>
      <p:pic>
        <p:nvPicPr>
          <p:cNvPr id="45" name="Image 13" descr="Bulb icon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08876" y="4814316"/>
            <a:ext cx="384048" cy="384048"/>
          </a:xfrm>
          <a:prstGeom prst="rect">
            <a:avLst/>
          </a:prstGeom>
        </p:spPr>
      </p:pic>
      <p:sp>
        <p:nvSpPr>
          <p:cNvPr id="46" name="Text 30"/>
          <p:cNvSpPr txBox="1"/>
          <p:nvPr/>
        </p:nvSpPr>
        <p:spPr>
          <a:xfrm>
            <a:off x="7680960" y="4617720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Core innovation: </a:t>
            </a:r>
            <a:r>
              <a:rPr lang="en-US" sz="14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 nightly load/unload leak test on pressure + power that teaches the twin each plant — no flow meter.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Text 31"/>
          <p:cNvSpPr txBox="1"/>
          <p:nvPr/>
        </p:nvSpPr>
        <p:spPr>
          <a:xfrm>
            <a:off x="548640" y="5715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b="1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Team ID - </a:t>
            </a:r>
            <a:r>
              <a:rPr lang="en-US" sz="14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VK26-IITI-AHM-0210</a:t>
            </a:r>
            <a:r>
              <a:rPr lang="en-US" sz="13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  ·   </a:t>
            </a:r>
            <a:r>
              <a:rPr lang="en-US" sz="1600" b="1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Track -</a:t>
            </a:r>
            <a:r>
              <a:rPr lang="en-US" sz="1300" b="1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sz="14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AI in Hardware &amp; Manufacturing</a:t>
            </a:r>
            <a:endParaRPr lang="en-US" sz="1300" dirty="0">
              <a:solidFill>
                <a:srgbClr val="5A6A6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A6A6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fld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273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Today's options are too rare, too costly or brand-locked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00" dirty="0">
                <a:solidFill>
                  <a:srgbClr val="5A6A6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FactoryAir Twin · VK26-IITI-AHM-0210 · Problem context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2606040" cy="2743200"/>
          </a:xfrm>
          <a:prstGeom prst="roundRect">
            <a:avLst>
              <a:gd name="adj" fmla="val 3509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94460" y="1508760"/>
            <a:ext cx="914400" cy="914400"/>
          </a:xfrm>
          <a:prstGeom prst="ellipse">
            <a:avLst/>
          </a:prstGeom>
          <a:solidFill>
            <a:srgbClr val="5A6A6F"/>
          </a:solidFill>
          <a:ln w="12700">
            <a:solidFill>
              <a:srgbClr val="5A6A6F"/>
            </a:solidFill>
            <a:prstDash val="solid"/>
          </a:ln>
        </p:spPr>
      </p:sp>
      <p:pic>
        <p:nvPicPr>
          <p:cNvPr id="6" name="Image 0" descr="ClipboardList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5628" y="1709928"/>
            <a:ext cx="512064" cy="51206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080260" y="1417320"/>
            <a:ext cx="384048" cy="384048"/>
          </a:xfrm>
          <a:prstGeom prst="ellipse">
            <a:avLst/>
          </a:prstGeom>
          <a:solidFill>
            <a:srgbClr val="B93A2A"/>
          </a:solidFill>
          <a:ln w="12700">
            <a:solidFill>
              <a:srgbClr val="B93A2A"/>
            </a:solidFill>
            <a:prstDash val="solid"/>
          </a:ln>
        </p:spPr>
      </p:sp>
      <p:pic>
        <p:nvPicPr>
          <p:cNvPr id="8" name="Image 1" descr="X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64751" y="1501811"/>
            <a:ext cx="215067" cy="215067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85800" y="25603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273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Annual leak survey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731520" y="297180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Once a year. Leaks return in weeks; the repair is never checked.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Shape 7"/>
          <p:cNvSpPr/>
          <p:nvPr/>
        </p:nvSpPr>
        <p:spPr>
          <a:xfrm>
            <a:off x="3367735" y="1280160"/>
            <a:ext cx="2606040" cy="2743200"/>
          </a:xfrm>
          <a:prstGeom prst="roundRect">
            <a:avLst>
              <a:gd name="adj" fmla="val 3509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213555" y="1508760"/>
            <a:ext cx="914400" cy="914400"/>
          </a:xfrm>
          <a:prstGeom prst="ellipse">
            <a:avLst/>
          </a:prstGeom>
          <a:solidFill>
            <a:srgbClr val="5A6A6F"/>
          </a:solidFill>
          <a:ln w="12700">
            <a:solidFill>
              <a:srgbClr val="5A6A6F"/>
            </a:solidFill>
            <a:prstDash val="solid"/>
          </a:ln>
        </p:spPr>
      </p:sp>
      <p:pic>
        <p:nvPicPr>
          <p:cNvPr id="13" name="Image 2" descr="Gauge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4723" y="1709928"/>
            <a:ext cx="512064" cy="512064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4899355" y="1417320"/>
            <a:ext cx="384048" cy="384048"/>
          </a:xfrm>
          <a:prstGeom prst="ellipse">
            <a:avLst/>
          </a:prstGeom>
          <a:solidFill>
            <a:srgbClr val="B93A2A"/>
          </a:solidFill>
          <a:ln w="12700">
            <a:solidFill>
              <a:srgbClr val="B93A2A"/>
            </a:solidFill>
            <a:prstDash val="solid"/>
          </a:ln>
        </p:spPr>
      </p:sp>
      <p:pic>
        <p:nvPicPr>
          <p:cNvPr id="15" name="Image 3" descr="X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846" y="1501811"/>
            <a:ext cx="215067" cy="215067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3504895" y="25603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273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Inline flow meter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 11"/>
          <p:cNvSpPr txBox="1"/>
          <p:nvPr/>
        </p:nvSpPr>
        <p:spPr>
          <a:xfrm>
            <a:off x="3550615" y="297180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Pipe cutting and a shutdown. Says how much, not where.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Shape 12"/>
          <p:cNvSpPr/>
          <p:nvPr/>
        </p:nvSpPr>
        <p:spPr>
          <a:xfrm>
            <a:off x="6186830" y="1280160"/>
            <a:ext cx="2606040" cy="2743200"/>
          </a:xfrm>
          <a:prstGeom prst="roundRect">
            <a:avLst>
              <a:gd name="adj" fmla="val 3509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7032650" y="1508760"/>
            <a:ext cx="914400" cy="914400"/>
          </a:xfrm>
          <a:prstGeom prst="ellipse">
            <a:avLst/>
          </a:prstGeom>
          <a:solidFill>
            <a:srgbClr val="5A6A6F"/>
          </a:solidFill>
          <a:ln w="12700">
            <a:solidFill>
              <a:srgbClr val="5A6A6F"/>
            </a:solidFill>
            <a:prstDash val="solid"/>
          </a:ln>
        </p:spPr>
      </p:sp>
      <p:pic>
        <p:nvPicPr>
          <p:cNvPr id="20" name="Image 4" descr="Lock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33818" y="1709928"/>
            <a:ext cx="512064" cy="512064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7718450" y="1417320"/>
            <a:ext cx="384048" cy="384048"/>
          </a:xfrm>
          <a:prstGeom prst="ellipse">
            <a:avLst/>
          </a:prstGeom>
          <a:solidFill>
            <a:srgbClr val="B93A2A"/>
          </a:solidFill>
          <a:ln w="12700">
            <a:solidFill>
              <a:srgbClr val="B93A2A"/>
            </a:solidFill>
            <a:prstDash val="solid"/>
          </a:ln>
        </p:spPr>
      </p:sp>
      <p:pic>
        <p:nvPicPr>
          <p:cNvPr id="22" name="Image 5" descr="X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2941" y="1501811"/>
            <a:ext cx="215067" cy="215067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6323990" y="25603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273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Maker's monitoring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 16"/>
          <p:cNvSpPr txBox="1"/>
          <p:nvPr/>
        </p:nvSpPr>
        <p:spPr>
          <a:xfrm>
            <a:off x="6369710" y="297180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Only that brand's newer machines. Mixed rooms left out.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Shape 17"/>
          <p:cNvSpPr/>
          <p:nvPr/>
        </p:nvSpPr>
        <p:spPr>
          <a:xfrm>
            <a:off x="9005926" y="1280160"/>
            <a:ext cx="2606040" cy="2743200"/>
          </a:xfrm>
          <a:prstGeom prst="roundRect">
            <a:avLst>
              <a:gd name="adj" fmla="val 3509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26" name="Shape 18"/>
          <p:cNvSpPr/>
          <p:nvPr/>
        </p:nvSpPr>
        <p:spPr>
          <a:xfrm>
            <a:off x="9851746" y="1508760"/>
            <a:ext cx="914400" cy="914400"/>
          </a:xfrm>
          <a:prstGeom prst="ellipse">
            <a:avLst/>
          </a:prstGeom>
          <a:solidFill>
            <a:srgbClr val="5A6A6F"/>
          </a:solidFill>
          <a:ln w="12700">
            <a:solidFill>
              <a:srgbClr val="5A6A6F"/>
            </a:solidFill>
            <a:prstDash val="solid"/>
          </a:ln>
        </p:spPr>
      </p:sp>
      <p:pic>
        <p:nvPicPr>
          <p:cNvPr id="27" name="Image 6" descr="Receipt 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2914" y="1709928"/>
            <a:ext cx="512064" cy="512064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10537546" y="1417320"/>
            <a:ext cx="384048" cy="384048"/>
          </a:xfrm>
          <a:prstGeom prst="ellipse">
            <a:avLst/>
          </a:prstGeom>
          <a:solidFill>
            <a:srgbClr val="B93A2A"/>
          </a:solidFill>
          <a:ln w="12700">
            <a:solidFill>
              <a:srgbClr val="B93A2A"/>
            </a:solidFill>
            <a:prstDash val="solid"/>
          </a:ln>
        </p:spPr>
      </p:sp>
      <p:pic>
        <p:nvPicPr>
          <p:cNvPr id="29" name="Image 7" descr="X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22036" y="1501811"/>
            <a:ext cx="215067" cy="215067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9143086" y="25603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273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Electricity bill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 21"/>
          <p:cNvSpPr txBox="1"/>
          <p:nvPr/>
        </p:nvSpPr>
        <p:spPr>
          <a:xfrm>
            <a:off x="9188806" y="297180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 month late. Cannot tell production from waste.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Shape 22"/>
          <p:cNvSpPr/>
          <p:nvPr/>
        </p:nvSpPr>
        <p:spPr>
          <a:xfrm>
            <a:off x="548640" y="4251960"/>
            <a:ext cx="11064240" cy="1920240"/>
          </a:xfrm>
          <a:prstGeom prst="roundRect">
            <a:avLst>
              <a:gd name="adj" fmla="val 4762"/>
            </a:avLst>
          </a:prstGeom>
          <a:solidFill>
            <a:srgbClr val="E2F2EA"/>
          </a:solidFill>
          <a:ln w="12700">
            <a:solidFill>
              <a:srgbClr val="E2F2EA"/>
            </a:solidFill>
            <a:prstDash val="solid"/>
          </a:ln>
        </p:spPr>
      </p:sp>
      <p:sp>
        <p:nvSpPr>
          <p:cNvPr id="33" name="Shape 23"/>
          <p:cNvSpPr/>
          <p:nvPr/>
        </p:nvSpPr>
        <p:spPr>
          <a:xfrm>
            <a:off x="822960" y="4663440"/>
            <a:ext cx="1097280" cy="1097280"/>
          </a:xfrm>
          <a:prstGeom prst="ellipse">
            <a:avLst/>
          </a:prstGeom>
          <a:solidFill>
            <a:srgbClr val="17845A"/>
          </a:solidFill>
          <a:ln w="12700">
            <a:solidFill>
              <a:srgbClr val="17845A"/>
            </a:solidFill>
            <a:prstDash val="solid"/>
          </a:ln>
        </p:spPr>
      </p:sp>
      <p:pic>
        <p:nvPicPr>
          <p:cNvPr id="34" name="Image 8" descr="CircleCheck icon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4362" y="4904842"/>
            <a:ext cx="614477" cy="614477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2148840" y="44805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17845A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FactoryAir Twin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6" name="Image 9" descr="PlugConnected icon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48840" y="5074920"/>
            <a:ext cx="502920" cy="502920"/>
          </a:xfrm>
          <a:prstGeom prst="rect">
            <a:avLst/>
          </a:prstGeom>
        </p:spPr>
      </p:pic>
      <p:sp>
        <p:nvSpPr>
          <p:cNvPr id="37" name="Text 25"/>
          <p:cNvSpPr txBox="1"/>
          <p:nvPr/>
        </p:nvSpPr>
        <p:spPr>
          <a:xfrm>
            <a:off x="2715768" y="50749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845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Clip-on, any brand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8" name="Image 10" descr="MoonStars icon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23360" y="5074920"/>
            <a:ext cx="502920" cy="502920"/>
          </a:xfrm>
          <a:prstGeom prst="rect">
            <a:avLst/>
          </a:prstGeom>
        </p:spPr>
      </p:pic>
      <p:sp>
        <p:nvSpPr>
          <p:cNvPr id="39" name="Text 26"/>
          <p:cNvSpPr txBox="1"/>
          <p:nvPr/>
        </p:nvSpPr>
        <p:spPr>
          <a:xfrm>
            <a:off x="4590288" y="50749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845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Tests every night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0" name="Image 11" descr="MapPin icon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897880" y="5074920"/>
            <a:ext cx="502920" cy="502920"/>
          </a:xfrm>
          <a:prstGeom prst="rect">
            <a:avLst/>
          </a:prstGeom>
        </p:spPr>
      </p:pic>
      <p:sp>
        <p:nvSpPr>
          <p:cNvPr id="41" name="Text 27"/>
          <p:cNvSpPr txBox="1"/>
          <p:nvPr/>
        </p:nvSpPr>
        <p:spPr>
          <a:xfrm>
            <a:off x="6464808" y="50749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845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Finds the zone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2" name="Image 12" descr="CurrencyRupee icon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772400" y="5074920"/>
            <a:ext cx="502920" cy="502920"/>
          </a:xfrm>
          <a:prstGeom prst="rect">
            <a:avLst/>
          </a:prstGeom>
        </p:spPr>
      </p:pic>
      <p:sp>
        <p:nvSpPr>
          <p:cNvPr id="43" name="Text 28"/>
          <p:cNvSpPr txBox="1"/>
          <p:nvPr/>
        </p:nvSpPr>
        <p:spPr>
          <a:xfrm>
            <a:off x="8339328" y="50749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845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Prices it in ₹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4" name="Image 13" descr="Checks icon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646920" y="5074920"/>
            <a:ext cx="502920" cy="502920"/>
          </a:xfrm>
          <a:prstGeom prst="rect">
            <a:avLst/>
          </a:prstGeom>
        </p:spPr>
      </p:pic>
      <p:sp>
        <p:nvSpPr>
          <p:cNvPr id="45" name="Text 29"/>
          <p:cNvSpPr txBox="1"/>
          <p:nvPr/>
        </p:nvSpPr>
        <p:spPr>
          <a:xfrm>
            <a:off x="10213848" y="50749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845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Verifies the repair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A6A6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fld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273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Before: one failed coupling costs money for weeks unseen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00" dirty="0">
                <a:solidFill>
                  <a:srgbClr val="5A6A6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FactoryAir Twin · VK26-IITI-AHM-0210 · User journey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655064" y="2217420"/>
            <a:ext cx="8851392" cy="0"/>
          </a:xfrm>
          <a:prstGeom prst="line">
            <a:avLst/>
          </a:prstGeom>
          <a:noFill/>
          <a:ln w="31750">
            <a:solidFill>
              <a:srgbClr val="D9DEE0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548640" y="1399032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F560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Thu 14:24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165860" y="1728216"/>
            <a:ext cx="978408" cy="9784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20724" y="1783080"/>
            <a:ext cx="868680" cy="868680"/>
          </a:xfrm>
          <a:prstGeom prst="ellipse">
            <a:avLst/>
          </a:prstGeom>
          <a:solidFill>
            <a:srgbClr val="8F5600"/>
          </a:solidFill>
          <a:ln w="12700">
            <a:solidFill>
              <a:srgbClr val="8F5600"/>
            </a:solidFill>
            <a:prstDash val="solid"/>
          </a:ln>
        </p:spPr>
      </p:sp>
      <p:pic>
        <p:nvPicPr>
          <p:cNvPr id="8" name="Image 0" descr="Tool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1834" y="1974190"/>
            <a:ext cx="486461" cy="486461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40080" y="2788920"/>
            <a:ext cx="20299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 hose coupling fails in the assembly bay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7"/>
          <p:cNvSpPr txBox="1"/>
          <p:nvPr/>
        </p:nvSpPr>
        <p:spPr>
          <a:xfrm>
            <a:off x="2761488" y="1399032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Same day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3378708" y="1728216"/>
            <a:ext cx="978408" cy="9784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433572" y="1783080"/>
            <a:ext cx="868680" cy="868680"/>
          </a:xfrm>
          <a:prstGeom prst="ellipse">
            <a:avLst/>
          </a:prstGeom>
          <a:solidFill>
            <a:srgbClr val="5A6A6F"/>
          </a:solidFill>
          <a:ln w="12700">
            <a:solidFill>
              <a:srgbClr val="5A6A6F"/>
            </a:solidFill>
            <a:prstDash val="solid"/>
          </a:ln>
        </p:spPr>
      </p:sp>
      <p:pic>
        <p:nvPicPr>
          <p:cNvPr id="13" name="Image 1" descr="Wind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24682" y="1974190"/>
            <a:ext cx="486461" cy="486461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2852928" y="2788920"/>
            <a:ext cx="20299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Air hisses out; the compressor loads more often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11"/>
          <p:cNvSpPr txBox="1"/>
          <p:nvPr/>
        </p:nvSpPr>
        <p:spPr>
          <a:xfrm>
            <a:off x="4974336" y="1399032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~30 days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Shape 12"/>
          <p:cNvSpPr/>
          <p:nvPr/>
        </p:nvSpPr>
        <p:spPr>
          <a:xfrm>
            <a:off x="5591556" y="1728216"/>
            <a:ext cx="978408" cy="9784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5646420" y="1783080"/>
            <a:ext cx="868680" cy="868680"/>
          </a:xfrm>
          <a:prstGeom prst="ellipse">
            <a:avLst/>
          </a:prstGeom>
          <a:solidFill>
            <a:srgbClr val="5A6A6F"/>
          </a:solidFill>
          <a:ln w="12700">
            <a:solidFill>
              <a:srgbClr val="5A6A6F"/>
            </a:solidFill>
            <a:prstDash val="solid"/>
          </a:ln>
        </p:spPr>
      </p:sp>
      <p:pic>
        <p:nvPicPr>
          <p:cNvPr id="18" name="Image 2" descr="Receipt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7530" y="1974190"/>
            <a:ext cx="486461" cy="486461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065776" y="2788920"/>
            <a:ext cx="20299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The bill rises; the owner blames an old machine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 15"/>
          <p:cNvSpPr txBox="1"/>
          <p:nvPr/>
        </p:nvSpPr>
        <p:spPr>
          <a:xfrm>
            <a:off x="7187184" y="1399032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Months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Shape 16"/>
          <p:cNvSpPr/>
          <p:nvPr/>
        </p:nvSpPr>
        <p:spPr>
          <a:xfrm>
            <a:off x="7804404" y="1728216"/>
            <a:ext cx="978408" cy="9784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7859268" y="1783080"/>
            <a:ext cx="868680" cy="868680"/>
          </a:xfrm>
          <a:prstGeom prst="ellipse">
            <a:avLst/>
          </a:prstGeom>
          <a:solidFill>
            <a:srgbClr val="5A6A6F"/>
          </a:solidFill>
          <a:ln w="12700">
            <a:solidFill>
              <a:srgbClr val="5A6A6F"/>
            </a:solidFill>
            <a:prstDash val="solid"/>
          </a:ln>
        </p:spPr>
      </p:sp>
      <p:pic>
        <p:nvPicPr>
          <p:cNvPr id="23" name="Image 3" descr="CalendarEvent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50378" y="1974190"/>
            <a:ext cx="486461" cy="486461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278624" y="2788920"/>
            <a:ext cx="20299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Maybe the annual survey finds it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 19"/>
          <p:cNvSpPr txBox="1"/>
          <p:nvPr/>
        </p:nvSpPr>
        <p:spPr>
          <a:xfrm>
            <a:off x="9400032" y="1399032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B93A2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After repair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Shape 20"/>
          <p:cNvSpPr/>
          <p:nvPr/>
        </p:nvSpPr>
        <p:spPr>
          <a:xfrm>
            <a:off x="10017252" y="1728216"/>
            <a:ext cx="978408" cy="9784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10072116" y="1783080"/>
            <a:ext cx="868680" cy="868680"/>
          </a:xfrm>
          <a:prstGeom prst="ellipse">
            <a:avLst/>
          </a:prstGeom>
          <a:solidFill>
            <a:srgbClr val="B93A2A"/>
          </a:solidFill>
          <a:ln w="12700">
            <a:solidFill>
              <a:srgbClr val="B93A2A"/>
            </a:solidFill>
            <a:prstDash val="solid"/>
          </a:ln>
        </p:spPr>
      </p:sp>
      <p:pic>
        <p:nvPicPr>
          <p:cNvPr id="28" name="Image 4" descr="QuestionMark 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63226" y="1974190"/>
            <a:ext cx="486461" cy="486461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9491472" y="2788920"/>
            <a:ext cx="20299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Nobody checks the fix held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 23"/>
          <p:cNvSpPr txBox="1"/>
          <p:nvPr/>
        </p:nvSpPr>
        <p:spPr>
          <a:xfrm>
            <a:off x="548640" y="3794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0F273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Quantified inefficiency · demo plant, 14-day twin (simulated)</a:t>
            </a:r>
            <a:endParaRPr 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Shape 24"/>
          <p:cNvSpPr/>
          <p:nvPr/>
        </p:nvSpPr>
        <p:spPr>
          <a:xfrm>
            <a:off x="548640" y="4297680"/>
            <a:ext cx="2651760" cy="1783080"/>
          </a:xfrm>
          <a:prstGeom prst="roundRect">
            <a:avLst>
              <a:gd name="adj" fmla="val 5128"/>
            </a:avLst>
          </a:prstGeom>
          <a:solidFill>
            <a:srgbClr val="FDF1D8"/>
          </a:solidFill>
          <a:ln w="12700">
            <a:solidFill>
              <a:srgbClr val="FDF1D8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731520" y="4498848"/>
            <a:ext cx="566928" cy="566928"/>
          </a:xfrm>
          <a:prstGeom prst="ellipse">
            <a:avLst/>
          </a:prstGeom>
          <a:solidFill>
            <a:srgbClr val="8F5600"/>
          </a:solidFill>
          <a:ln w="12700">
            <a:solidFill>
              <a:srgbClr val="8F5600"/>
            </a:solidFill>
            <a:prstDash val="solid"/>
          </a:ln>
        </p:spPr>
      </p:sp>
      <p:pic>
        <p:nvPicPr>
          <p:cNvPr id="33" name="Image 5" descr="CurrencyRupee icon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6244" y="4623572"/>
            <a:ext cx="317480" cy="317480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1444752" y="4389120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8F560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₹5,580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 27"/>
          <p:cNvSpPr txBox="1"/>
          <p:nvPr/>
        </p:nvSpPr>
        <p:spPr>
          <a:xfrm>
            <a:off x="1444752" y="4937760"/>
            <a:ext cx="1645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per month added by the one failed coupling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Shape 28"/>
          <p:cNvSpPr/>
          <p:nvPr/>
        </p:nvSpPr>
        <p:spPr>
          <a:xfrm>
            <a:off x="3355848" y="4297680"/>
            <a:ext cx="2651760" cy="1783080"/>
          </a:xfrm>
          <a:prstGeom prst="roundRect">
            <a:avLst>
              <a:gd name="adj" fmla="val 5128"/>
            </a:avLst>
          </a:prstGeom>
          <a:solidFill>
            <a:srgbClr val="FDF1D8"/>
          </a:solidFill>
          <a:ln w="12700">
            <a:solidFill>
              <a:srgbClr val="FDF1D8"/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538728" y="4498848"/>
            <a:ext cx="566928" cy="566928"/>
          </a:xfrm>
          <a:prstGeom prst="ellipse">
            <a:avLst/>
          </a:prstGeom>
          <a:solidFill>
            <a:srgbClr val="8F5600"/>
          </a:solidFill>
          <a:ln w="12700">
            <a:solidFill>
              <a:srgbClr val="8F5600"/>
            </a:solidFill>
            <a:prstDash val="solid"/>
          </a:ln>
        </p:spPr>
      </p:sp>
      <p:pic>
        <p:nvPicPr>
          <p:cNvPr id="38" name="Image 6" descr="Wind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3452" y="4623572"/>
            <a:ext cx="317480" cy="317480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4251960" y="4389120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8F560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22.5%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Text 31"/>
          <p:cNvSpPr txBox="1"/>
          <p:nvPr/>
        </p:nvSpPr>
        <p:spPr>
          <a:xfrm>
            <a:off x="4251960" y="4937760"/>
            <a:ext cx="1645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of compressor capacity leaking on the worst night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Shape 32"/>
          <p:cNvSpPr/>
          <p:nvPr/>
        </p:nvSpPr>
        <p:spPr>
          <a:xfrm>
            <a:off x="6163056" y="4297680"/>
            <a:ext cx="2651760" cy="1783080"/>
          </a:xfrm>
          <a:prstGeom prst="roundRect">
            <a:avLst>
              <a:gd name="adj" fmla="val 5128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42" name="Shape 33"/>
          <p:cNvSpPr/>
          <p:nvPr/>
        </p:nvSpPr>
        <p:spPr>
          <a:xfrm>
            <a:off x="6345936" y="4498848"/>
            <a:ext cx="566928" cy="566928"/>
          </a:xfrm>
          <a:prstGeom prst="ellipse">
            <a:avLst/>
          </a:prstGeom>
          <a:solidFill>
            <a:srgbClr val="0F2730"/>
          </a:solidFill>
          <a:ln w="12700">
            <a:solidFill>
              <a:srgbClr val="0F2730"/>
            </a:solidFill>
            <a:prstDash val="solid"/>
          </a:ln>
        </p:spPr>
      </p:sp>
      <p:pic>
        <p:nvPicPr>
          <p:cNvPr id="43" name="Image 7" descr="Bolt icon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70660" y="4623572"/>
            <a:ext cx="317480" cy="317480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7059168" y="4389120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0F273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8.3%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Text 35"/>
          <p:cNvSpPr txBox="1"/>
          <p:nvPr/>
        </p:nvSpPr>
        <p:spPr>
          <a:xfrm>
            <a:off x="7059168" y="4937760"/>
            <a:ext cx="1645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of electricity spent running unloaded (₹1,094/month)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Shape 36"/>
          <p:cNvSpPr/>
          <p:nvPr/>
        </p:nvSpPr>
        <p:spPr>
          <a:xfrm>
            <a:off x="8970264" y="4297680"/>
            <a:ext cx="2651760" cy="1783080"/>
          </a:xfrm>
          <a:prstGeom prst="roundRect">
            <a:avLst>
              <a:gd name="adj" fmla="val 5128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47" name="Shape 37"/>
          <p:cNvSpPr/>
          <p:nvPr/>
        </p:nvSpPr>
        <p:spPr>
          <a:xfrm>
            <a:off x="9153144" y="4498848"/>
            <a:ext cx="566928" cy="566928"/>
          </a:xfrm>
          <a:prstGeom prst="ellipse">
            <a:avLst/>
          </a:prstGeom>
          <a:solidFill>
            <a:srgbClr val="0F2730"/>
          </a:solidFill>
          <a:ln w="12700">
            <a:solidFill>
              <a:srgbClr val="0F2730"/>
            </a:solidFill>
            <a:prstDash val="solid"/>
          </a:ln>
        </p:spPr>
      </p:sp>
      <p:pic>
        <p:nvPicPr>
          <p:cNvPr id="48" name="Image 8" descr="Hourglass icon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277868" y="4623572"/>
            <a:ext cx="317480" cy="317480"/>
          </a:xfrm>
          <a:prstGeom prst="rect">
            <a:avLst/>
          </a:prstGeom>
        </p:spPr>
      </p:pic>
      <p:sp>
        <p:nvSpPr>
          <p:cNvPr id="49" name="Text 38"/>
          <p:cNvSpPr txBox="1"/>
          <p:nvPr/>
        </p:nvSpPr>
        <p:spPr>
          <a:xfrm>
            <a:off x="9866376" y="4389120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0F273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~30 days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" name="Text 39"/>
          <p:cNvSpPr txBox="1"/>
          <p:nvPr/>
        </p:nvSpPr>
        <p:spPr>
          <a:xfrm>
            <a:off x="9866376" y="4937760"/>
            <a:ext cx="1645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before the bill gives the first signal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A6A6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273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After: found overnight, located at lunch, verified next night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00" dirty="0">
                <a:solidFill>
                  <a:srgbClr val="5A6A6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FactoryAir Twin · VK26-IITI-AHM-0210 · User journey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655064" y="2080260"/>
            <a:ext cx="8851392" cy="0"/>
          </a:xfrm>
          <a:prstGeom prst="line">
            <a:avLst/>
          </a:prstGeom>
          <a:noFill/>
          <a:ln w="31750">
            <a:solidFill>
              <a:srgbClr val="7FC4EA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548640" y="1307592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C6A9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23:00–05:00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211580" y="1636776"/>
            <a:ext cx="886968" cy="8869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66444" y="1691640"/>
            <a:ext cx="777240" cy="777240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pic>
        <p:nvPicPr>
          <p:cNvPr id="8" name="Image 0" descr="MoonStars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7437" y="1862633"/>
            <a:ext cx="435254" cy="43525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40080" y="2606040"/>
            <a:ext cx="20299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Nightly leak test on pressure + power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7"/>
          <p:cNvSpPr txBox="1"/>
          <p:nvPr/>
        </p:nvSpPr>
        <p:spPr>
          <a:xfrm>
            <a:off x="2761488" y="1307592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F560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06:00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3424428" y="1636776"/>
            <a:ext cx="886968" cy="8869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479292" y="1691640"/>
            <a:ext cx="777240" cy="777240"/>
          </a:xfrm>
          <a:prstGeom prst="ellipse">
            <a:avLst/>
          </a:prstGeom>
          <a:solidFill>
            <a:srgbClr val="8F5600"/>
          </a:solidFill>
          <a:ln w="12700">
            <a:solidFill>
              <a:srgbClr val="8F5600"/>
            </a:solidFill>
            <a:prstDash val="solid"/>
          </a:ln>
        </p:spPr>
      </p:sp>
      <p:pic>
        <p:nvPicPr>
          <p:cNvPr id="13" name="Image 1" descr="BrandWhatsapp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0285" y="1862633"/>
            <a:ext cx="435254" cy="43525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2852928" y="2606040"/>
            <a:ext cx="20299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Alert: +₹5,580/month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11"/>
          <p:cNvSpPr txBox="1"/>
          <p:nvPr/>
        </p:nvSpPr>
        <p:spPr>
          <a:xfrm>
            <a:off x="4974336" y="1307592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C6A9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Lunch break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Shape 12"/>
          <p:cNvSpPr/>
          <p:nvPr/>
        </p:nvSpPr>
        <p:spPr>
          <a:xfrm>
            <a:off x="5637276" y="1636776"/>
            <a:ext cx="886968" cy="8869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5692140" y="1691640"/>
            <a:ext cx="777240" cy="777240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pic>
        <p:nvPicPr>
          <p:cNvPr id="18" name="Image 2" descr="Search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63133" y="1862633"/>
            <a:ext cx="435254" cy="43525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065776" y="2606040"/>
            <a:ext cx="20299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Leak Hunter: Bay 2 = 58%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 15"/>
          <p:cNvSpPr txBox="1"/>
          <p:nvPr/>
        </p:nvSpPr>
        <p:spPr>
          <a:xfrm>
            <a:off x="7187184" y="1307592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Same day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Shape 16"/>
          <p:cNvSpPr/>
          <p:nvPr/>
        </p:nvSpPr>
        <p:spPr>
          <a:xfrm>
            <a:off x="7850124" y="1636776"/>
            <a:ext cx="886968" cy="8869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7904988" y="1691640"/>
            <a:ext cx="777240" cy="777240"/>
          </a:xfrm>
          <a:prstGeom prst="ellipse">
            <a:avLst/>
          </a:prstGeom>
          <a:solidFill>
            <a:srgbClr val="0F2730"/>
          </a:solidFill>
          <a:ln w="12700">
            <a:solidFill>
              <a:srgbClr val="0F2730"/>
            </a:solidFill>
            <a:prstDash val="solid"/>
          </a:ln>
        </p:spPr>
      </p:sp>
      <p:pic>
        <p:nvPicPr>
          <p:cNvPr id="23" name="Image 3" descr="Tool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75981" y="1862633"/>
            <a:ext cx="435254" cy="43525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278624" y="2606040"/>
            <a:ext cx="20299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Ticket, repair done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 19"/>
          <p:cNvSpPr txBox="1"/>
          <p:nvPr/>
        </p:nvSpPr>
        <p:spPr>
          <a:xfrm>
            <a:off x="9400032" y="1307592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7845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Next night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Shape 20"/>
          <p:cNvSpPr/>
          <p:nvPr/>
        </p:nvSpPr>
        <p:spPr>
          <a:xfrm>
            <a:off x="10062972" y="1636776"/>
            <a:ext cx="886968" cy="8869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10117836" y="1691640"/>
            <a:ext cx="777240" cy="777240"/>
          </a:xfrm>
          <a:prstGeom prst="ellipse">
            <a:avLst/>
          </a:prstGeom>
          <a:solidFill>
            <a:srgbClr val="17845A"/>
          </a:solidFill>
          <a:ln w="12700">
            <a:solidFill>
              <a:srgbClr val="17845A"/>
            </a:solidFill>
            <a:prstDash val="solid"/>
          </a:ln>
        </p:spPr>
      </p:sp>
      <p:pic>
        <p:nvPicPr>
          <p:cNvPr id="28" name="Image 4" descr="CircleCheck 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88829" y="1862633"/>
            <a:ext cx="435254" cy="435254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9491472" y="2606040"/>
            <a:ext cx="20299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Saving measured, not promised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0" name="Chart 0"/>
          <p:cNvGraphicFramePr/>
          <p:nvPr>
            <p:extLst>
              <p:ext uri="{D42A27DB-BD31-4B8C-83A1-F6EECF244321}">
                <p14:modId xmlns:p14="http://schemas.microsoft.com/office/powerpoint/2010/main" val="1287019058"/>
              </p:ext>
            </p:extLst>
          </p:nvPr>
        </p:nvGraphicFramePr>
        <p:xfrm>
          <a:off x="548640" y="3429000"/>
          <a:ext cx="6035040" cy="2834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sp>
        <p:nvSpPr>
          <p:cNvPr id="31" name="Text 23"/>
          <p:cNvSpPr txBox="1"/>
          <p:nvPr/>
        </p:nvSpPr>
        <p:spPr>
          <a:xfrm>
            <a:off x="1783080" y="38404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8F560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new leak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Text 24"/>
          <p:cNvSpPr txBox="1"/>
          <p:nvPr/>
        </p:nvSpPr>
        <p:spPr>
          <a:xfrm>
            <a:off x="4892040" y="38404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7845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repaired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Shape 25"/>
          <p:cNvSpPr/>
          <p:nvPr/>
        </p:nvSpPr>
        <p:spPr>
          <a:xfrm>
            <a:off x="6812280" y="3429000"/>
            <a:ext cx="2331720" cy="1325880"/>
          </a:xfrm>
          <a:prstGeom prst="roundRect">
            <a:avLst>
              <a:gd name="adj" fmla="val 6897"/>
            </a:avLst>
          </a:prstGeom>
          <a:solidFill>
            <a:srgbClr val="E8F3FA"/>
          </a:solidFill>
          <a:ln w="12700">
            <a:solidFill>
              <a:srgbClr val="E8F3FA"/>
            </a:solidFill>
            <a:prstDash val="solid"/>
          </a:ln>
        </p:spPr>
      </p:sp>
      <p:sp>
        <p:nvSpPr>
          <p:cNvPr id="34" name="Shape 26"/>
          <p:cNvSpPr/>
          <p:nvPr/>
        </p:nvSpPr>
        <p:spPr>
          <a:xfrm>
            <a:off x="6995160" y="3630168"/>
            <a:ext cx="566928" cy="566928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pic>
        <p:nvPicPr>
          <p:cNvPr id="35" name="Image 5" descr="Clock icon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19884" y="3754892"/>
            <a:ext cx="317480" cy="317480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7708392" y="3520440"/>
            <a:ext cx="1325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C6A96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1 night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Text 28"/>
          <p:cNvSpPr txBox="1"/>
          <p:nvPr/>
        </p:nvSpPr>
        <p:spPr>
          <a:xfrm>
            <a:off x="7708392" y="406908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to detect, vs ~30 days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Shape 29"/>
          <p:cNvSpPr/>
          <p:nvPr/>
        </p:nvSpPr>
        <p:spPr>
          <a:xfrm>
            <a:off x="9281160" y="3429000"/>
            <a:ext cx="2331720" cy="1325880"/>
          </a:xfrm>
          <a:prstGeom prst="roundRect">
            <a:avLst>
              <a:gd name="adj" fmla="val 6897"/>
            </a:avLst>
          </a:prstGeom>
          <a:solidFill>
            <a:srgbClr val="E8F3FA"/>
          </a:solidFill>
          <a:ln w="12700">
            <a:solidFill>
              <a:srgbClr val="E8F3FA"/>
            </a:solidFill>
            <a:prstDash val="solid"/>
          </a:ln>
        </p:spPr>
      </p:sp>
      <p:sp>
        <p:nvSpPr>
          <p:cNvPr id="39" name="Shape 30"/>
          <p:cNvSpPr/>
          <p:nvPr/>
        </p:nvSpPr>
        <p:spPr>
          <a:xfrm>
            <a:off x="9464040" y="3630168"/>
            <a:ext cx="566928" cy="566928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pic>
        <p:nvPicPr>
          <p:cNvPr id="40" name="Image 6" descr="Search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88764" y="3754892"/>
            <a:ext cx="317480" cy="317480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10177272" y="3520440"/>
            <a:ext cx="1325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C6A96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~15 min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Text 32"/>
          <p:cNvSpPr txBox="1"/>
          <p:nvPr/>
        </p:nvSpPr>
        <p:spPr>
          <a:xfrm>
            <a:off x="10177272" y="406908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to locate the zone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Shape 33"/>
          <p:cNvSpPr/>
          <p:nvPr/>
        </p:nvSpPr>
        <p:spPr>
          <a:xfrm>
            <a:off x="6812280" y="4892040"/>
            <a:ext cx="2331720" cy="1371600"/>
          </a:xfrm>
          <a:prstGeom prst="roundRect">
            <a:avLst>
              <a:gd name="adj" fmla="val 6667"/>
            </a:avLst>
          </a:prstGeom>
          <a:solidFill>
            <a:srgbClr val="E2F2EA"/>
          </a:solidFill>
          <a:ln w="12700">
            <a:solidFill>
              <a:srgbClr val="E2F2EA"/>
            </a:solidFill>
            <a:prstDash val="solid"/>
          </a:ln>
        </p:spPr>
      </p:sp>
      <p:sp>
        <p:nvSpPr>
          <p:cNvPr id="44" name="Shape 34"/>
          <p:cNvSpPr/>
          <p:nvPr/>
        </p:nvSpPr>
        <p:spPr>
          <a:xfrm>
            <a:off x="6995160" y="5093208"/>
            <a:ext cx="566928" cy="566928"/>
          </a:xfrm>
          <a:prstGeom prst="ellipse">
            <a:avLst/>
          </a:prstGeom>
          <a:solidFill>
            <a:srgbClr val="17845A"/>
          </a:solidFill>
          <a:ln w="12700">
            <a:solidFill>
              <a:srgbClr val="17845A"/>
            </a:solidFill>
            <a:prstDash val="solid"/>
          </a:ln>
        </p:spPr>
      </p:sp>
      <p:pic>
        <p:nvPicPr>
          <p:cNvPr id="45" name="Image 7" descr="Checks icon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19884" y="5217932"/>
            <a:ext cx="317480" cy="317480"/>
          </a:xfrm>
          <a:prstGeom prst="rect">
            <a:avLst/>
          </a:prstGeom>
        </p:spPr>
      </p:pic>
      <p:sp>
        <p:nvSpPr>
          <p:cNvPr id="46" name="Text 35"/>
          <p:cNvSpPr txBox="1"/>
          <p:nvPr/>
        </p:nvSpPr>
        <p:spPr>
          <a:xfrm>
            <a:off x="7708392" y="4983480"/>
            <a:ext cx="1325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7845A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₹5,453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Text 36"/>
          <p:cNvSpPr txBox="1"/>
          <p:nvPr/>
        </p:nvSpPr>
        <p:spPr>
          <a:xfrm>
            <a:off x="7708392" y="5532120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repair saving, measured overnight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" name="Shape 37"/>
          <p:cNvSpPr/>
          <p:nvPr/>
        </p:nvSpPr>
        <p:spPr>
          <a:xfrm>
            <a:off x="9281160" y="4892040"/>
            <a:ext cx="2331720" cy="1371600"/>
          </a:xfrm>
          <a:prstGeom prst="roundRect">
            <a:avLst>
              <a:gd name="adj" fmla="val 6667"/>
            </a:avLst>
          </a:prstGeom>
          <a:solidFill>
            <a:srgbClr val="FDF1D8"/>
          </a:solidFill>
          <a:ln w="12700">
            <a:solidFill>
              <a:srgbClr val="FDF1D8"/>
            </a:solidFill>
            <a:prstDash val="solid"/>
          </a:ln>
        </p:spPr>
      </p:sp>
      <p:sp>
        <p:nvSpPr>
          <p:cNvPr id="49" name="Shape 38"/>
          <p:cNvSpPr/>
          <p:nvPr/>
        </p:nvSpPr>
        <p:spPr>
          <a:xfrm>
            <a:off x="9464040" y="5093208"/>
            <a:ext cx="566928" cy="566928"/>
          </a:xfrm>
          <a:prstGeom prst="ellipse">
            <a:avLst/>
          </a:prstGeom>
          <a:solidFill>
            <a:srgbClr val="8F5600"/>
          </a:solidFill>
          <a:ln w="12700">
            <a:solidFill>
              <a:srgbClr val="8F5600"/>
            </a:solidFill>
            <a:prstDash val="solid"/>
          </a:ln>
        </p:spPr>
      </p:sp>
      <p:pic>
        <p:nvPicPr>
          <p:cNvPr id="50" name="Image 8" descr="Flame icon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588764" y="5217932"/>
            <a:ext cx="317480" cy="317480"/>
          </a:xfrm>
          <a:prstGeom prst="rect">
            <a:avLst/>
          </a:prstGeom>
        </p:spPr>
      </p:pic>
      <p:sp>
        <p:nvSpPr>
          <p:cNvPr id="51" name="Text 39"/>
          <p:cNvSpPr txBox="1"/>
          <p:nvPr/>
        </p:nvSpPr>
        <p:spPr>
          <a:xfrm>
            <a:off x="10177272" y="4983480"/>
            <a:ext cx="1325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8F560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₹7,414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2" name="Text 40"/>
          <p:cNvSpPr txBox="1"/>
          <p:nvPr/>
        </p:nvSpPr>
        <p:spPr>
          <a:xfrm>
            <a:off x="10177272" y="5532120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LPG saved by heat recovery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A6A6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fld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273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 block diagram: two signals in, a verified saving out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00" dirty="0">
                <a:solidFill>
                  <a:srgbClr val="5A6A6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FactoryAir Twin · VK26-IITI-AHM-0210 · System architecture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2377440" cy="3611880"/>
          </a:xfrm>
          <a:prstGeom prst="roundRect">
            <a:avLst>
              <a:gd name="adj" fmla="val 3846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88720" y="1463040"/>
            <a:ext cx="1097280" cy="1097280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pic>
        <p:nvPicPr>
          <p:cNvPr id="6" name="Image 0" descr="Gauge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0122" y="1704442"/>
            <a:ext cx="614477" cy="61447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2651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C6A96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Sensing</a:t>
            </a:r>
            <a:endParaRPr 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731520" y="3154680"/>
            <a:ext cx="2057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4–20 mA pressure on the gauge port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Clip-on CT on one phase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Machine-on contact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990088" y="1874520"/>
            <a:ext cx="329184" cy="365760"/>
          </a:xfrm>
          <a:prstGeom prst="rightArrow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383280" y="1280160"/>
            <a:ext cx="2377440" cy="3611880"/>
          </a:xfrm>
          <a:prstGeom prst="roundRect">
            <a:avLst>
              <a:gd name="adj" fmla="val 3846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023360" y="1463040"/>
            <a:ext cx="1097280" cy="1097280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pic>
        <p:nvPicPr>
          <p:cNvPr id="12" name="Image 1" descr="Cpu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4762" y="1704442"/>
            <a:ext cx="614477" cy="61447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474720" y="2651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C6A96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Electronics</a:t>
            </a:r>
            <a:endParaRPr 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 10"/>
          <p:cNvSpPr txBox="1"/>
          <p:nvPr/>
        </p:nvSpPr>
        <p:spPr>
          <a:xfrm>
            <a:off x="3566160" y="3154680"/>
            <a:ext cx="2057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ADS1115 16-bit ADC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ESP32-S3, Wi-Fi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24 V → 5 V, microSD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Shape 11"/>
          <p:cNvSpPr/>
          <p:nvPr/>
        </p:nvSpPr>
        <p:spPr>
          <a:xfrm>
            <a:off x="5824728" y="1874520"/>
            <a:ext cx="329184" cy="365760"/>
          </a:xfrm>
          <a:prstGeom prst="rightArrow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217920" y="1280160"/>
            <a:ext cx="2377440" cy="3611880"/>
          </a:xfrm>
          <a:prstGeom prst="roundRect">
            <a:avLst>
              <a:gd name="adj" fmla="val 3846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858000" y="1463040"/>
            <a:ext cx="1097280" cy="1097280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pic>
        <p:nvPicPr>
          <p:cNvPr id="18" name="Image 2" descr="Code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99402" y="1704442"/>
            <a:ext cx="614477" cy="614477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309360" y="2651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C6A96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Firmware (1 Hz)</a:t>
            </a:r>
            <a:endParaRPr 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 15"/>
          <p:cNvSpPr txBox="1"/>
          <p:nvPr/>
        </p:nvSpPr>
        <p:spPr>
          <a:xfrm>
            <a:off x="6400800" y="3154680"/>
            <a:ext cx="2057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mA → bar, CT → kW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Drop invalid frames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Batch → REST / MQTT, SD spool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Shape 16"/>
          <p:cNvSpPr/>
          <p:nvPr/>
        </p:nvSpPr>
        <p:spPr>
          <a:xfrm>
            <a:off x="8659368" y="1874520"/>
            <a:ext cx="329184" cy="365760"/>
          </a:xfrm>
          <a:prstGeom prst="rightArrow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052560" y="1280160"/>
            <a:ext cx="2377440" cy="3611880"/>
          </a:xfrm>
          <a:prstGeom prst="roundRect">
            <a:avLst>
              <a:gd name="adj" fmla="val 3846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9692640" y="1463040"/>
            <a:ext cx="1097280" cy="1097280"/>
          </a:xfrm>
          <a:prstGeom prst="ellipse">
            <a:avLst/>
          </a:prstGeom>
          <a:solidFill>
            <a:srgbClr val="0F2730"/>
          </a:solidFill>
          <a:ln w="12700">
            <a:solidFill>
              <a:srgbClr val="0F2730"/>
            </a:solidFill>
            <a:prstDash val="solid"/>
          </a:ln>
        </p:spPr>
      </p:sp>
      <p:pic>
        <p:nvPicPr>
          <p:cNvPr id="24" name="Image 3" descr="DeviceLaptop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34042" y="1704442"/>
            <a:ext cx="614477" cy="614477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144000" y="2651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F273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Twin software</a:t>
            </a:r>
            <a:endParaRPr 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 20"/>
          <p:cNvSpPr txBox="1"/>
          <p:nvPr/>
        </p:nvSpPr>
        <p:spPr>
          <a:xfrm>
            <a:off x="9235440" y="3154680"/>
            <a:ext cx="2057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Validate + sensor health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Rules + ML + self-calibration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Leak Hunter, tickets, report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 21"/>
          <p:cNvSpPr txBox="1"/>
          <p:nvPr/>
        </p:nvSpPr>
        <p:spPr>
          <a:xfrm>
            <a:off x="2834640" y="22860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mA / mV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 22"/>
          <p:cNvSpPr txBox="1"/>
          <p:nvPr/>
        </p:nvSpPr>
        <p:spPr>
          <a:xfrm>
            <a:off x="5669280" y="22860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I²C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Text 23"/>
          <p:cNvSpPr txBox="1"/>
          <p:nvPr/>
        </p:nvSpPr>
        <p:spPr>
          <a:xfrm>
            <a:off x="8503920" y="22860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Wi-Fi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Shape 24"/>
          <p:cNvSpPr/>
          <p:nvPr/>
        </p:nvSpPr>
        <p:spPr>
          <a:xfrm>
            <a:off x="548640" y="5120640"/>
            <a:ext cx="11064240" cy="1051560"/>
          </a:xfrm>
          <a:prstGeom prst="roundRect">
            <a:avLst>
              <a:gd name="adj" fmla="val 8696"/>
            </a:avLst>
          </a:prstGeom>
          <a:solidFill>
            <a:srgbClr val="E8F3FA"/>
          </a:solidFill>
          <a:ln w="12700">
            <a:solidFill>
              <a:srgbClr val="E8F3FA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777240" y="5303520"/>
            <a:ext cx="685800" cy="685800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pic>
        <p:nvPicPr>
          <p:cNvPr id="32" name="Image 4" descr="ShieldCheck 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8116" y="5454396"/>
            <a:ext cx="384048" cy="384048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1645920" y="512064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6A9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Read-only by design. </a:t>
            </a:r>
            <a:r>
              <a:rPr lang="en-US" sz="16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No flow meter, nothing cut or shut down, and no output stage: the node physically cannot command the compressor. Everything after the ADC already runs today as the virtual edge node.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A6A6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fld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273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Target specifications and hardware selection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00" dirty="0">
                <a:solidFill>
                  <a:srgbClr val="5A6A6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FactoryAir Twin · VK26-IITI-AHM-0210 · System architecture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8375080"/>
              </p:ext>
            </p:extLst>
          </p:nvPr>
        </p:nvGraphicFramePr>
        <p:xfrm>
          <a:off x="548640" y="1280160"/>
          <a:ext cx="6035040" cy="3511296"/>
        </p:xfrm>
        <a:graphic>
          <a:graphicData uri="http://schemas.openxmlformats.org/drawingml/2006/table">
            <a:tbl>
              <a:tblPr/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Parameter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Target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Selected hardware / protocol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Sampling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 Hz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ESP32-S3 + ADS1115 (860 SPS)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Pressure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0–16 bar, ±0.5 % FS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4–20 mA transmitter, 165 Ω shunt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Motor power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0–30 A RMS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SCT-013-030 split-core CT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Data link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10-frame batches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Wi-Fi REST; MQTT optional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Buffer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72 h offline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microSD spool, replay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Enclosure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IP65, DIN rail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PC/ABS box, PG glands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Cost / site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&lt; ₹10,000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≈ ₹6,100 indicative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5" name="Image 0" descr="Screenshot of the calibration scre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280160"/>
            <a:ext cx="4754880" cy="297180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6858000" y="1280160"/>
            <a:ext cx="4754880" cy="2971800"/>
          </a:xfrm>
          <a:prstGeom prst="rect">
            <a:avLst/>
          </a:prstGeom>
          <a:ln w="9525">
            <a:solidFill>
              <a:srgbClr val="D9DEE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858000" y="42976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Self-calibration screen: storage, leak and specific power learned from pressure + power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hape 4"/>
          <p:cNvSpPr/>
          <p:nvPr/>
        </p:nvSpPr>
        <p:spPr>
          <a:xfrm>
            <a:off x="548640" y="4937760"/>
            <a:ext cx="3611880" cy="1280160"/>
          </a:xfrm>
          <a:prstGeom prst="roundRect">
            <a:avLst>
              <a:gd name="adj" fmla="val 7143"/>
            </a:avLst>
          </a:prstGeom>
          <a:solidFill>
            <a:srgbClr val="E2F2EA"/>
          </a:solidFill>
          <a:ln w="12700">
            <a:solidFill>
              <a:srgbClr val="E2F2EA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31520" y="5138928"/>
            <a:ext cx="566928" cy="566928"/>
          </a:xfrm>
          <a:prstGeom prst="ellipse">
            <a:avLst/>
          </a:prstGeom>
          <a:solidFill>
            <a:srgbClr val="17845A"/>
          </a:solidFill>
          <a:ln w="12700">
            <a:solidFill>
              <a:srgbClr val="17845A"/>
            </a:solidFill>
            <a:prstDash val="solid"/>
          </a:ln>
        </p:spPr>
      </p:sp>
      <p:pic>
        <p:nvPicPr>
          <p:cNvPr id="10" name="Image 1" descr="TargetArrow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6244" y="5263652"/>
            <a:ext cx="317480" cy="3174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444752" y="5029200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7845A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1.8%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 7"/>
          <p:cNvSpPr txBox="1"/>
          <p:nvPr/>
        </p:nvSpPr>
        <p:spPr>
          <a:xfrm>
            <a:off x="1444752" y="557784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mean leak error on 30 unseen plants (target ±10%)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Shape 8"/>
          <p:cNvSpPr/>
          <p:nvPr/>
        </p:nvSpPr>
        <p:spPr>
          <a:xfrm>
            <a:off x="4297680" y="4937760"/>
            <a:ext cx="3611880" cy="1280160"/>
          </a:xfrm>
          <a:prstGeom prst="roundRect">
            <a:avLst>
              <a:gd name="adj" fmla="val 7143"/>
            </a:avLst>
          </a:prstGeom>
          <a:solidFill>
            <a:srgbClr val="E2F2EA"/>
          </a:solidFill>
          <a:ln w="12700">
            <a:solidFill>
              <a:srgbClr val="E2F2EA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4480560" y="5138928"/>
            <a:ext cx="566928" cy="566928"/>
          </a:xfrm>
          <a:prstGeom prst="ellipse">
            <a:avLst/>
          </a:prstGeom>
          <a:solidFill>
            <a:srgbClr val="17845A"/>
          </a:solidFill>
          <a:ln w="12700">
            <a:solidFill>
              <a:srgbClr val="17845A"/>
            </a:solidFill>
            <a:prstDash val="solid"/>
          </a:ln>
        </p:spPr>
      </p:sp>
      <p:pic>
        <p:nvPicPr>
          <p:cNvPr id="15" name="Image 2" descr="Checks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05284" y="5263652"/>
            <a:ext cx="317480" cy="31748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5193792" y="5029200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7845A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30/30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 11"/>
          <p:cNvSpPr txBox="1"/>
          <p:nvPr/>
        </p:nvSpPr>
        <p:spPr>
          <a:xfrm>
            <a:off x="5193792" y="557784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plants within ±10% · storage error 1.9%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Shape 12"/>
          <p:cNvSpPr/>
          <p:nvPr/>
        </p:nvSpPr>
        <p:spPr>
          <a:xfrm>
            <a:off x="8046720" y="4937760"/>
            <a:ext cx="3566160" cy="1280160"/>
          </a:xfrm>
          <a:prstGeom prst="roundRect">
            <a:avLst>
              <a:gd name="adj" fmla="val 7143"/>
            </a:avLst>
          </a:prstGeom>
          <a:solidFill>
            <a:srgbClr val="E8F3FA"/>
          </a:solidFill>
          <a:ln w="12700">
            <a:solidFill>
              <a:srgbClr val="E8F3FA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8229600" y="5138928"/>
            <a:ext cx="566928" cy="566928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pic>
        <p:nvPicPr>
          <p:cNvPr id="20" name="Image 3" descr="MoonStars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54324" y="5263652"/>
            <a:ext cx="317480" cy="31748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8942832" y="5029200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C6A96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1 night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 15"/>
          <p:cNvSpPr txBox="1"/>
          <p:nvPr/>
        </p:nvSpPr>
        <p:spPr>
          <a:xfrm>
            <a:off x="8942832" y="55778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from a new leak to an alert (14-day twin)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A6A6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fld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273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Mechanical design: a sealed box and a safe pressure tap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00" dirty="0">
                <a:solidFill>
                  <a:srgbClr val="5A6A6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FactoryAir Twin · VK26-IITI-AHM-0210 · CAD &amp; mechanical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3931920" cy="2971800"/>
          </a:xfrm>
          <a:prstGeom prst="roundRect">
            <a:avLst>
              <a:gd name="adj" fmla="val 3077"/>
            </a:avLst>
          </a:prstGeom>
          <a:solidFill>
            <a:srgbClr val="F2F4F5"/>
          </a:solidFill>
          <a:ln w="19050">
            <a:solidFill>
              <a:srgbClr val="0F273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3533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Enclosure layout (concept, not CAD)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777240" y="2011680"/>
            <a:ext cx="3474720" cy="109728"/>
          </a:xfrm>
          <a:prstGeom prst="rect">
            <a:avLst/>
          </a:prstGeom>
          <a:solidFill>
            <a:srgbClr val="9AA6AA"/>
          </a:solidFill>
          <a:ln w="12700">
            <a:solidFill>
              <a:srgbClr val="9AA6AA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777240" y="2194560"/>
            <a:ext cx="868680" cy="100584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0F2730"/>
            </a:solidFill>
            <a:prstDash val="solid"/>
          </a:ln>
        </p:spPr>
        <p:txBody>
          <a:bodyPr/>
          <a:p/>
        </p:txBody>
      </p:sp>
      <p:pic>
        <p:nvPicPr>
          <p:cNvPr id="8" name="Image 0" descr="Bolt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412" y="2286000"/>
            <a:ext cx="402336" cy="40233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22960" y="274320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24 V PSU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1737360" y="2194560"/>
            <a:ext cx="731520" cy="100584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0F2730"/>
            </a:solidFill>
            <a:prstDash val="solid"/>
          </a:ln>
        </p:spPr>
        <p:txBody>
          <a:bodyPr/>
          <a:p/>
        </p:txBody>
      </p:sp>
      <p:pic>
        <p:nvPicPr>
          <p:cNvPr id="11" name="Image 1" descr="ArrowsDown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1952" y="2286000"/>
            <a:ext cx="402336" cy="40233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783080" y="274320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5 V buck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2560320" y="2194560"/>
            <a:ext cx="169164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0F2730"/>
            </a:solidFill>
            <a:prstDash val="solid"/>
          </a:ln>
        </p:spPr>
        <p:txBody>
          <a:bodyPr/>
          <a:p/>
        </p:txBody>
      </p:sp>
      <p:pic>
        <p:nvPicPr>
          <p:cNvPr id="14" name="Image 2" descr="Cpu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4972" y="2286000"/>
            <a:ext cx="402336" cy="4023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2606040" y="27432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ESP32 + ADC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Shape 11"/>
          <p:cNvSpPr/>
          <p:nvPr/>
        </p:nvSpPr>
        <p:spPr>
          <a:xfrm>
            <a:off x="2560320" y="3291840"/>
            <a:ext cx="868680" cy="41148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2700">
            <a:solidFill>
              <a:srgbClr val="0F2730"/>
            </a:solidFill>
            <a:prstDash val="solid"/>
          </a:ln>
        </p:spPr>
        <p:txBody>
          <a:bodyPr/>
          <a:p/>
        </p:txBody>
      </p:sp>
      <p:sp>
        <p:nvSpPr>
          <p:cNvPr id="17" name="Text 12"/>
          <p:cNvSpPr txBox="1"/>
          <p:nvPr/>
        </p:nvSpPr>
        <p:spPr>
          <a:xfrm>
            <a:off x="2560320" y="329184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microSD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Shape 13"/>
          <p:cNvSpPr/>
          <p:nvPr/>
        </p:nvSpPr>
        <p:spPr>
          <a:xfrm>
            <a:off x="914400" y="3822192"/>
            <a:ext cx="292608" cy="292608"/>
          </a:xfrm>
          <a:prstGeom prst="ellipse">
            <a:avLst/>
          </a:prstGeom>
          <a:solidFill>
            <a:srgbClr val="0F2730"/>
          </a:solidFill>
          <a:ln w="12700">
            <a:solidFill>
              <a:srgbClr val="0F2730"/>
            </a:solidFill>
            <a:prstDash val="solid"/>
          </a:ln>
        </p:spPr>
        <p:txBody>
          <a:bodyPr/>
          <a:p/>
        </p:txBody>
      </p:sp>
      <p:sp>
        <p:nvSpPr>
          <p:cNvPr id="19" name="Shape 14"/>
          <p:cNvSpPr/>
          <p:nvPr/>
        </p:nvSpPr>
        <p:spPr>
          <a:xfrm>
            <a:off x="1417320" y="3822192"/>
            <a:ext cx="292608" cy="292608"/>
          </a:xfrm>
          <a:prstGeom prst="ellipse">
            <a:avLst/>
          </a:prstGeom>
          <a:solidFill>
            <a:srgbClr val="0F2730"/>
          </a:solidFill>
          <a:ln w="12700">
            <a:solidFill>
              <a:srgbClr val="0F2730"/>
            </a:solidFill>
            <a:prstDash val="solid"/>
          </a:ln>
        </p:spPr>
        <p:txBody>
          <a:bodyPr/>
          <a:p/>
        </p:txBody>
      </p:sp>
      <p:sp>
        <p:nvSpPr>
          <p:cNvPr id="20" name="Shape 15"/>
          <p:cNvSpPr/>
          <p:nvPr/>
        </p:nvSpPr>
        <p:spPr>
          <a:xfrm>
            <a:off x="1920240" y="3822192"/>
            <a:ext cx="292608" cy="292608"/>
          </a:xfrm>
          <a:prstGeom prst="ellipse">
            <a:avLst/>
          </a:prstGeom>
          <a:solidFill>
            <a:srgbClr val="0F2730"/>
          </a:solidFill>
          <a:ln w="12700">
            <a:solidFill>
              <a:srgbClr val="0F2730"/>
            </a:solidFill>
            <a:prstDash val="solid"/>
          </a:ln>
        </p:spPr>
        <p:txBody>
          <a:bodyPr/>
          <a:p/>
        </p:txBody>
      </p:sp>
      <p:sp>
        <p:nvSpPr>
          <p:cNvPr id="21" name="Text 16"/>
          <p:cNvSpPr txBox="1"/>
          <p:nvPr/>
        </p:nvSpPr>
        <p:spPr>
          <a:xfrm>
            <a:off x="2377440" y="381304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PG7 glands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Shape 17"/>
          <p:cNvSpPr/>
          <p:nvPr/>
        </p:nvSpPr>
        <p:spPr>
          <a:xfrm>
            <a:off x="548640" y="4434840"/>
            <a:ext cx="3931920" cy="1737360"/>
          </a:xfrm>
          <a:prstGeom prst="roundRect">
            <a:avLst>
              <a:gd name="adj" fmla="val 5263"/>
            </a:avLst>
          </a:prstGeom>
          <a:solidFill>
            <a:srgbClr val="F2F4F5"/>
          </a:solidFill>
          <a:ln w="19050">
            <a:solidFill>
              <a:srgbClr val="0F2730"/>
            </a:solidFill>
            <a:prstDash val="solid"/>
          </a:ln>
        </p:spPr>
        <p:txBody>
          <a:bodyPr/>
          <a:p/>
        </p:txBody>
      </p:sp>
      <p:sp>
        <p:nvSpPr>
          <p:cNvPr id="23" name="Text 18"/>
          <p:cNvSpPr txBox="1"/>
          <p:nvPr/>
        </p:nvSpPr>
        <p:spPr>
          <a:xfrm>
            <a:off x="685800" y="45079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Pressure tap (concept)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Shape 19"/>
          <p:cNvSpPr/>
          <p:nvPr/>
        </p:nvSpPr>
        <p:spPr>
          <a:xfrm>
            <a:off x="731520" y="5029200"/>
            <a:ext cx="804672" cy="731520"/>
          </a:xfrm>
          <a:prstGeom prst="roundRect">
            <a:avLst>
              <a:gd name="adj" fmla="val 12500"/>
            </a:avLst>
          </a:prstGeom>
          <a:solidFill>
            <a:srgbClr val="7FC4EA"/>
          </a:solidFill>
          <a:ln w="12700">
            <a:solidFill>
              <a:srgbClr val="7FC4EA"/>
            </a:solidFill>
            <a:prstDash val="solid"/>
          </a:ln>
        </p:spPr>
        <p:txBody>
          <a:bodyPr/>
          <a:p/>
        </p:txBody>
      </p:sp>
      <p:sp>
        <p:nvSpPr>
          <p:cNvPr id="25" name="Text 20"/>
          <p:cNvSpPr txBox="1"/>
          <p:nvPr/>
        </p:nvSpPr>
        <p:spPr>
          <a:xfrm>
            <a:off x="731520" y="5029200"/>
            <a:ext cx="804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Gauge port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 21"/>
          <p:cNvSpPr txBox="1"/>
          <p:nvPr/>
        </p:nvSpPr>
        <p:spPr>
          <a:xfrm>
            <a:off x="1517904" y="5166360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→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Shape 22"/>
          <p:cNvSpPr/>
          <p:nvPr/>
        </p:nvSpPr>
        <p:spPr>
          <a:xfrm>
            <a:off x="1664208" y="5029200"/>
            <a:ext cx="804672" cy="731520"/>
          </a:xfrm>
          <a:prstGeom prst="roundRect">
            <a:avLst>
              <a:gd name="adj" fmla="val 12500"/>
            </a:avLst>
          </a:prstGeom>
          <a:solidFill>
            <a:srgbClr val="7FC4EA"/>
          </a:solidFill>
          <a:ln w="12700">
            <a:solidFill>
              <a:srgbClr val="7FC4EA"/>
            </a:solidFill>
            <a:prstDash val="solid"/>
          </a:ln>
        </p:spPr>
        <p:txBody>
          <a:bodyPr/>
          <a:p/>
        </p:txBody>
      </p:sp>
      <p:sp>
        <p:nvSpPr>
          <p:cNvPr id="28" name="Text 23"/>
          <p:cNvSpPr txBox="1"/>
          <p:nvPr/>
        </p:nvSpPr>
        <p:spPr>
          <a:xfrm>
            <a:off x="1664208" y="5029200"/>
            <a:ext cx="804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G¼ tee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Text 24"/>
          <p:cNvSpPr txBox="1"/>
          <p:nvPr/>
        </p:nvSpPr>
        <p:spPr>
          <a:xfrm>
            <a:off x="2450592" y="5166360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→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Shape 25"/>
          <p:cNvSpPr/>
          <p:nvPr/>
        </p:nvSpPr>
        <p:spPr>
          <a:xfrm>
            <a:off x="2596896" y="5029200"/>
            <a:ext cx="804672" cy="731520"/>
          </a:xfrm>
          <a:prstGeom prst="roundRect">
            <a:avLst>
              <a:gd name="adj" fmla="val 12500"/>
            </a:avLst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  <p:txBody>
          <a:bodyPr/>
          <a:p/>
        </p:txBody>
      </p:sp>
      <p:sp>
        <p:nvSpPr>
          <p:cNvPr id="31" name="Text 26"/>
          <p:cNvSpPr txBox="1"/>
          <p:nvPr/>
        </p:nvSpPr>
        <p:spPr>
          <a:xfrm>
            <a:off x="2596896" y="5029200"/>
            <a:ext cx="804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Ball valve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Text 27"/>
          <p:cNvSpPr txBox="1"/>
          <p:nvPr/>
        </p:nvSpPr>
        <p:spPr>
          <a:xfrm>
            <a:off x="3383280" y="5166360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→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Shape 28"/>
          <p:cNvSpPr/>
          <p:nvPr/>
        </p:nvSpPr>
        <p:spPr>
          <a:xfrm>
            <a:off x="3529584" y="5029200"/>
            <a:ext cx="804672" cy="731520"/>
          </a:xfrm>
          <a:prstGeom prst="roundRect">
            <a:avLst>
              <a:gd name="adj" fmla="val 12500"/>
            </a:avLst>
          </a:prstGeom>
          <a:solidFill>
            <a:srgbClr val="0F2730"/>
          </a:solidFill>
          <a:ln w="12700">
            <a:solidFill>
              <a:srgbClr val="0F2730"/>
            </a:solidFill>
            <a:prstDash val="solid"/>
          </a:ln>
        </p:spPr>
        <p:txBody>
          <a:bodyPr/>
          <a:p/>
        </p:txBody>
      </p:sp>
      <p:sp>
        <p:nvSpPr>
          <p:cNvPr id="34" name="Text 29"/>
          <p:cNvSpPr txBox="1"/>
          <p:nvPr/>
        </p:nvSpPr>
        <p:spPr>
          <a:xfrm>
            <a:off x="3529584" y="5029200"/>
            <a:ext cx="804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Transmitter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Shape 30"/>
          <p:cNvSpPr/>
          <p:nvPr/>
        </p:nvSpPr>
        <p:spPr>
          <a:xfrm>
            <a:off x="4754880" y="1280160"/>
            <a:ext cx="2194560" cy="2148840"/>
          </a:xfrm>
          <a:prstGeom prst="roundRect">
            <a:avLst>
              <a:gd name="adj" fmla="val 4255"/>
            </a:avLst>
          </a:prstGeom>
          <a:solidFill>
            <a:srgbClr val="E8F3FA"/>
          </a:solidFill>
          <a:ln w="12700">
            <a:solidFill>
              <a:srgbClr val="E8F3FA"/>
            </a:solidFill>
            <a:prstDash val="solid"/>
          </a:ln>
        </p:spPr>
        <p:txBody>
          <a:bodyPr/>
          <a:p/>
        </p:txBody>
      </p:sp>
      <p:sp>
        <p:nvSpPr>
          <p:cNvPr id="36" name="Shape 31"/>
          <p:cNvSpPr/>
          <p:nvPr/>
        </p:nvSpPr>
        <p:spPr>
          <a:xfrm>
            <a:off x="5532120" y="1417320"/>
            <a:ext cx="640080" cy="640080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  <p:txBody>
          <a:bodyPr/>
          <a:p/>
        </p:txBody>
      </p:sp>
      <p:pic>
        <p:nvPicPr>
          <p:cNvPr id="37" name="Image 3" descr="Box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72938" y="1558138"/>
            <a:ext cx="358445" cy="358445"/>
          </a:xfrm>
          <a:prstGeom prst="rect">
            <a:avLst/>
          </a:prstGeom>
        </p:spPr>
      </p:pic>
      <p:sp>
        <p:nvSpPr>
          <p:cNvPr id="38" name="Text 32"/>
          <p:cNvSpPr txBox="1"/>
          <p:nvPr/>
        </p:nvSpPr>
        <p:spPr>
          <a:xfrm>
            <a:off x="4846320" y="212140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Enclosure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Text 33"/>
          <p:cNvSpPr txBox="1"/>
          <p:nvPr/>
        </p:nvSpPr>
        <p:spPr>
          <a:xfrm>
            <a:off x="4846320" y="23957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273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PC/ABS IP65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Text 34"/>
          <p:cNvSpPr txBox="1"/>
          <p:nvPr/>
        </p:nvSpPr>
        <p:spPr>
          <a:xfrm>
            <a:off x="4864608" y="2788920"/>
            <a:ext cx="1975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non-conductive, light, ≈ ₹700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Shape 35"/>
          <p:cNvSpPr/>
          <p:nvPr/>
        </p:nvSpPr>
        <p:spPr>
          <a:xfrm>
            <a:off x="7086600" y="1280160"/>
            <a:ext cx="2194560" cy="2148840"/>
          </a:xfrm>
          <a:prstGeom prst="roundRect">
            <a:avLst>
              <a:gd name="adj" fmla="val 4255"/>
            </a:avLst>
          </a:prstGeom>
          <a:solidFill>
            <a:srgbClr val="E8F3FA"/>
          </a:solidFill>
          <a:ln w="12700">
            <a:solidFill>
              <a:srgbClr val="E8F3FA"/>
            </a:solidFill>
            <a:prstDash val="solid"/>
          </a:ln>
        </p:spPr>
        <p:txBody>
          <a:bodyPr/>
          <a:p/>
        </p:txBody>
      </p:sp>
      <p:sp>
        <p:nvSpPr>
          <p:cNvPr id="42" name="Shape 36"/>
          <p:cNvSpPr/>
          <p:nvPr/>
        </p:nvSpPr>
        <p:spPr>
          <a:xfrm>
            <a:off x="7863840" y="1417320"/>
            <a:ext cx="640080" cy="640080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  <p:txBody>
          <a:bodyPr/>
          <a:p/>
        </p:txBody>
      </p:sp>
      <p:pic>
        <p:nvPicPr>
          <p:cNvPr id="43" name="Image 4" descr="ArrowsJoin 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4658" y="1558138"/>
            <a:ext cx="358445" cy="358445"/>
          </a:xfrm>
          <a:prstGeom prst="rect">
            <a:avLst/>
          </a:prstGeom>
        </p:spPr>
      </p:pic>
      <p:sp>
        <p:nvSpPr>
          <p:cNvPr id="44" name="Text 37"/>
          <p:cNvSpPr txBox="1"/>
          <p:nvPr/>
        </p:nvSpPr>
        <p:spPr>
          <a:xfrm>
            <a:off x="7178040" y="212140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Pressure fittings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Text 38"/>
          <p:cNvSpPr txBox="1"/>
          <p:nvPr/>
        </p:nvSpPr>
        <p:spPr>
          <a:xfrm>
            <a:off x="7178040" y="23957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273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Brass G¼, ≥ 16 bar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Text 39"/>
          <p:cNvSpPr txBox="1"/>
          <p:nvPr/>
        </p:nvSpPr>
        <p:spPr>
          <a:xfrm>
            <a:off x="7196328" y="2788920"/>
            <a:ext cx="1975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over 2× the 7.4 bar band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Shape 40"/>
          <p:cNvSpPr/>
          <p:nvPr/>
        </p:nvSpPr>
        <p:spPr>
          <a:xfrm>
            <a:off x="9418320" y="1280160"/>
            <a:ext cx="2194560" cy="2148840"/>
          </a:xfrm>
          <a:prstGeom prst="roundRect">
            <a:avLst>
              <a:gd name="adj" fmla="val 4255"/>
            </a:avLst>
          </a:prstGeom>
          <a:solidFill>
            <a:srgbClr val="E8F3FA"/>
          </a:solidFill>
          <a:ln w="12700">
            <a:solidFill>
              <a:srgbClr val="E8F3FA"/>
            </a:solidFill>
            <a:prstDash val="solid"/>
          </a:ln>
        </p:spPr>
        <p:txBody>
          <a:bodyPr/>
          <a:p/>
        </p:txBody>
      </p:sp>
      <p:sp>
        <p:nvSpPr>
          <p:cNvPr id="48" name="Shape 41"/>
          <p:cNvSpPr/>
          <p:nvPr/>
        </p:nvSpPr>
        <p:spPr>
          <a:xfrm>
            <a:off x="10195560" y="1417320"/>
            <a:ext cx="640080" cy="640080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  <p:txBody>
          <a:bodyPr/>
          <a:p/>
        </p:txBody>
      </p:sp>
      <p:pic>
        <p:nvPicPr>
          <p:cNvPr id="49" name="Image 5" descr="LayoutBoardSplit icon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36378" y="1558138"/>
            <a:ext cx="358445" cy="358445"/>
          </a:xfrm>
          <a:prstGeom prst="rect">
            <a:avLst/>
          </a:prstGeom>
        </p:spPr>
      </p:pic>
      <p:sp>
        <p:nvSpPr>
          <p:cNvPr id="50" name="Text 42"/>
          <p:cNvSpPr txBox="1"/>
          <p:nvPr/>
        </p:nvSpPr>
        <p:spPr>
          <a:xfrm>
            <a:off x="9509760" y="212140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Mounting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" name="Text 43"/>
          <p:cNvSpPr txBox="1"/>
          <p:nvPr/>
        </p:nvSpPr>
        <p:spPr>
          <a:xfrm>
            <a:off x="9509760" y="23957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273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Steel DIN rail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2" name="Text 44"/>
          <p:cNvSpPr txBox="1"/>
          <p:nvPr/>
        </p:nvSpPr>
        <p:spPr>
          <a:xfrm>
            <a:off x="9528048" y="2788920"/>
            <a:ext cx="1975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on the panel wall, off the vibrating frame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Shape 45"/>
          <p:cNvSpPr/>
          <p:nvPr/>
        </p:nvSpPr>
        <p:spPr>
          <a:xfrm>
            <a:off x="4754880" y="3611880"/>
            <a:ext cx="6858000" cy="914400"/>
          </a:xfrm>
          <a:prstGeom prst="roundRect">
            <a:avLst>
              <a:gd name="adj" fmla="val 10000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  <p:txBody>
          <a:bodyPr/>
          <a:p/>
        </p:txBody>
      </p:sp>
      <p:sp>
        <p:nvSpPr>
          <p:cNvPr id="54" name="Shape 46"/>
          <p:cNvSpPr/>
          <p:nvPr/>
        </p:nvSpPr>
        <p:spPr>
          <a:xfrm>
            <a:off x="4937760" y="3767328"/>
            <a:ext cx="594360" cy="594360"/>
          </a:xfrm>
          <a:prstGeom prst="ellipse">
            <a:avLst/>
          </a:prstGeom>
          <a:solidFill>
            <a:srgbClr val="5A6A6F"/>
          </a:solidFill>
          <a:ln w="12700">
            <a:solidFill>
              <a:srgbClr val="5A6A6F"/>
            </a:solidFill>
            <a:prstDash val="solid"/>
          </a:ln>
        </p:spPr>
        <p:txBody>
          <a:bodyPr/>
          <a:p/>
        </p:txBody>
      </p:sp>
      <p:pic>
        <p:nvPicPr>
          <p:cNvPr id="55" name="Image 6" descr="Ruler2 icon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68519" y="3898087"/>
            <a:ext cx="332842" cy="332842"/>
          </a:xfrm>
          <a:prstGeom prst="rect">
            <a:avLst/>
          </a:prstGeom>
        </p:spPr>
      </p:pic>
      <p:sp>
        <p:nvSpPr>
          <p:cNvPr id="56" name="Text 47"/>
          <p:cNvSpPr txBox="1"/>
          <p:nvPr/>
        </p:nvSpPr>
        <p:spPr>
          <a:xfrm>
            <a:off x="5715000" y="361188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Stress analysis: </a:t>
            </a:r>
            <a:r>
              <a:rPr lang="en-US" sz="16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no load-bearing part at Stage 2; pressure parts are rated fittings. Stage 3 adds a bracket vibration check.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A6A6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fld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1" name="Picture 60" descr="cad_sheet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54880" y="4709160"/>
            <a:ext cx="6858000" cy="1463040"/>
          </a:xfrm>
          <a:prstGeom prst="rect">
            <a:avLst/>
          </a:prstGeom>
          <a:ln>
            <a:solidFill>
              <a:srgbClr val="D9DEE0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273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Electronics connections and bill of materials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00" dirty="0">
                <a:solidFill>
                  <a:srgbClr val="5A6A6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FactoryAir Twin · VK26-IITI-AHM-0210 · Electronics &amp; BOM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2240280" cy="731520"/>
          </a:xfrm>
          <a:prstGeom prst="roundRect">
            <a:avLst>
              <a:gd name="adj" fmla="val 12500"/>
            </a:avLst>
          </a:prstGeom>
          <a:solidFill>
            <a:srgbClr val="E8F3FA"/>
          </a:solidFill>
          <a:ln w="12700">
            <a:solidFill>
              <a:srgbClr val="D9DEE0"/>
            </a:solidFill>
            <a:prstDash val="solid"/>
          </a:ln>
        </p:spPr>
      </p:sp>
      <p:pic>
        <p:nvPicPr>
          <p:cNvPr id="5" name="Image 0" descr="Gauge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490472"/>
            <a:ext cx="402336" cy="40233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15568" y="132588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Pressure transmitter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4–20 mA loop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Shape 4"/>
          <p:cNvSpPr/>
          <p:nvPr/>
        </p:nvSpPr>
        <p:spPr>
          <a:xfrm>
            <a:off x="548640" y="2240280"/>
            <a:ext cx="2240280" cy="731520"/>
          </a:xfrm>
          <a:prstGeom prst="roundRect">
            <a:avLst>
              <a:gd name="adj" fmla="val 12500"/>
            </a:avLst>
          </a:prstGeom>
          <a:solidFill>
            <a:srgbClr val="E8F3FA"/>
          </a:solidFill>
          <a:ln w="12700">
            <a:solidFill>
              <a:srgbClr val="D9DEE0"/>
            </a:solidFill>
            <a:prstDash val="solid"/>
          </a:ln>
        </p:spPr>
      </p:sp>
      <p:pic>
        <p:nvPicPr>
          <p:cNvPr id="8" name="Image 1" descr="Bolt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2404872"/>
            <a:ext cx="402336" cy="40233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115568" y="224028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CT SCT-013-030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30 A : 1 V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Shape 6"/>
          <p:cNvSpPr/>
          <p:nvPr/>
        </p:nvSpPr>
        <p:spPr>
          <a:xfrm>
            <a:off x="548640" y="3154680"/>
            <a:ext cx="2240280" cy="731520"/>
          </a:xfrm>
          <a:prstGeom prst="roundRect">
            <a:avLst>
              <a:gd name="adj" fmla="val 12500"/>
            </a:avLst>
          </a:prstGeom>
          <a:solidFill>
            <a:srgbClr val="E8F3FA"/>
          </a:solidFill>
          <a:ln w="12700">
            <a:solidFill>
              <a:srgbClr val="D9DEE0"/>
            </a:solidFill>
            <a:prstDash val="solid"/>
          </a:ln>
        </p:spPr>
      </p:sp>
      <p:pic>
        <p:nvPicPr>
          <p:cNvPr id="11" name="Image 2" descr="PlugConnected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319272"/>
            <a:ext cx="402336" cy="40233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115568" y="315468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Machine-on contact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to GND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Shape 8"/>
          <p:cNvSpPr/>
          <p:nvPr/>
        </p:nvSpPr>
        <p:spPr>
          <a:xfrm>
            <a:off x="548640" y="4069080"/>
            <a:ext cx="2240280" cy="731520"/>
          </a:xfrm>
          <a:prstGeom prst="roundRect">
            <a:avLst>
              <a:gd name="adj" fmla="val 12500"/>
            </a:avLst>
          </a:prstGeom>
          <a:solidFill>
            <a:srgbClr val="F2F4F5"/>
          </a:solidFill>
          <a:ln w="12700">
            <a:solidFill>
              <a:srgbClr val="D9DEE0"/>
            </a:solidFill>
            <a:prstDash val="solid"/>
          </a:ln>
        </p:spPr>
      </p:sp>
      <p:pic>
        <p:nvPicPr>
          <p:cNvPr id="14" name="Image 3" descr="Battery2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368" y="4233672"/>
            <a:ext cx="402336" cy="40233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115568" y="406908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24 V PSU → 5 V buck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Shape 10"/>
          <p:cNvSpPr/>
          <p:nvPr/>
        </p:nvSpPr>
        <p:spPr>
          <a:xfrm>
            <a:off x="3108960" y="1325880"/>
            <a:ext cx="2286000" cy="731520"/>
          </a:xfrm>
          <a:prstGeom prst="roundRect">
            <a:avLst>
              <a:gd name="adj" fmla="val 12500"/>
            </a:avLst>
          </a:prstGeom>
          <a:solidFill>
            <a:srgbClr val="F2F4F5"/>
          </a:solidFill>
          <a:ln w="12700">
            <a:solidFill>
              <a:srgbClr val="D9DEE0"/>
            </a:solidFill>
            <a:prstDash val="solid"/>
          </a:ln>
        </p:spPr>
      </p:sp>
      <p:pic>
        <p:nvPicPr>
          <p:cNvPr id="17" name="Image 4" descr="WaveSine 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18688" y="1490472"/>
            <a:ext cx="402336" cy="402336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3675888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165 Ω shunt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→ ADS1115 A0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Shape 12"/>
          <p:cNvSpPr/>
          <p:nvPr/>
        </p:nvSpPr>
        <p:spPr>
          <a:xfrm>
            <a:off x="3108960" y="2240280"/>
            <a:ext cx="2286000" cy="731520"/>
          </a:xfrm>
          <a:prstGeom prst="roundRect">
            <a:avLst>
              <a:gd name="adj" fmla="val 12500"/>
            </a:avLst>
          </a:prstGeom>
          <a:solidFill>
            <a:srgbClr val="F2F4F5"/>
          </a:solidFill>
          <a:ln w="12700">
            <a:solidFill>
              <a:srgbClr val="D9DEE0"/>
            </a:solidFill>
            <a:prstDash val="solid"/>
          </a:ln>
        </p:spPr>
      </p:sp>
      <p:pic>
        <p:nvPicPr>
          <p:cNvPr id="20" name="Image 5" descr="ChartDots icon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18688" y="2404872"/>
            <a:ext cx="402336" cy="402336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3675888" y="22402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ADS1115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A1–A3 differential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Shape 14"/>
          <p:cNvSpPr/>
          <p:nvPr/>
        </p:nvSpPr>
        <p:spPr>
          <a:xfrm>
            <a:off x="3108960" y="3154680"/>
            <a:ext cx="2286000" cy="731520"/>
          </a:xfrm>
          <a:prstGeom prst="roundRect">
            <a:avLst>
              <a:gd name="adj" fmla="val 12500"/>
            </a:avLst>
          </a:prstGeom>
          <a:solidFill>
            <a:srgbClr val="DCEBF5"/>
          </a:solidFill>
          <a:ln w="12700">
            <a:solidFill>
              <a:srgbClr val="D9DEE0"/>
            </a:solidFill>
            <a:prstDash val="solid"/>
          </a:ln>
        </p:spPr>
      </p:sp>
      <p:pic>
        <p:nvPicPr>
          <p:cNvPr id="23" name="Image 6" descr="Cpu icon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18688" y="3319272"/>
            <a:ext cx="402336" cy="402336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3675888" y="31546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ESP32-S3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SDA 8 · SCL 9 · GPIO 7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Shape 16"/>
          <p:cNvSpPr/>
          <p:nvPr/>
        </p:nvSpPr>
        <p:spPr>
          <a:xfrm>
            <a:off x="3108960" y="4069080"/>
            <a:ext cx="2286000" cy="731520"/>
          </a:xfrm>
          <a:prstGeom prst="roundRect">
            <a:avLst>
              <a:gd name="adj" fmla="val 12500"/>
            </a:avLst>
          </a:prstGeom>
          <a:solidFill>
            <a:srgbClr val="F2F4F5"/>
          </a:solidFill>
          <a:ln w="12700">
            <a:solidFill>
              <a:srgbClr val="D9DEE0"/>
            </a:solidFill>
            <a:prstDash val="solid"/>
          </a:ln>
        </p:spPr>
      </p:sp>
      <p:pic>
        <p:nvPicPr>
          <p:cNvPr id="26" name="Image 7" descr="Database icon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18688" y="4233672"/>
            <a:ext cx="402336" cy="402336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3675888" y="40690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microSD · CS GPIO 10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Shape 18"/>
          <p:cNvSpPr/>
          <p:nvPr/>
        </p:nvSpPr>
        <p:spPr>
          <a:xfrm>
            <a:off x="2816352" y="1554480"/>
            <a:ext cx="256032" cy="256032"/>
          </a:xfrm>
          <a:prstGeom prst="rightArrow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sp>
        <p:nvSpPr>
          <p:cNvPr id="29" name="Shape 19"/>
          <p:cNvSpPr/>
          <p:nvPr/>
        </p:nvSpPr>
        <p:spPr>
          <a:xfrm>
            <a:off x="2816352" y="2468880"/>
            <a:ext cx="256032" cy="256032"/>
          </a:xfrm>
          <a:prstGeom prst="rightArrow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sp>
        <p:nvSpPr>
          <p:cNvPr id="30" name="Shape 20"/>
          <p:cNvSpPr/>
          <p:nvPr/>
        </p:nvSpPr>
        <p:spPr>
          <a:xfrm>
            <a:off x="2816352" y="3383280"/>
            <a:ext cx="256032" cy="256032"/>
          </a:xfrm>
          <a:prstGeom prst="rightArrow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sp>
        <p:nvSpPr>
          <p:cNvPr id="31" name="Shape 21"/>
          <p:cNvSpPr/>
          <p:nvPr/>
        </p:nvSpPr>
        <p:spPr>
          <a:xfrm>
            <a:off x="2816352" y="4297680"/>
            <a:ext cx="256032" cy="256032"/>
          </a:xfrm>
          <a:prstGeom prst="rightArrow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sp>
        <p:nvSpPr>
          <p:cNvPr id="32" name="Shape 22"/>
          <p:cNvSpPr/>
          <p:nvPr/>
        </p:nvSpPr>
        <p:spPr>
          <a:xfrm>
            <a:off x="548640" y="5029200"/>
            <a:ext cx="4846320" cy="1143000"/>
          </a:xfrm>
          <a:prstGeom prst="roundRect">
            <a:avLst>
              <a:gd name="adj" fmla="val 8000"/>
            </a:avLst>
          </a:prstGeom>
          <a:solidFill>
            <a:srgbClr val="E8F3FA"/>
          </a:solidFill>
          <a:ln w="12700">
            <a:solidFill>
              <a:srgbClr val="E8F3FA"/>
            </a:solidFill>
            <a:prstDash val="solid"/>
          </a:ln>
        </p:spPr>
      </p:sp>
      <p:sp>
        <p:nvSpPr>
          <p:cNvPr id="33" name="Shape 23"/>
          <p:cNvSpPr/>
          <p:nvPr/>
        </p:nvSpPr>
        <p:spPr>
          <a:xfrm>
            <a:off x="731520" y="5257800"/>
            <a:ext cx="685800" cy="685800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pic>
        <p:nvPicPr>
          <p:cNvPr id="34" name="Image 8" descr="Wifi icon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2396" y="5408676"/>
            <a:ext cx="384048" cy="384048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1554480" y="5029200"/>
            <a:ext cx="3749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Wi-Fi → /api/edge/ingest every 10 s; same frames the software emulator sends today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394605"/>
              </p:ext>
            </p:extLst>
          </p:nvPr>
        </p:nvGraphicFramePr>
        <p:xfrm>
          <a:off x="5715000" y="1325880"/>
          <a:ext cx="3108960" cy="4224528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Component (qty 1 each)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≈ ₹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ESP32-S3 DevKitC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800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ADS1115 ADC module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350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4–20 mA transmitter 0–16 bar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1,800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SCT-013-030 CT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450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Shunt, TVS, fuses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150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24 V PSU + 5 V buck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1,100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microSD + 16 GB card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400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IP65 box, glands, rail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700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G¼ tee + ball valve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350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Total (indicative)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6,100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7" name="Chart 0"/>
          <p:cNvGraphicFramePr/>
          <p:nvPr>
            <p:extLst>
              <p:ext uri="{D42A27DB-BD31-4B8C-83A1-F6EECF244321}">
                <p14:modId xmlns:p14="http://schemas.microsoft.com/office/powerpoint/2010/main" val="3628480444"/>
              </p:ext>
            </p:extLst>
          </p:nvPr>
        </p:nvGraphicFramePr>
        <p:xfrm>
          <a:off x="9006840" y="1234440"/>
          <a:ext cx="2651760" cy="3840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2"/>
          </a:graphicData>
        </a:graphic>
      </p:graphicFrame>
      <p:sp>
        <p:nvSpPr>
          <p:cNvPr id="38" name="Text 25"/>
          <p:cNvSpPr txBox="1"/>
          <p:nvPr/>
        </p:nvSpPr>
        <p:spPr>
          <a:xfrm>
            <a:off x="5715000" y="5669280"/>
            <a:ext cx="5897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All parts sold by Indian online distributors; confirm prices and lead times with quotes.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A6A6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fld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273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Maker journey: working software, built and tested by the team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00" dirty="0">
                <a:solidFill>
                  <a:srgbClr val="5A6A6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FactoryAir Twin · VK26-IITI-AHM-0210 · Maker journey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Image 0" descr="Screenshot of the gateway scre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3840480" cy="24003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280160"/>
            <a:ext cx="3840480" cy="2400300"/>
          </a:xfrm>
          <a:prstGeom prst="rect">
            <a:avLst/>
          </a:prstGeom>
          <a:ln w="9525">
            <a:solidFill>
              <a:srgbClr val="D9DEE0"/>
            </a:solidFill>
            <a:prstDash val="solid"/>
          </a:ln>
        </p:spPr>
        <p:txBody>
          <a:bodyPr/>
          <a:p/>
        </p:txBody>
      </p:sp>
      <p:pic>
        <p:nvPicPr>
          <p:cNvPr id="6" name="Image 1" descr="Screenshot of the leaks scree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6280" y="1280160"/>
            <a:ext cx="3840480" cy="24003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26280" y="1280160"/>
            <a:ext cx="3840480" cy="2400300"/>
          </a:xfrm>
          <a:prstGeom prst="rect">
            <a:avLst/>
          </a:prstGeom>
          <a:ln w="9525">
            <a:solidFill>
              <a:srgbClr val="D9DEE0"/>
            </a:solidFill>
            <a:prstDash val="solid"/>
          </a:ln>
        </p:spPr>
        <p:txBody>
          <a:bodyPr/>
          <a:p/>
        </p:txBody>
      </p:sp>
      <p:sp>
        <p:nvSpPr>
          <p:cNvPr id="8" name="Text 4"/>
          <p:cNvSpPr txBox="1"/>
          <p:nvPr/>
        </p:nvSpPr>
        <p:spPr>
          <a:xfrm>
            <a:off x="548640" y="373075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Live gateway: edge node streaming firmware frames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5"/>
          <p:cNvSpPr txBox="1"/>
          <p:nvPr/>
        </p:nvSpPr>
        <p:spPr>
          <a:xfrm>
            <a:off x="4526280" y="373075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Leak Hunter: Bay 2 carries 58% of the leakage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Shape 10"/>
          <p:cNvSpPr/>
          <p:nvPr/>
        </p:nvSpPr>
        <p:spPr>
          <a:xfrm>
            <a:off x="548640" y="4251960"/>
            <a:ext cx="2651760" cy="1920240"/>
          </a:xfrm>
          <a:prstGeom prst="roundRect">
            <a:avLst>
              <a:gd name="adj" fmla="val 4762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  <p:txBody>
          <a:bodyPr/>
          <a:p/>
        </p:txBody>
      </p:sp>
      <p:sp>
        <p:nvSpPr>
          <p:cNvPr id="17" name="Shape 11"/>
          <p:cNvSpPr/>
          <p:nvPr/>
        </p:nvSpPr>
        <p:spPr>
          <a:xfrm>
            <a:off x="731520" y="4434840"/>
            <a:ext cx="640080" cy="640080"/>
          </a:xfrm>
          <a:prstGeom prst="ellipse">
            <a:avLst/>
          </a:prstGeom>
          <a:solidFill>
            <a:srgbClr val="0F2730"/>
          </a:solidFill>
          <a:ln w="12700">
            <a:solidFill>
              <a:srgbClr val="0F2730"/>
            </a:solidFill>
            <a:prstDash val="solid"/>
          </a:ln>
        </p:spPr>
        <p:txBody>
          <a:bodyPr/>
          <a:p/>
        </p:txBody>
      </p:sp>
      <p:pic>
        <p:nvPicPr>
          <p:cNvPr id="18" name="Image 4" descr="BrandGithub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338" y="4575658"/>
            <a:ext cx="358445" cy="358445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508760" y="448056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73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Repository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 13"/>
          <p:cNvSpPr txBox="1"/>
          <p:nvPr/>
        </p:nvSpPr>
        <p:spPr>
          <a:xfrm>
            <a:off x="731520" y="52120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github.com/Suheerthan/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5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FactoryAirTwin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Shape 14"/>
          <p:cNvSpPr/>
          <p:nvPr/>
        </p:nvSpPr>
        <p:spPr>
          <a:xfrm>
            <a:off x="3337560" y="4251960"/>
            <a:ext cx="2651760" cy="1920240"/>
          </a:xfrm>
          <a:prstGeom prst="roundRect">
            <a:avLst>
              <a:gd name="adj" fmla="val 4762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  <p:txBody>
          <a:bodyPr/>
          <a:p/>
        </p:txBody>
      </p:sp>
      <p:sp>
        <p:nvSpPr>
          <p:cNvPr id="22" name="Shape 15"/>
          <p:cNvSpPr/>
          <p:nvPr/>
        </p:nvSpPr>
        <p:spPr>
          <a:xfrm>
            <a:off x="3520440" y="4434840"/>
            <a:ext cx="640080" cy="640080"/>
          </a:xfrm>
          <a:prstGeom prst="ellipse">
            <a:avLst/>
          </a:prstGeom>
          <a:solidFill>
            <a:srgbClr val="0F2730"/>
          </a:solidFill>
          <a:ln w="12700">
            <a:solidFill>
              <a:srgbClr val="0F2730"/>
            </a:solidFill>
            <a:prstDash val="solid"/>
          </a:ln>
        </p:spPr>
        <p:txBody>
          <a:bodyPr/>
          <a:p/>
        </p:txBody>
      </p:sp>
      <p:pic>
        <p:nvPicPr>
          <p:cNvPr id="23" name="Image 5" descr="Flask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61258" y="4575658"/>
            <a:ext cx="358445" cy="358445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4297680" y="448056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73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125 tests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 17"/>
          <p:cNvSpPr txBox="1"/>
          <p:nvPr/>
        </p:nvSpPr>
        <p:spPr>
          <a:xfrm>
            <a:off x="3520440" y="52120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every slide number reproduced by code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Shape 18"/>
          <p:cNvSpPr/>
          <p:nvPr/>
        </p:nvSpPr>
        <p:spPr>
          <a:xfrm>
            <a:off x="6126480" y="4251960"/>
            <a:ext cx="2651760" cy="1920240"/>
          </a:xfrm>
          <a:prstGeom prst="roundRect">
            <a:avLst>
              <a:gd name="adj" fmla="val 4762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  <p:txBody>
          <a:bodyPr/>
          <a:p/>
        </p:txBody>
      </p:sp>
      <p:sp>
        <p:nvSpPr>
          <p:cNvPr id="27" name="Shape 19"/>
          <p:cNvSpPr/>
          <p:nvPr/>
        </p:nvSpPr>
        <p:spPr>
          <a:xfrm>
            <a:off x="6309360" y="4434840"/>
            <a:ext cx="640080" cy="640080"/>
          </a:xfrm>
          <a:prstGeom prst="ellipse">
            <a:avLst/>
          </a:prstGeom>
          <a:solidFill>
            <a:srgbClr val="0F2730"/>
          </a:solidFill>
          <a:ln w="12700">
            <a:solidFill>
              <a:srgbClr val="0F2730"/>
            </a:solidFill>
            <a:prstDash val="solid"/>
          </a:ln>
        </p:spPr>
        <p:txBody>
          <a:bodyPr/>
          <a:p/>
        </p:txBody>
      </p:sp>
      <p:pic>
        <p:nvPicPr>
          <p:cNvPr id="28" name="Image 6" descr="Cpu 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50178" y="4575658"/>
            <a:ext cx="358445" cy="358445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7086600" y="448056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73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Firmware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 21"/>
          <p:cNvSpPr txBox="1"/>
          <p:nvPr/>
        </p:nvSpPr>
        <p:spPr>
          <a:xfrm>
            <a:off x="6309360" y="52120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factoryair_edge.ino + wiring README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Shape 22"/>
          <p:cNvSpPr/>
          <p:nvPr/>
        </p:nvSpPr>
        <p:spPr>
          <a:xfrm>
            <a:off x="8915400" y="4251960"/>
            <a:ext cx="2651760" cy="1920240"/>
          </a:xfrm>
          <a:prstGeom prst="roundRect">
            <a:avLst>
              <a:gd name="adj" fmla="val 4762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  <p:txBody>
          <a:bodyPr/>
          <a:p/>
        </p:txBody>
      </p:sp>
      <p:sp>
        <p:nvSpPr>
          <p:cNvPr id="32" name="Shape 23"/>
          <p:cNvSpPr/>
          <p:nvPr/>
        </p:nvSpPr>
        <p:spPr>
          <a:xfrm>
            <a:off x="9098280" y="4434840"/>
            <a:ext cx="640080" cy="640080"/>
          </a:xfrm>
          <a:prstGeom prst="ellipse">
            <a:avLst/>
          </a:prstGeom>
          <a:solidFill>
            <a:srgbClr val="0F2730"/>
          </a:solidFill>
          <a:ln w="12700">
            <a:solidFill>
              <a:srgbClr val="0F2730"/>
            </a:solidFill>
            <a:prstDash val="solid"/>
          </a:ln>
        </p:spPr>
        <p:txBody>
          <a:bodyPr/>
          <a:p/>
        </p:txBody>
      </p:sp>
      <p:pic>
        <p:nvPicPr>
          <p:cNvPr id="33" name="Image 7" descr="FileSpreadsheet icon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39098" y="4575658"/>
            <a:ext cx="358445" cy="358445"/>
          </a:xfrm>
          <a:prstGeom prst="rect">
            <a:avLst/>
          </a:prstGeom>
        </p:spPr>
      </p:pic>
      <p:sp>
        <p:nvSpPr>
          <p:cNvPr id="34" name="Text 24"/>
          <p:cNvSpPr txBox="1"/>
          <p:nvPr/>
        </p:nvSpPr>
        <p:spPr>
          <a:xfrm>
            <a:off x="9875520" y="448056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73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Real files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 25"/>
          <p:cNvSpPr txBox="1"/>
          <p:nvPr/>
        </p:nvSpPr>
        <p:spPr>
          <a:xfrm>
            <a:off x="9098280" y="52120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Python source, sample logger data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A6A6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fld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9CC4717-C929-41FB-D5DD-AB9D2A409D53}"/>
              </a:ext>
            </a:extLst>
          </p:cNvPr>
          <p:cNvSpPr txBox="1"/>
          <p:nvPr/>
        </p:nvSpPr>
        <p:spPr>
          <a:xfrm>
            <a:off x="8549640" y="3694176"/>
            <a:ext cx="3063240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z="1400">
                <a:solidFill>
                  <a:srgbClr val="5A6A6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Team review with faculty mentor</a:t>
            </a:r>
            <a:endParaRPr lang="en-IN" dirty="0">
              <a:solidFill>
                <a:srgbClr val="5A6A6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2" name="Picture 41" descr="3.jpg"/>
          <p:cNvPicPr>
            <a:picLocks noChangeAspect="1"/>
          </p:cNvPicPr>
          <p:nvPr/>
        </p:nvPicPr>
        <p:blipFill>
          <a:blip r:embed="rId10"/>
          <a:srcRect t="4836" b="14509"/>
          <a:stretch>
            <a:fillRect/>
          </a:stretch>
        </p:blipFill>
        <p:spPr>
          <a:xfrm>
            <a:off x="8549640" y="1280160"/>
            <a:ext cx="3063240" cy="1115568"/>
          </a:xfrm>
          <a:prstGeom prst="rect">
            <a:avLst/>
          </a:prstGeom>
          <a:ln>
            <a:solidFill>
              <a:srgbClr val="D9DEE0"/>
            </a:solidFill>
          </a:ln>
        </p:spPr>
      </p:pic>
      <p:pic>
        <p:nvPicPr>
          <p:cNvPr id="43" name="Picture 42" descr="4.jpg"/>
          <p:cNvPicPr>
            <a:picLocks noChangeAspect="1"/>
          </p:cNvPicPr>
          <p:nvPr/>
        </p:nvPicPr>
        <p:blipFill>
          <a:blip r:embed="rId11"/>
          <a:srcRect t="14509" b="4836"/>
          <a:stretch>
            <a:fillRect/>
          </a:stretch>
        </p:blipFill>
        <p:spPr>
          <a:xfrm>
            <a:off x="8549640" y="2487168"/>
            <a:ext cx="3063240" cy="1115568"/>
          </a:xfrm>
          <a:prstGeom prst="rect">
            <a:avLst/>
          </a:prstGeom>
          <a:ln>
            <a:solidFill>
              <a:srgbClr val="D9DEE0"/>
            </a:solidFill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273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Stage 1 → Stage 2: what we learned and changed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00" dirty="0">
                <a:solidFill>
                  <a:srgbClr val="5A6A6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FactoryAir Twin · VK26-IITI-AHM-0210 · Maker journey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685800" cy="685800"/>
          </a:xfrm>
          <a:prstGeom prst="ellipse">
            <a:avLst/>
          </a:prstGeom>
          <a:solidFill>
            <a:srgbClr val="F2A516"/>
          </a:solidFill>
          <a:ln w="12700">
            <a:solidFill>
              <a:srgbClr val="F2A516"/>
            </a:solidFill>
            <a:prstDash val="solid"/>
          </a:ln>
        </p:spPr>
        <p:txBody>
          <a:bodyPr/>
          <a:p/>
        </p:txBody>
      </p:sp>
      <p:pic>
        <p:nvPicPr>
          <p:cNvPr id="5" name="Image 0" descr="Brain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516" y="1476756"/>
            <a:ext cx="384048" cy="384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28016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b="1" dirty="0">
                <a:solidFill>
                  <a:srgbClr val="0F273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Real data: AI failed, physics worked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1417320" y="164592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MetroPT-3 (real): the synthetic AI flagged 0 windows (AUC 0.58); the physics duty test put all 4 documented-leak nights in the top 7 of 159 (AUC 0.988)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Shape 5"/>
          <p:cNvSpPr/>
          <p:nvPr/>
        </p:nvSpPr>
        <p:spPr>
          <a:xfrm>
            <a:off x="548640" y="2542032"/>
            <a:ext cx="685800" cy="685800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  <p:txBody>
          <a:bodyPr/>
          <a:p/>
        </p:txBody>
      </p:sp>
      <p:pic>
        <p:nvPicPr>
          <p:cNvPr id="9" name="Image 1" descr="CalendarEvent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516" y="2692908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49631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b="1" dirty="0">
                <a:solidFill>
                  <a:srgbClr val="0F273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30 minutes → 14 days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1417320" y="2862072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Two-week twin with shifts and nights caught the new leak the same night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548640" y="3758184"/>
            <a:ext cx="685800" cy="685800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  <p:txBody>
          <a:bodyPr/>
          <a:p/>
        </p:txBody>
      </p:sp>
      <p:pic>
        <p:nvPicPr>
          <p:cNvPr id="13" name="Image 2" descr="Search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516" y="3909060"/>
            <a:ext cx="384048" cy="38404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712464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b="1" dirty="0">
                <a:solidFill>
                  <a:srgbClr val="0F273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"Where is it?"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1417320" y="4078224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Leak Hunter allocates leakage by zone, then verifies the repair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Shape 11"/>
          <p:cNvSpPr/>
          <p:nvPr/>
        </p:nvSpPr>
        <p:spPr>
          <a:xfrm>
            <a:off x="548640" y="4974336"/>
            <a:ext cx="685800" cy="685800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  <p:txBody>
          <a:bodyPr/>
          <a:p/>
        </p:txBody>
      </p:sp>
      <p:pic>
        <p:nvPicPr>
          <p:cNvPr id="17" name="Image 3" descr="Cpu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9516" y="5125212"/>
            <a:ext cx="384048" cy="38404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417320" y="4928616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b="1" dirty="0">
                <a:solidFill>
                  <a:srgbClr val="0F273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No hardware budget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 13"/>
          <p:cNvSpPr txBox="1"/>
          <p:nvPr/>
        </p:nvSpPr>
        <p:spPr>
          <a:xfrm>
            <a:off x="1417320" y="5294376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Virtual edge node + firmware + CSV upload run the full pipeline today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0" name="Chart 0"/>
          <p:cNvGraphicFramePr/>
          <p:nvPr>
            <p:extLst>
              <p:ext uri="{D42A27DB-BD31-4B8C-83A1-F6EECF244321}">
                <p14:modId xmlns:p14="http://schemas.microsoft.com/office/powerpoint/2010/main" val="654731627"/>
              </p:ext>
            </p:extLst>
          </p:nvPr>
        </p:nvGraphicFramePr>
        <p:xfrm>
          <a:off x="6217920" y="1234440"/>
          <a:ext cx="5394960" cy="3840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21" name="Text 14"/>
          <p:cNvSpPr txBox="1"/>
          <p:nvPr/>
        </p:nvSpPr>
        <p:spPr>
          <a:xfrm>
            <a:off x="6217920" y="51206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Mean error 1.8% · storage 1.9% · all 30 within ±10% (simulated)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A6A6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fld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Shape 19">
            <a:extLst>
              <a:ext uri="{FF2B5EF4-FFF2-40B4-BE49-F238E27FC236}">
                <a16:creationId xmlns:a16="http://schemas.microsoft.com/office/drawing/2014/main" id="{E24A090B-4544-8591-7574-955FE15A30BB}"/>
              </a:ext>
            </a:extLst>
          </p:cNvPr>
          <p:cNvSpPr/>
          <p:nvPr/>
        </p:nvSpPr>
        <p:spPr>
          <a:xfrm>
            <a:off x="6217920" y="5532120"/>
            <a:ext cx="5394960" cy="640080"/>
          </a:xfrm>
          <a:prstGeom prst="roundRect">
            <a:avLst>
              <a:gd name="adj" fmla="val 11429"/>
            </a:avLst>
          </a:prstGeom>
          <a:solidFill>
            <a:srgbClr val="FDF1D8"/>
          </a:solidFill>
          <a:ln w="19050">
            <a:solidFill>
              <a:srgbClr val="F2A516"/>
            </a:solidFill>
            <a:prstDash val="dash"/>
          </a:ln>
        </p:spPr>
        <p:txBody>
          <a:bodyPr/>
          <a:p/>
        </p:txBody>
      </p:sp>
      <p:pic>
        <p:nvPicPr>
          <p:cNvPr id="34" name="Picture 33" descr="6.jpg">
            <a:extLst>
              <a:ext uri="{FF2B5EF4-FFF2-40B4-BE49-F238E27FC236}">
                <a16:creationId xmlns:a16="http://schemas.microsoft.com/office/drawing/2014/main" id="{05B8D51B-D45D-3F29-3F44-78362A3AB5B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46520" y="5577840"/>
            <a:ext cx="1028700" cy="548640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E3AC47D0-1F1B-21DF-57C1-83AC9170E4B2}"/>
              </a:ext>
            </a:extLst>
          </p:cNvPr>
          <p:cNvSpPr txBox="1"/>
          <p:nvPr/>
        </p:nvSpPr>
        <p:spPr>
          <a:xfrm>
            <a:off x="7612380" y="5532120"/>
            <a:ext cx="38176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dirty="0">
                <a:solidFill>
                  <a:srgbClr val="0F273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Dr Sathiyamoorthy R M</a:t>
            </a:r>
          </a:p>
          <a:p>
            <a:r>
              <a:rPr sz="1100" dirty="0">
                <a:solidFill>
                  <a:srgbClr val="5A6A6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Faculty Mentor, Department of Mechanical Engineering, Easwari Engineering College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273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Safety by design: read-only, clip-on, fail-quiet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00" dirty="0">
                <a:solidFill>
                  <a:srgbClr val="5A6A6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FactoryAir Twin · VK26-IITI-AHM-0210 · Safety &amp; hazard mitigation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2651760" cy="1554480"/>
          </a:xfrm>
          <a:prstGeom prst="roundRect">
            <a:avLst>
              <a:gd name="adj" fmla="val 5882"/>
            </a:avLst>
          </a:prstGeom>
          <a:solidFill>
            <a:srgbClr val="E8F3FA"/>
          </a:solidFill>
          <a:ln w="12700">
            <a:solidFill>
              <a:srgbClr val="E8F3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685800" cy="685800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pic>
        <p:nvPicPr>
          <p:cNvPr id="6" name="Image 0" descr="HandStop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396" y="1613916"/>
            <a:ext cx="384048" cy="3840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48132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73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No output stage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731520" y="22402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cannot start, stop or reload the compressor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3360420" y="1280160"/>
            <a:ext cx="2651760" cy="1554480"/>
          </a:xfrm>
          <a:prstGeom prst="roundRect">
            <a:avLst>
              <a:gd name="adj" fmla="val 5882"/>
            </a:avLst>
          </a:prstGeom>
          <a:solidFill>
            <a:srgbClr val="E8F3FA"/>
          </a:solidFill>
          <a:ln w="12700">
            <a:solidFill>
              <a:srgbClr val="E8F3F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543300" y="1463040"/>
            <a:ext cx="685800" cy="685800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pic>
        <p:nvPicPr>
          <p:cNvPr id="11" name="Image 1" descr="PlugConnected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4176" y="1613916"/>
            <a:ext cx="384048" cy="3840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366260" y="148132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73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Clip-on CT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9"/>
          <p:cNvSpPr txBox="1"/>
          <p:nvPr/>
        </p:nvSpPr>
        <p:spPr>
          <a:xfrm>
            <a:off x="3543300" y="22402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no mains conductor opened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6172200" y="1280160"/>
            <a:ext cx="2651760" cy="1554480"/>
          </a:xfrm>
          <a:prstGeom prst="roundRect">
            <a:avLst>
              <a:gd name="adj" fmla="val 5882"/>
            </a:avLst>
          </a:prstGeom>
          <a:solidFill>
            <a:srgbClr val="E8F3FA"/>
          </a:solidFill>
          <a:ln w="12700">
            <a:solidFill>
              <a:srgbClr val="E8F3F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355080" y="1463040"/>
            <a:ext cx="685800" cy="685800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pic>
        <p:nvPicPr>
          <p:cNvPr id="16" name="Image 2" descr="ArrowsJoin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5956" y="1613916"/>
            <a:ext cx="384048" cy="38404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178040" y="148132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73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Isolated tap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 13"/>
          <p:cNvSpPr txBox="1"/>
          <p:nvPr/>
        </p:nvSpPr>
        <p:spPr>
          <a:xfrm>
            <a:off x="6355080" y="22402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ball valve, fittings rated &gt; 2× pressure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8983980" y="1280160"/>
            <a:ext cx="2651760" cy="1554480"/>
          </a:xfrm>
          <a:prstGeom prst="roundRect">
            <a:avLst>
              <a:gd name="adj" fmla="val 5882"/>
            </a:avLst>
          </a:prstGeom>
          <a:solidFill>
            <a:srgbClr val="E8F3FA"/>
          </a:solidFill>
          <a:ln w="12700">
            <a:solidFill>
              <a:srgbClr val="E8F3FA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66860" y="1463040"/>
            <a:ext cx="685800" cy="685800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pic>
        <p:nvPicPr>
          <p:cNvPr id="21" name="Image 3" descr="ShieldLock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17736" y="1613916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989820" y="148132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73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Sealed + fused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 17"/>
          <p:cNvSpPr txBox="1"/>
          <p:nvPr/>
        </p:nvSpPr>
        <p:spPr>
          <a:xfrm>
            <a:off x="9166860" y="22402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IP65 box, fused 24 V supply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5467575"/>
              </p:ext>
            </p:extLst>
          </p:nvPr>
        </p:nvGraphicFramePr>
        <p:xfrm>
          <a:off x="548640" y="3063240"/>
          <a:ext cx="7680960" cy="2609088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Failure mode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Hazard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Built-in protection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Transmitter open loop / drift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Wrong leak figure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&lt; 3.6 mA frames dropped; stuck and range checks first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Wi-Fi dropout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Lost data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72 h SD spool; gaps flagged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Clock jump / bad frame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Corrupt history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Ingest rejects them (tested live)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False leak alarm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Wasted labour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Two estimators must agree; weak nights graded down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Wrong nameplate FAD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Biased ₹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F273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Shown openly; Stage 3 pump-up test</a:t>
                      </a:r>
                      <a:endParaRPr lang="en-US" sz="1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" name="Shape 18"/>
          <p:cNvSpPr/>
          <p:nvPr/>
        </p:nvSpPr>
        <p:spPr>
          <a:xfrm>
            <a:off x="8458200" y="3063240"/>
            <a:ext cx="3154680" cy="3108960"/>
          </a:xfrm>
          <a:prstGeom prst="roundRect">
            <a:avLst>
              <a:gd name="adj" fmla="val 2941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9646920" y="3200400"/>
            <a:ext cx="777240" cy="777240"/>
          </a:xfrm>
          <a:prstGeom prst="ellipse">
            <a:avLst/>
          </a:prstGeom>
          <a:solidFill>
            <a:srgbClr val="0F2730"/>
          </a:solidFill>
          <a:ln w="12700">
            <a:solidFill>
              <a:srgbClr val="0F2730"/>
            </a:solidFill>
            <a:prstDash val="solid"/>
          </a:ln>
        </p:spPr>
      </p:sp>
      <p:pic>
        <p:nvPicPr>
          <p:cNvPr id="27" name="Image 4" descr="Certificate 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17913" y="3371393"/>
            <a:ext cx="435254" cy="43525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8595360" y="4041648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273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Standards considered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Text 21"/>
          <p:cNvSpPr txBox="1"/>
          <p:nvPr/>
        </p:nvSpPr>
        <p:spPr>
          <a:xfrm>
            <a:off x="8686800" y="4434840"/>
            <a:ext cx="2788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IEC 61010-1, 61010-2-032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IEC 60529 (IP65)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ISO 11011 (air audits)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IS 2379 (pipe colours)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A6A6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fld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273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Four-month plan to a field-tested prototype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00" dirty="0">
                <a:solidFill>
                  <a:srgbClr val="5A6A6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FactoryAir Twin · VK26-IITI-AHM-0210 · Roadmap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931670" y="2286000"/>
            <a:ext cx="8298180" cy="0"/>
          </a:xfrm>
          <a:prstGeom prst="line">
            <a:avLst/>
          </a:prstGeom>
          <a:noFill/>
          <a:ln w="31750">
            <a:solidFill>
              <a:srgbClr val="7FC4EA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548640" y="1399032"/>
            <a:ext cx="27660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C6A9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Nov 2026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373886" y="1728216"/>
            <a:ext cx="1115568" cy="11155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28750" y="1783080"/>
            <a:ext cx="1005840" cy="1005840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pic>
        <p:nvPicPr>
          <p:cNvPr id="8" name="Image 0" descr="Tool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0035" y="2004365"/>
            <a:ext cx="563270" cy="56327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40080" y="2926080"/>
            <a:ext cx="25831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Build: assemble node, flash firmware, bench-test vs gauge + clamp meter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7"/>
          <p:cNvSpPr txBox="1"/>
          <p:nvPr/>
        </p:nvSpPr>
        <p:spPr>
          <a:xfrm>
            <a:off x="3314700" y="1399032"/>
            <a:ext cx="27660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C6A9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Dec 2026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4139946" y="1728216"/>
            <a:ext cx="1115568" cy="11155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194810" y="1783080"/>
            <a:ext cx="1005840" cy="1005840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pic>
        <p:nvPicPr>
          <p:cNvPr id="13" name="Image 1" descr="PlugConnected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6095" y="2004365"/>
            <a:ext cx="563270" cy="56327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406140" y="2926080"/>
            <a:ext cx="25831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Integrate: enclosure CAD + fit-out, college compressor install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11"/>
          <p:cNvSpPr txBox="1"/>
          <p:nvPr/>
        </p:nvSpPr>
        <p:spPr>
          <a:xfrm>
            <a:off x="6080760" y="1399032"/>
            <a:ext cx="27660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C6A9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Jan 2027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Shape 12"/>
          <p:cNvSpPr/>
          <p:nvPr/>
        </p:nvSpPr>
        <p:spPr>
          <a:xfrm>
            <a:off x="6906006" y="1728216"/>
            <a:ext cx="1115568" cy="11155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960870" y="1783080"/>
            <a:ext cx="1005840" cy="1005840"/>
          </a:xfrm>
          <a:prstGeom prst="ellipse">
            <a:avLst/>
          </a:prstGeom>
          <a:solidFill>
            <a:srgbClr val="1C6A96"/>
          </a:solidFill>
          <a:ln w="12700">
            <a:solidFill>
              <a:srgbClr val="1C6A96"/>
            </a:solidFill>
            <a:prstDash val="solid"/>
          </a:ln>
        </p:spPr>
      </p:sp>
      <p:pic>
        <p:nvPicPr>
          <p:cNvPr id="18" name="Image 2" descr="Microscope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82155" y="2004365"/>
            <a:ext cx="563270" cy="56327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172200" y="2926080"/>
            <a:ext cx="25831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Validate: MSME pilot vs manual leak-down + ultrasonic walk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 15"/>
          <p:cNvSpPr txBox="1"/>
          <p:nvPr/>
        </p:nvSpPr>
        <p:spPr>
          <a:xfrm>
            <a:off x="8846820" y="1399032"/>
            <a:ext cx="27660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7845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Feb 2027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Shape 16"/>
          <p:cNvSpPr/>
          <p:nvPr/>
        </p:nvSpPr>
        <p:spPr>
          <a:xfrm>
            <a:off x="9672066" y="1728216"/>
            <a:ext cx="1115568" cy="11155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726930" y="1783080"/>
            <a:ext cx="1005840" cy="1005840"/>
          </a:xfrm>
          <a:prstGeom prst="ellipse">
            <a:avLst/>
          </a:prstGeom>
          <a:solidFill>
            <a:srgbClr val="17845A"/>
          </a:solidFill>
          <a:ln w="12700">
            <a:solidFill>
              <a:srgbClr val="17845A"/>
            </a:solidFill>
            <a:prstDash val="solid"/>
          </a:ln>
        </p:spPr>
      </p:sp>
      <p:pic>
        <p:nvPicPr>
          <p:cNvPr id="23" name="Image 3" descr="Rocket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48215" y="2004365"/>
            <a:ext cx="563270" cy="56327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8938260" y="2926080"/>
            <a:ext cx="25831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Prove: site recalibration, repair a found leak, verify overnight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Shape 19"/>
          <p:cNvSpPr/>
          <p:nvPr/>
        </p:nvSpPr>
        <p:spPr>
          <a:xfrm>
            <a:off x="548640" y="4206240"/>
            <a:ext cx="11064240" cy="1965960"/>
          </a:xfrm>
          <a:prstGeom prst="roundRect">
            <a:avLst>
              <a:gd name="adj" fmla="val 4651"/>
            </a:avLst>
          </a:prstGeom>
          <a:solidFill>
            <a:srgbClr val="E2F2EA"/>
          </a:solidFill>
          <a:ln w="12700">
            <a:solidFill>
              <a:srgbClr val="E2F2EA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777240" y="4389120"/>
            <a:ext cx="640080" cy="640080"/>
          </a:xfrm>
          <a:prstGeom prst="ellipse">
            <a:avLst/>
          </a:prstGeom>
          <a:solidFill>
            <a:srgbClr val="17845A"/>
          </a:solidFill>
          <a:ln w="12700">
            <a:solidFill>
              <a:srgbClr val="17845A"/>
            </a:solidFill>
            <a:prstDash val="solid"/>
          </a:ln>
        </p:spPr>
      </p:sp>
      <p:pic>
        <p:nvPicPr>
          <p:cNvPr id="27" name="Image 4" descr="Flag 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8058" y="4529938"/>
            <a:ext cx="358445" cy="358445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600200" y="4389120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7845A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Stage 3 commitment: demonstrated live on this dashboard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Shape 22"/>
          <p:cNvSpPr/>
          <p:nvPr/>
        </p:nvSpPr>
        <p:spPr>
          <a:xfrm>
            <a:off x="777240" y="5257800"/>
            <a:ext cx="548640" cy="548640"/>
          </a:xfrm>
          <a:prstGeom prst="ellipse">
            <a:avLst/>
          </a:prstGeom>
          <a:solidFill>
            <a:srgbClr val="17845A"/>
          </a:solidFill>
          <a:ln w="12700">
            <a:solidFill>
              <a:srgbClr val="17845A"/>
            </a:solidFill>
            <a:prstDash val="solid"/>
          </a:ln>
        </p:spPr>
      </p:sp>
      <p:pic>
        <p:nvPicPr>
          <p:cNvPr id="30" name="Image 5" descr="Cpu icon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7941" y="5378501"/>
            <a:ext cx="307238" cy="30723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1463040" y="519379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 working edge node on a real compressor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Shape 24"/>
          <p:cNvSpPr/>
          <p:nvPr/>
        </p:nvSpPr>
        <p:spPr>
          <a:xfrm>
            <a:off x="4434840" y="5257800"/>
            <a:ext cx="548640" cy="548640"/>
          </a:xfrm>
          <a:prstGeom prst="ellipse">
            <a:avLst/>
          </a:prstGeom>
          <a:solidFill>
            <a:srgbClr val="17845A"/>
          </a:solidFill>
          <a:ln w="12700">
            <a:solidFill>
              <a:srgbClr val="17845A"/>
            </a:solidFill>
            <a:prstDash val="solid"/>
          </a:ln>
        </p:spPr>
      </p:sp>
      <p:pic>
        <p:nvPicPr>
          <p:cNvPr id="33" name="Image 6" descr="ChartLine icon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55541" y="5378501"/>
            <a:ext cx="307238" cy="307238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5120640" y="519379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 nightly leak index from real data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Shape 26"/>
          <p:cNvSpPr/>
          <p:nvPr/>
        </p:nvSpPr>
        <p:spPr>
          <a:xfrm>
            <a:off x="8092440" y="5257800"/>
            <a:ext cx="548640" cy="548640"/>
          </a:xfrm>
          <a:prstGeom prst="ellipse">
            <a:avLst/>
          </a:prstGeom>
          <a:solidFill>
            <a:srgbClr val="17845A"/>
          </a:solidFill>
          <a:ln w="12700">
            <a:solidFill>
              <a:srgbClr val="17845A"/>
            </a:solidFill>
            <a:prstDash val="solid"/>
          </a:ln>
        </p:spPr>
      </p:sp>
      <p:pic>
        <p:nvPicPr>
          <p:cNvPr id="36" name="Image 7" descr="Checks icon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13141" y="5378501"/>
            <a:ext cx="307238" cy="307238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8778240" y="519379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One leak located, repaired and verified overnight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A6A6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>
                <a:latin typeface="Times New Roman" panose="02020603050405020304" pitchFamily="18" charset="0"/>
                <a:cs typeface="Times New Roman" panose="02020603050405020304" pitchFamily="18" charset="0"/>
              </a:rPr>
              <a:t>13</a:t>
            </a:fld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273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Engineering bottlenecks we hit in simulation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00" dirty="0">
                <a:solidFill>
                  <a:srgbClr val="5A6A6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FactoryAir Twin · VK26-IITI-AHM-0210 · Technical challenges &amp; risks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3566160" cy="2331720"/>
          </a:xfrm>
          <a:prstGeom prst="roundRect">
            <a:avLst>
              <a:gd name="adj" fmla="val 3922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508760"/>
            <a:ext cx="822960" cy="822960"/>
          </a:xfrm>
          <a:prstGeom prst="ellipse">
            <a:avLst/>
          </a:prstGeom>
          <a:solidFill>
            <a:srgbClr val="5A6A6F"/>
          </a:solidFill>
          <a:ln w="12700">
            <a:solidFill>
              <a:srgbClr val="5A6A6F"/>
            </a:solidFill>
            <a:prstDash val="solid"/>
          </a:ln>
        </p:spPr>
      </p:sp>
      <p:pic>
        <p:nvPicPr>
          <p:cNvPr id="6" name="Image 0" descr="ArrowsSplit2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291" y="1689811"/>
            <a:ext cx="460858" cy="46085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b="1" dirty="0">
                <a:solidFill>
                  <a:srgbClr val="0F273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A leak looks like demand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777240" y="28803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Daytime data cannot separate production air from leaks.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4297680" y="1280160"/>
            <a:ext cx="3566160" cy="2331720"/>
          </a:xfrm>
          <a:prstGeom prst="roundRect">
            <a:avLst>
              <a:gd name="adj" fmla="val 3922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26280" y="1508760"/>
            <a:ext cx="822960" cy="822960"/>
          </a:xfrm>
          <a:prstGeom prst="ellipse">
            <a:avLst/>
          </a:prstGeom>
          <a:solidFill>
            <a:srgbClr val="5A6A6F"/>
          </a:solidFill>
          <a:ln w="12700">
            <a:solidFill>
              <a:srgbClr val="5A6A6F"/>
            </a:solidFill>
            <a:prstDash val="solid"/>
          </a:ln>
        </p:spPr>
      </p:sp>
      <p:pic>
        <p:nvPicPr>
          <p:cNvPr id="11" name="Image 1" descr="Tag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7331" y="1689811"/>
            <a:ext cx="460858" cy="46085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26280" y="246888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b="1" dirty="0">
                <a:solidFill>
                  <a:srgbClr val="0F273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Nameplate is not the truth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9"/>
          <p:cNvSpPr txBox="1"/>
          <p:nvPr/>
        </p:nvSpPr>
        <p:spPr>
          <a:xfrm>
            <a:off x="4526280" y="28803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3% low delivery biased estimates by ~3%.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8046720" y="1280160"/>
            <a:ext cx="3566160" cy="2331720"/>
          </a:xfrm>
          <a:prstGeom prst="roundRect">
            <a:avLst>
              <a:gd name="adj" fmla="val 3922"/>
            </a:avLst>
          </a:prstGeom>
          <a:solidFill>
            <a:srgbClr val="FDF1D8"/>
          </a:solidFill>
          <a:ln w="12700">
            <a:solidFill>
              <a:srgbClr val="FDF1D8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275320" y="1508760"/>
            <a:ext cx="822960" cy="822960"/>
          </a:xfrm>
          <a:prstGeom prst="ellipse">
            <a:avLst/>
          </a:prstGeom>
          <a:solidFill>
            <a:srgbClr val="F2A516"/>
          </a:solidFill>
          <a:ln w="12700">
            <a:solidFill>
              <a:srgbClr val="F2A516"/>
            </a:solidFill>
            <a:prstDash val="solid"/>
          </a:ln>
        </p:spPr>
      </p:sp>
      <p:pic>
        <p:nvPicPr>
          <p:cNvPr id="16" name="Image 2" descr="Brain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6371" y="1689811"/>
            <a:ext cx="460858" cy="46085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275320" y="246888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b="1" dirty="0">
                <a:solidFill>
                  <a:srgbClr val="8F560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Synthetic AI does not transfer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 13"/>
          <p:cNvSpPr txBox="1"/>
          <p:nvPr/>
        </p:nvSpPr>
        <p:spPr>
          <a:xfrm>
            <a:off x="8275320" y="28803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MetroPT-3: 0 windows flagged, AUC 0.58. The physics test scored 0.988.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548640" y="3794760"/>
            <a:ext cx="3566160" cy="2331720"/>
          </a:xfrm>
          <a:prstGeom prst="roundRect">
            <a:avLst>
              <a:gd name="adj" fmla="val 3922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77240" y="4023360"/>
            <a:ext cx="822960" cy="822960"/>
          </a:xfrm>
          <a:prstGeom prst="ellipse">
            <a:avLst/>
          </a:prstGeom>
          <a:solidFill>
            <a:srgbClr val="5A6A6F"/>
          </a:solidFill>
          <a:ln w="12700">
            <a:solidFill>
              <a:srgbClr val="5A6A6F"/>
            </a:solidFill>
            <a:prstDash val="solid"/>
          </a:ln>
        </p:spPr>
      </p:sp>
      <p:pic>
        <p:nvPicPr>
          <p:cNvPr id="21" name="Image 3" descr="Clock24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8291" y="4204411"/>
            <a:ext cx="460858" cy="46085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77240" y="498348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b="1" dirty="0">
                <a:solidFill>
                  <a:srgbClr val="0F273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No quiet hours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 17"/>
          <p:cNvSpPr txBox="1"/>
          <p:nvPr/>
        </p:nvSpPr>
        <p:spPr>
          <a:xfrm>
            <a:off x="777240" y="53949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24×7 plants give the nightly test no window.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Shape 18"/>
          <p:cNvSpPr/>
          <p:nvPr/>
        </p:nvSpPr>
        <p:spPr>
          <a:xfrm>
            <a:off x="4297680" y="3794760"/>
            <a:ext cx="3566160" cy="2331720"/>
          </a:xfrm>
          <a:prstGeom prst="roundRect">
            <a:avLst>
              <a:gd name="adj" fmla="val 3922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526280" y="4023360"/>
            <a:ext cx="822960" cy="822960"/>
          </a:xfrm>
          <a:prstGeom prst="ellipse">
            <a:avLst/>
          </a:prstGeom>
          <a:solidFill>
            <a:srgbClr val="5A6A6F"/>
          </a:solidFill>
          <a:ln w="12700">
            <a:solidFill>
              <a:srgbClr val="5A6A6F"/>
            </a:solidFill>
            <a:prstDash val="solid"/>
          </a:ln>
        </p:spPr>
      </p:sp>
      <p:pic>
        <p:nvPicPr>
          <p:cNvPr id="26" name="Image 4" descr="Droplet 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07331" y="4204411"/>
            <a:ext cx="460858" cy="460858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4526280" y="498348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b="1" dirty="0">
                <a:solidFill>
                  <a:srgbClr val="0F273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Valves are not perfect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 21"/>
          <p:cNvSpPr txBox="1"/>
          <p:nvPr/>
        </p:nvSpPr>
        <p:spPr>
          <a:xfrm>
            <a:off x="4526280" y="53949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Seeping valve seats blur the zone split.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Shape 22"/>
          <p:cNvSpPr/>
          <p:nvPr/>
        </p:nvSpPr>
        <p:spPr>
          <a:xfrm>
            <a:off x="8046720" y="3794760"/>
            <a:ext cx="3566160" cy="2331720"/>
          </a:xfrm>
          <a:prstGeom prst="roundRect">
            <a:avLst>
              <a:gd name="adj" fmla="val 3922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8275320" y="4023360"/>
            <a:ext cx="822960" cy="822960"/>
          </a:xfrm>
          <a:prstGeom prst="ellipse">
            <a:avLst/>
          </a:prstGeom>
          <a:solidFill>
            <a:srgbClr val="5A6A6F"/>
          </a:solidFill>
          <a:ln w="12700">
            <a:solidFill>
              <a:srgbClr val="5A6A6F"/>
            </a:solidFill>
            <a:prstDash val="solid"/>
          </a:ln>
        </p:spPr>
      </p:sp>
      <p:pic>
        <p:nvPicPr>
          <p:cNvPr id="31" name="Image 5" descr="WifiOff icon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56371" y="4204411"/>
            <a:ext cx="460858" cy="460858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275320" y="498348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b="1" dirty="0">
                <a:solidFill>
                  <a:srgbClr val="0F273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Field data is messy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Text 25"/>
          <p:cNvSpPr txBox="1"/>
          <p:nvPr/>
        </p:nvSpPr>
        <p:spPr>
          <a:xfrm>
            <a:off x="8275320" y="53949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Dropouts, stuck sensors, spikes, clock jumps.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A6A6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>
                <a:latin typeface="Times New Roman" panose="02020603050405020304" pitchFamily="18" charset="0"/>
                <a:cs typeface="Times New Roman" panose="02020603050405020304" pitchFamily="18" charset="0"/>
              </a:rPr>
              <a:t>14</a:t>
            </a:fld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273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Backup solutions for each risk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00" dirty="0">
                <a:solidFill>
                  <a:srgbClr val="5A6A6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FactoryAir Twin · VK26-IITI-AHM-0210 · Technical challenges &amp; risks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Risk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3840480" y="1234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7845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Primary solution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8138160" y="1234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Fallback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48640" y="1655064"/>
            <a:ext cx="502920" cy="502920"/>
          </a:xfrm>
          <a:prstGeom prst="ellipse">
            <a:avLst/>
          </a:prstGeom>
          <a:solidFill>
            <a:srgbClr val="5A6A6F"/>
          </a:solidFill>
          <a:ln w="12700">
            <a:solidFill>
              <a:srgbClr val="5A6A6F"/>
            </a:solidFill>
            <a:prstDash val="solid"/>
          </a:ln>
        </p:spPr>
      </p:sp>
      <p:pic>
        <p:nvPicPr>
          <p:cNvPr id="8" name="Image 0" descr="ArrowsSplit2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282" y="1765706"/>
            <a:ext cx="281635" cy="28163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88720" y="160020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73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Leak vs demand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337560" y="1783080"/>
            <a:ext cx="365760" cy="256032"/>
          </a:xfrm>
          <a:prstGeom prst="rightArrow">
            <a:avLst/>
          </a:prstGeom>
          <a:solidFill>
            <a:srgbClr val="17845A"/>
          </a:solidFill>
          <a:ln w="12700">
            <a:solidFill>
              <a:srgbClr val="17845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840480" y="1600200"/>
            <a:ext cx="4114800" cy="621792"/>
          </a:xfrm>
          <a:prstGeom prst="roundRect">
            <a:avLst>
              <a:gd name="adj" fmla="val 14706"/>
            </a:avLst>
          </a:prstGeom>
          <a:solidFill>
            <a:srgbClr val="E2F2EA"/>
          </a:solidFill>
          <a:ln w="12700">
            <a:solidFill>
              <a:srgbClr val="E2F2E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977640" y="1600200"/>
            <a:ext cx="3886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Test only in idle windows via the machine-on contact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8138160" y="1600200"/>
            <a:ext cx="3474720" cy="621792"/>
          </a:xfrm>
          <a:prstGeom prst="roundRect">
            <a:avLst>
              <a:gd name="adj" fmla="val 14706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75320" y="1600200"/>
            <a:ext cx="3246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Weekend leak-down test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548640" y="2404872"/>
            <a:ext cx="502920" cy="502920"/>
          </a:xfrm>
          <a:prstGeom prst="ellipse">
            <a:avLst/>
          </a:prstGeom>
          <a:solidFill>
            <a:srgbClr val="5A6A6F"/>
          </a:solidFill>
          <a:ln w="12700">
            <a:solidFill>
              <a:srgbClr val="5A6A6F"/>
            </a:solidFill>
            <a:prstDash val="solid"/>
          </a:ln>
        </p:spPr>
      </p:sp>
      <p:pic>
        <p:nvPicPr>
          <p:cNvPr id="16" name="Image 1" descr="Tag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282" y="2515514"/>
            <a:ext cx="281635" cy="281635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188720" y="2350008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73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Nameplate bias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Shape 14"/>
          <p:cNvSpPr/>
          <p:nvPr/>
        </p:nvSpPr>
        <p:spPr>
          <a:xfrm>
            <a:off x="3337560" y="2532888"/>
            <a:ext cx="365760" cy="256032"/>
          </a:xfrm>
          <a:prstGeom prst="rightArrow">
            <a:avLst/>
          </a:prstGeom>
          <a:solidFill>
            <a:srgbClr val="17845A"/>
          </a:solidFill>
          <a:ln w="12700">
            <a:solidFill>
              <a:srgbClr val="17845A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3840480" y="2350008"/>
            <a:ext cx="4114800" cy="621792"/>
          </a:xfrm>
          <a:prstGeom prst="roundRect">
            <a:avLst>
              <a:gd name="adj" fmla="val 14706"/>
            </a:avLst>
          </a:prstGeom>
          <a:solidFill>
            <a:srgbClr val="E2F2EA"/>
          </a:solidFill>
          <a:ln w="12700">
            <a:solidFill>
              <a:srgbClr val="E2F2EA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3977640" y="2350008"/>
            <a:ext cx="3886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One-time pump-up test measures real FAD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Shape 17"/>
          <p:cNvSpPr/>
          <p:nvPr/>
        </p:nvSpPr>
        <p:spPr>
          <a:xfrm>
            <a:off x="8138160" y="2350008"/>
            <a:ext cx="3474720" cy="621792"/>
          </a:xfrm>
          <a:prstGeom prst="roundRect">
            <a:avLst>
              <a:gd name="adj" fmla="val 14706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8275320" y="2350008"/>
            <a:ext cx="3246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Show the bias band on every ₹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Shape 19"/>
          <p:cNvSpPr/>
          <p:nvPr/>
        </p:nvSpPr>
        <p:spPr>
          <a:xfrm>
            <a:off x="548640" y="3154680"/>
            <a:ext cx="502920" cy="502920"/>
          </a:xfrm>
          <a:prstGeom prst="ellipse">
            <a:avLst/>
          </a:prstGeom>
          <a:solidFill>
            <a:srgbClr val="5A6A6F"/>
          </a:solidFill>
          <a:ln w="12700">
            <a:solidFill>
              <a:srgbClr val="5A6A6F"/>
            </a:solidFill>
            <a:prstDash val="solid"/>
          </a:ln>
        </p:spPr>
      </p:sp>
      <p:pic>
        <p:nvPicPr>
          <p:cNvPr id="24" name="Image 2" descr="Brain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282" y="3265322"/>
            <a:ext cx="281635" cy="281635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1188720" y="309981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73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AI transfer gap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Shape 21"/>
          <p:cNvSpPr/>
          <p:nvPr/>
        </p:nvSpPr>
        <p:spPr>
          <a:xfrm>
            <a:off x="3337560" y="3282696"/>
            <a:ext cx="365760" cy="256032"/>
          </a:xfrm>
          <a:prstGeom prst="rightArrow">
            <a:avLst/>
          </a:prstGeom>
          <a:solidFill>
            <a:srgbClr val="17845A"/>
          </a:solidFill>
          <a:ln w="12700">
            <a:solidFill>
              <a:srgbClr val="17845A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3840480" y="3099816"/>
            <a:ext cx="4114800" cy="621792"/>
          </a:xfrm>
          <a:prstGeom prst="roundRect">
            <a:avLst>
              <a:gd name="adj" fmla="val 14706"/>
            </a:avLst>
          </a:prstGeom>
          <a:solidFill>
            <a:srgbClr val="E2F2EA"/>
          </a:solidFill>
          <a:ln w="12700">
            <a:solidFill>
              <a:srgbClr val="E2F2EA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3977640" y="3099816"/>
            <a:ext cx="3886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Physics sets all ₹: AUC 0.988 on real MetroPT-3 nights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Shape 24"/>
          <p:cNvSpPr/>
          <p:nvPr/>
        </p:nvSpPr>
        <p:spPr>
          <a:xfrm>
            <a:off x="8138160" y="3099816"/>
            <a:ext cx="3474720" cy="621792"/>
          </a:xfrm>
          <a:prstGeom prst="roundRect">
            <a:avLst>
              <a:gd name="adj" fmla="val 14706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8275320" y="3099816"/>
            <a:ext cx="3246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Per-site model recalibration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Shape 26"/>
          <p:cNvSpPr/>
          <p:nvPr/>
        </p:nvSpPr>
        <p:spPr>
          <a:xfrm>
            <a:off x="548640" y="3904488"/>
            <a:ext cx="502920" cy="502920"/>
          </a:xfrm>
          <a:prstGeom prst="ellipse">
            <a:avLst/>
          </a:prstGeom>
          <a:solidFill>
            <a:srgbClr val="5A6A6F"/>
          </a:solidFill>
          <a:ln w="12700">
            <a:solidFill>
              <a:srgbClr val="5A6A6F"/>
            </a:solidFill>
            <a:prstDash val="solid"/>
          </a:ln>
        </p:spPr>
      </p:sp>
      <p:pic>
        <p:nvPicPr>
          <p:cNvPr id="32" name="Image 3" descr="Clock24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282" y="4015130"/>
            <a:ext cx="281635" cy="281635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1188720" y="3849624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73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No quiet hours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Shape 28"/>
          <p:cNvSpPr/>
          <p:nvPr/>
        </p:nvSpPr>
        <p:spPr>
          <a:xfrm>
            <a:off x="3337560" y="4032504"/>
            <a:ext cx="365760" cy="256032"/>
          </a:xfrm>
          <a:prstGeom prst="rightArrow">
            <a:avLst/>
          </a:prstGeom>
          <a:solidFill>
            <a:srgbClr val="17845A"/>
          </a:solidFill>
          <a:ln w="12700">
            <a:solidFill>
              <a:srgbClr val="17845A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3840480" y="3849624"/>
            <a:ext cx="4114800" cy="621792"/>
          </a:xfrm>
          <a:prstGeom prst="roundRect">
            <a:avLst>
              <a:gd name="adj" fmla="val 14706"/>
            </a:avLst>
          </a:prstGeom>
          <a:solidFill>
            <a:srgbClr val="E2F2EA"/>
          </a:solidFill>
          <a:ln w="12700">
            <a:solidFill>
              <a:srgbClr val="E2F2EA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3977640" y="3849624"/>
            <a:ext cx="3886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Lunch-break tests; decay-only mode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Shape 31"/>
          <p:cNvSpPr/>
          <p:nvPr/>
        </p:nvSpPr>
        <p:spPr>
          <a:xfrm>
            <a:off x="8138160" y="3849624"/>
            <a:ext cx="3474720" cy="621792"/>
          </a:xfrm>
          <a:prstGeom prst="roundRect">
            <a:avLst>
              <a:gd name="adj" fmla="val 14706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8275320" y="3849624"/>
            <a:ext cx="3246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Isolation during planned stops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Shape 33"/>
          <p:cNvSpPr/>
          <p:nvPr/>
        </p:nvSpPr>
        <p:spPr>
          <a:xfrm>
            <a:off x="548640" y="4654296"/>
            <a:ext cx="502920" cy="502920"/>
          </a:xfrm>
          <a:prstGeom prst="ellipse">
            <a:avLst/>
          </a:prstGeom>
          <a:solidFill>
            <a:srgbClr val="5A6A6F"/>
          </a:solidFill>
          <a:ln w="12700">
            <a:solidFill>
              <a:srgbClr val="5A6A6F"/>
            </a:solidFill>
            <a:prstDash val="solid"/>
          </a:ln>
        </p:spPr>
      </p:sp>
      <p:pic>
        <p:nvPicPr>
          <p:cNvPr id="40" name="Image 4" descr="Droplet 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9282" y="4764938"/>
            <a:ext cx="281635" cy="281635"/>
          </a:xfrm>
          <a:prstGeom prst="rect">
            <a:avLst/>
          </a:prstGeom>
        </p:spPr>
      </p:pic>
      <p:sp>
        <p:nvSpPr>
          <p:cNvPr id="41" name="Text 34"/>
          <p:cNvSpPr txBox="1"/>
          <p:nvPr/>
        </p:nvSpPr>
        <p:spPr>
          <a:xfrm>
            <a:off x="1188720" y="4599432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730"/>
                </a:solidFill>
                <a:latin typeface="Times New Roman" panose="02020603050405020304" pitchFamily="18" charset="0"/>
                <a:ea typeface="Bahnschrift" pitchFamily="34" charset="-122"/>
                <a:cs typeface="Times New Roman" panose="02020603050405020304" pitchFamily="18" charset="0"/>
              </a:rPr>
              <a:t>Seeping valves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Shape 35"/>
          <p:cNvSpPr/>
          <p:nvPr/>
        </p:nvSpPr>
        <p:spPr>
          <a:xfrm>
            <a:off x="3337560" y="4782312"/>
            <a:ext cx="365760" cy="256032"/>
          </a:xfrm>
          <a:prstGeom prst="rightArrow">
            <a:avLst/>
          </a:prstGeom>
          <a:solidFill>
            <a:srgbClr val="17845A"/>
          </a:solidFill>
          <a:ln w="12700">
            <a:solidFill>
              <a:srgbClr val="17845A"/>
            </a:solidFill>
            <a:prstDash val="solid"/>
          </a:ln>
        </p:spPr>
      </p:sp>
      <p:sp>
        <p:nvSpPr>
          <p:cNvPr id="43" name="Shape 36"/>
          <p:cNvSpPr/>
          <p:nvPr/>
        </p:nvSpPr>
        <p:spPr>
          <a:xfrm>
            <a:off x="3840480" y="4599432"/>
            <a:ext cx="4114800" cy="621792"/>
          </a:xfrm>
          <a:prstGeom prst="roundRect">
            <a:avLst>
              <a:gd name="adj" fmla="val 14706"/>
            </a:avLst>
          </a:prstGeom>
          <a:solidFill>
            <a:srgbClr val="E2F2EA"/>
          </a:solidFill>
          <a:ln w="12700">
            <a:solidFill>
              <a:srgbClr val="E2F2EA"/>
            </a:solidFill>
            <a:prstDash val="solid"/>
          </a:ln>
        </p:spPr>
      </p:sp>
      <p:sp>
        <p:nvSpPr>
          <p:cNvPr id="44" name="Text 37"/>
          <p:cNvSpPr txBox="1"/>
          <p:nvPr/>
        </p:nvSpPr>
        <p:spPr>
          <a:xfrm>
            <a:off x="3977640" y="4599432"/>
            <a:ext cx="3886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Survey both directions and compare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Shape 38"/>
          <p:cNvSpPr/>
          <p:nvPr/>
        </p:nvSpPr>
        <p:spPr>
          <a:xfrm>
            <a:off x="8138160" y="4599432"/>
            <a:ext cx="3474720" cy="621792"/>
          </a:xfrm>
          <a:prstGeom prst="roundRect">
            <a:avLst>
              <a:gd name="adj" fmla="val 14706"/>
            </a:avLst>
          </a:prstGeom>
          <a:solidFill>
            <a:srgbClr val="F2F4F5"/>
          </a:solidFill>
          <a:ln w="12700">
            <a:solidFill>
              <a:srgbClr val="F2F4F5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8275320" y="4599432"/>
            <a:ext cx="3246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A6A6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Ultrasonic walk in the top zone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Shape 40"/>
          <p:cNvSpPr/>
          <p:nvPr/>
        </p:nvSpPr>
        <p:spPr>
          <a:xfrm>
            <a:off x="548640" y="54864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E8F3FA"/>
          </a:solidFill>
          <a:ln w="12700">
            <a:solidFill>
              <a:srgbClr val="E8F3FA"/>
            </a:solidFill>
            <a:prstDash val="solid"/>
          </a:ln>
        </p:spPr>
      </p:sp>
      <p:sp>
        <p:nvSpPr>
          <p:cNvPr id="48" name="Shape 41"/>
          <p:cNvSpPr/>
          <p:nvPr/>
        </p:nvSpPr>
        <p:spPr>
          <a:xfrm>
            <a:off x="731520" y="5577840"/>
            <a:ext cx="548640" cy="548640"/>
          </a:xfrm>
          <a:prstGeom prst="ellipse">
            <a:avLst/>
          </a:prstGeom>
          <a:solidFill>
            <a:srgbClr val="17845A"/>
          </a:solidFill>
          <a:ln w="12700">
            <a:solidFill>
              <a:srgbClr val="17845A"/>
            </a:solidFill>
            <a:prstDash val="solid"/>
          </a:ln>
        </p:spPr>
      </p:sp>
      <p:pic>
        <p:nvPicPr>
          <p:cNvPr id="49" name="Image 5" descr="Checks icon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2221" y="5698541"/>
            <a:ext cx="307238" cy="307238"/>
          </a:xfrm>
          <a:prstGeom prst="rect">
            <a:avLst/>
          </a:prstGeom>
        </p:spPr>
      </p:pic>
      <p:sp>
        <p:nvSpPr>
          <p:cNvPr id="50" name="Text 42"/>
          <p:cNvSpPr txBox="1"/>
          <p:nvPr/>
        </p:nvSpPr>
        <p:spPr>
          <a:xfrm>
            <a:off x="1463040" y="548640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Already verified in simulation: the repeat valve survey measured ₹4,276/month vs ₹4,741 predicted (−9.8%, 92% repair efficiency).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A6A6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>
                <a:latin typeface="Times New Roman" panose="02020603050405020304" pitchFamily="18" charset="0"/>
                <a:cs typeface="Times New Roman" panose="02020603050405020304" pitchFamily="18" charset="0"/>
              </a:rPr>
              <a:t>15</a:t>
            </a:fld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273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References and sources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00" dirty="0">
                <a:solidFill>
                  <a:srgbClr val="5A6A6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FactoryAir Twin · VK26-IITI-AHM-0210 · References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6424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[1] U.S. Department of Energy &amp; Compressed Air Challenge, Improving Compressed Air System Performance: A Sourcebook for Industry (3rd ed.).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[2] ISO 11011:2013, Compressed air — Energy efficiency — Assessment.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[3] Bureau of Energy Efficiency (India), Energy Efficiency in Electrical Utilities, Chapter 3: Compressed Air System.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[4] Veloso, B. et al., "The MetroPT dataset for predictive maintenance", Scientific Data 9, 764 (2022); UCI Machine Learning Repository, MetroPT-3 (id 791).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[5] IEC 61010-1, IEC 61010-2-032 (measurement equipment, current clamps); IEC 60529 (IP code).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[6] IS 2379, Pipelines — Identification colour code (Bureau of Indian Standards).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[7] Data sheets: Espressif ESP32-S3, Texas Instruments ADS1115, YHDC SCT-013 series.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0F273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Images: screenshots of the team's own software; diagrams and the concept CAD model generated for this project; icons from the open-source Tabler Icons set (MIT licence).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A6A6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>
                <a:latin typeface="Times New Roman" panose="02020603050405020304" pitchFamily="18" charset="0"/>
                <a:cs typeface="Times New Roman" panose="02020603050405020304" pitchFamily="18" charset="0"/>
              </a:rPr>
              <a:t>16</a:t>
            </a:fld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actoryAir Twin">
  <a:themeElements>
    <a:clrScheme name="FactoryAir Twin">
      <a:dk1>
        <a:srgbClr val="0F2730"/>
      </a:dk1>
      <a:lt1>
        <a:srgbClr val="FFFFFF"/>
      </a:lt1>
      <a:dk2>
        <a:srgbClr val="183A45"/>
      </a:dk2>
      <a:lt2>
        <a:srgbClr val="F2F4F5"/>
      </a:lt2>
      <a:accent1>
        <a:srgbClr val="1C6A96"/>
      </a:accent1>
      <a:accent2>
        <a:srgbClr val="F2A516"/>
      </a:accent2>
      <a:accent3>
        <a:srgbClr val="17845A"/>
      </a:accent3>
      <a:accent4>
        <a:srgbClr val="7FC4EA"/>
      </a:accent4>
      <a:accent5>
        <a:srgbClr val="B93A2A"/>
      </a:accent5>
      <a:accent6>
        <a:srgbClr val="5A6A6F"/>
      </a:accent6>
      <a:hlink>
        <a:srgbClr val="1C6A96"/>
      </a:hlink>
      <a:folHlink>
        <a:srgbClr val="183A45"/>
      </a:folHlink>
    </a:clrScheme>
    <a:fontScheme name="FactoryAir Twin">
      <a:majorFont>
        <a:latin typeface="Bahnschrif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2040</Words>
  <Application>Microsoft Office PowerPoint</Application>
  <PresentationFormat>Widescreen</PresentationFormat>
  <Paragraphs>370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Bahnschrift</vt:lpstr>
      <vt:lpstr>Calibri</vt:lpstr>
      <vt:lpstr>Times New Roman</vt:lpstr>
      <vt:lpstr>FactoryAir Twin</vt:lpstr>
      <vt:lpstr>PowerPoint Presentation</vt:lpstr>
      <vt:lpstr>Small factories pay for compressed air they never use</vt:lpstr>
      <vt:lpstr>Today's options are too rare, too costly or brand-locked</vt:lpstr>
      <vt:lpstr>Before: one failed coupling costs money for weeks unseen</vt:lpstr>
      <vt:lpstr>After: found overnight, located at lunch, verified next night</vt:lpstr>
      <vt:lpstr>System block diagram: two signals in, a verified saving out</vt:lpstr>
      <vt:lpstr>Target specifications and hardware selection</vt:lpstr>
      <vt:lpstr>Mechanical design: a sealed box and a safe pressure tap</vt:lpstr>
      <vt:lpstr>Electronics connections and bill of materials</vt:lpstr>
      <vt:lpstr>Maker journey: working software, built and tested by the team</vt:lpstr>
      <vt:lpstr>Stage 1 → Stage 2: what we learned and changed</vt:lpstr>
      <vt:lpstr>Safety by design: read-only, clip-on, fail-quiet</vt:lpstr>
      <vt:lpstr>Four-month plan to a field-tested prototype</vt:lpstr>
      <vt:lpstr>Engineering bottlenecks we hit in simulation</vt:lpstr>
      <vt:lpstr>Backup solutions for each risk</vt:lpstr>
      <vt:lpstr>References and sources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FactoryAir Twin — Vishwakarma Stage 2</dc:title>
  <dc:subject>PptxGenJS Presentation</dc:subject>
  <dc:creator>Team Volts and Bolts</dc:creator>
  <cp:lastModifiedBy>Suheerthan S</cp:lastModifiedBy>
  <cp:revision>5</cp:revision>
  <dcterms:created xsi:type="dcterms:W3CDTF">2026-10-22T08:11:22Z</dcterms:created>
  <dcterms:modified xsi:type="dcterms:W3CDTF">2026-10-23T15:21:05Z</dcterms:modified>
</cp:coreProperties>
</file>