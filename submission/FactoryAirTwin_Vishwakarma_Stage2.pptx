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cation ID" id="{99202F8B-74D5-DC6B-2678-B00341DF7DD6}">
          <p14:sldIdLst>
            <p14:sldId id="256"/>
          </p14:sldIdLst>
        </p14:section>
        <p14:section name="Problem context" id="{90BB3786-8E37-DE85-5F16-5E531ADA4CE3}">
          <p14:sldIdLst>
            <p14:sldId id="257"/>
            <p14:sldId id="258"/>
          </p14:sldIdLst>
        </p14:section>
        <p14:section name="User journey" id="{E340035D-C1C9-E2AC-8F43-052622848698}">
          <p14:sldIdLst>
            <p14:sldId id="259"/>
            <p14:sldId id="260"/>
          </p14:sldIdLst>
        </p14:section>
        <p14:section name="System architecture" id="{DDC5A473-DC6F-045F-FE7C-1CEA697A5F29}">
          <p14:sldIdLst>
            <p14:sldId id="261"/>
            <p14:sldId id="262"/>
          </p14:sldIdLst>
        </p14:section>
        <p14:section name="CAD &amp; mechanical" id="{65B7E918-915A-2176-A6D8-C4E03CB15A96}">
          <p14:sldIdLst>
            <p14:sldId id="263"/>
          </p14:sldIdLst>
        </p14:section>
        <p14:section name="Electronics &amp; BOM" id="{8442C8EA-2AA6-A987-571A-47B18E9E1C4B}">
          <p14:sldIdLst>
            <p14:sldId id="264"/>
          </p14:sldIdLst>
        </p14:section>
        <p14:section name="Maker journey" id="{9B01C999-1BD6-0B5F-D057-28CFDE847D3D}">
          <p14:sldIdLst>
            <p14:sldId id="265"/>
            <p14:sldId id="266"/>
          </p14:sldIdLst>
        </p14:section>
        <p14:section name="Safety &amp; hazard mitigation" id="{07AC9689-DA89-00A6-C08A-0C9D675A3798}">
          <p14:sldIdLst>
            <p14:sldId id="267"/>
          </p14:sldIdLst>
        </p14:section>
        <p14:section name="Roadmap" id="{BFD5206A-8D93-ADFF-03C1-4A1B2BE5471F}">
          <p14:sldIdLst>
            <p14:sldId id="268"/>
          </p14:sldIdLst>
        </p14:section>
        <p14:section name="Technical challenges &amp; risks" id="{CB054CB8-9446-B8B9-BA69-B15DCD8C49F9}">
          <p14:sldIdLst>
            <p14:sldId id="269"/>
            <p14:sldId id="270"/>
          </p14:sldIdLst>
        </p14:section>
        <p14:section name="References" id="{66AE2312-A197-F653-E372-5663F5603EE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A6F"/>
    <a:srgbClr val="8C97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US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Nightly leak test, % of compressor capacity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Leak, % of capacity</c:v>
                </c:pt>
              </c:strCache>
            </c:strRef>
          </c:tx>
          <c:spPr>
            <a:ln w="38100" cap="flat">
              <a:solidFill>
                <a:srgbClr val="1C6A96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Mon 1</c:v>
                </c:pt>
                <c:pt idx="1">
                  <c:v>Tue 2</c:v>
                </c:pt>
                <c:pt idx="2">
                  <c:v>Wed 3</c:v>
                </c:pt>
                <c:pt idx="3">
                  <c:v>Thu 4</c:v>
                </c:pt>
                <c:pt idx="4">
                  <c:v>Fri 5</c:v>
                </c:pt>
                <c:pt idx="5">
                  <c:v>Sat 6</c:v>
                </c:pt>
                <c:pt idx="6">
                  <c:v>Sun 7</c:v>
                </c:pt>
                <c:pt idx="7">
                  <c:v>Mon 8</c:v>
                </c:pt>
                <c:pt idx="8">
                  <c:v>Tue 9</c:v>
                </c:pt>
                <c:pt idx="9">
                  <c:v>Wed 10</c:v>
                </c:pt>
                <c:pt idx="10">
                  <c:v>Thu 11</c:v>
                </c:pt>
                <c:pt idx="11">
                  <c:v>Fri 12</c:v>
                </c:pt>
                <c:pt idx="12">
                  <c:v>Sat 13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7.3</c:v>
                </c:pt>
                <c:pt idx="1">
                  <c:v>7.4</c:v>
                </c:pt>
                <c:pt idx="2">
                  <c:v>7.5</c:v>
                </c:pt>
                <c:pt idx="3">
                  <c:v>22</c:v>
                </c:pt>
                <c:pt idx="4">
                  <c:v>22.1</c:v>
                </c:pt>
                <c:pt idx="5">
                  <c:v>22.1</c:v>
                </c:pt>
                <c:pt idx="6">
                  <c:v>22.2</c:v>
                </c:pt>
                <c:pt idx="7">
                  <c:v>22.3</c:v>
                </c:pt>
                <c:pt idx="8">
                  <c:v>22.4</c:v>
                </c:pt>
                <c:pt idx="9">
                  <c:v>22.5</c:v>
                </c:pt>
                <c:pt idx="10">
                  <c:v>8.1999999999999993</c:v>
                </c:pt>
                <c:pt idx="11">
                  <c:v>8.1999999999999993</c:v>
                </c:pt>
                <c:pt idx="12">
                  <c:v>8.3000000000000007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63-4BBE-8FEF-E89E6A47A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IN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the ₹6,100 goes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6A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87F-41B2-82A0-61B3FE35780B}"/>
              </c:ext>
            </c:extLst>
          </c:dPt>
          <c:dPt>
            <c:idx val="1"/>
            <c:bubble3D val="0"/>
            <c:spPr>
              <a:solidFill>
                <a:srgbClr val="0F273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87F-41B2-82A0-61B3FE35780B}"/>
              </c:ext>
            </c:extLst>
          </c:dPt>
          <c:dPt>
            <c:idx val="2"/>
            <c:bubble3D val="0"/>
            <c:spPr>
              <a:solidFill>
                <a:srgbClr val="F2A5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87F-41B2-82A0-61B3FE35780B}"/>
              </c:ext>
            </c:extLst>
          </c:dPt>
          <c:dPt>
            <c:idx val="3"/>
            <c:bubble3D val="0"/>
            <c:spPr>
              <a:solidFill>
                <a:srgbClr val="7FC4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87F-41B2-82A0-61B3FE35780B}"/>
              </c:ext>
            </c:extLst>
          </c:dPt>
          <c:dPt>
            <c:idx val="4"/>
            <c:bubble3D val="0"/>
            <c:spPr>
              <a:solidFill>
                <a:srgbClr val="5A6A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87F-41B2-82A0-61B3FE35780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7F-41B2-82A0-61B3FE35780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87F-41B2-82A0-61B3FE35780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87F-41B2-82A0-61B3FE35780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87F-41B2-82A0-61B3FE35780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87F-41B2-82A0-61B3FE3578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Sensors</c:v>
                </c:pt>
                <c:pt idx="1">
                  <c:v>Controller + ADC</c:v>
                </c:pt>
                <c:pt idx="2">
                  <c:v>Power</c:v>
                </c:pt>
                <c:pt idx="3">
                  <c:v>Enclosure + fittings</c:v>
                </c:pt>
                <c:pt idx="4">
                  <c:v>Storage + protection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2250</c:v>
                </c:pt>
                <c:pt idx="1">
                  <c:v>1150</c:v>
                </c:pt>
                <c:pt idx="2">
                  <c:v>1100</c:v>
                </c:pt>
                <c:pt idx="3">
                  <c:v>1050</c:v>
                </c:pt>
                <c:pt idx="4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87F-41B2-82A0-61B3FE3578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0F2730"/>
              </a:solidFill>
              <a:latin typeface="Times New Roman" panose="02020603050405020304" pitchFamily="18" charset="0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US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30 unseen plants: estimated vs hidden true leak (m³/min)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leak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0.27139999999999997</c:v>
                </c:pt>
                <c:pt idx="1">
                  <c:v>0.14749999999999999</c:v>
                </c:pt>
                <c:pt idx="2">
                  <c:v>0.2019</c:v>
                </c:pt>
                <c:pt idx="3">
                  <c:v>0.28000000000000003</c:v>
                </c:pt>
                <c:pt idx="4">
                  <c:v>0.30499999999999999</c:v>
                </c:pt>
                <c:pt idx="5">
                  <c:v>5.0599999999999999E-2</c:v>
                </c:pt>
                <c:pt idx="6">
                  <c:v>6.8900000000000003E-2</c:v>
                </c:pt>
                <c:pt idx="7">
                  <c:v>0.14799999999999999</c:v>
                </c:pt>
                <c:pt idx="8">
                  <c:v>0.1489</c:v>
                </c:pt>
                <c:pt idx="9">
                  <c:v>0.18790000000000001</c:v>
                </c:pt>
                <c:pt idx="10">
                  <c:v>0.24479999999999999</c:v>
                </c:pt>
                <c:pt idx="11">
                  <c:v>0.23100000000000001</c:v>
                </c:pt>
                <c:pt idx="12">
                  <c:v>0.27860000000000001</c:v>
                </c:pt>
                <c:pt idx="13">
                  <c:v>0.30470000000000003</c:v>
                </c:pt>
                <c:pt idx="14">
                  <c:v>0.25419999999999998</c:v>
                </c:pt>
                <c:pt idx="15">
                  <c:v>0.26329999999999998</c:v>
                </c:pt>
                <c:pt idx="16">
                  <c:v>0.15820000000000001</c:v>
                </c:pt>
                <c:pt idx="17">
                  <c:v>0.1605</c:v>
                </c:pt>
                <c:pt idx="18">
                  <c:v>0.26319999999999999</c:v>
                </c:pt>
                <c:pt idx="19">
                  <c:v>0.23080000000000001</c:v>
                </c:pt>
                <c:pt idx="20">
                  <c:v>0.26629999999999998</c:v>
                </c:pt>
                <c:pt idx="21">
                  <c:v>0.1333</c:v>
                </c:pt>
                <c:pt idx="22">
                  <c:v>3.3099999999999997E-2</c:v>
                </c:pt>
                <c:pt idx="23">
                  <c:v>0.2009</c:v>
                </c:pt>
                <c:pt idx="24">
                  <c:v>0.29849999999999999</c:v>
                </c:pt>
                <c:pt idx="25">
                  <c:v>0.246</c:v>
                </c:pt>
                <c:pt idx="26">
                  <c:v>0.1623</c:v>
                </c:pt>
                <c:pt idx="27">
                  <c:v>5.2900000000000003E-2</c:v>
                </c:pt>
                <c:pt idx="28">
                  <c:v>0.1152</c:v>
                </c:pt>
                <c:pt idx="29">
                  <c:v>0.13500000000000001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0.27550000000000002</c:v>
                </c:pt>
                <c:pt idx="1">
                  <c:v>0.14449999999999999</c:v>
                </c:pt>
                <c:pt idx="2">
                  <c:v>0.2034</c:v>
                </c:pt>
                <c:pt idx="3">
                  <c:v>0.29509999999999997</c:v>
                </c:pt>
                <c:pt idx="4">
                  <c:v>0.31809999999999999</c:v>
                </c:pt>
                <c:pt idx="5">
                  <c:v>4.9099999999999998E-2</c:v>
                </c:pt>
                <c:pt idx="6">
                  <c:v>6.9699999999999998E-2</c:v>
                </c:pt>
                <c:pt idx="7">
                  <c:v>0.1474</c:v>
                </c:pt>
                <c:pt idx="8">
                  <c:v>0.15040000000000001</c:v>
                </c:pt>
                <c:pt idx="9">
                  <c:v>0.19040000000000001</c:v>
                </c:pt>
                <c:pt idx="10">
                  <c:v>0.2419</c:v>
                </c:pt>
                <c:pt idx="11">
                  <c:v>0.2341</c:v>
                </c:pt>
                <c:pt idx="12">
                  <c:v>0.28349999999999997</c:v>
                </c:pt>
                <c:pt idx="13">
                  <c:v>0.30349999999999999</c:v>
                </c:pt>
                <c:pt idx="14">
                  <c:v>0.25430000000000003</c:v>
                </c:pt>
                <c:pt idx="15">
                  <c:v>0.26979999999999998</c:v>
                </c:pt>
                <c:pt idx="16">
                  <c:v>0.1583</c:v>
                </c:pt>
                <c:pt idx="17">
                  <c:v>0.1676</c:v>
                </c:pt>
                <c:pt idx="18">
                  <c:v>0.26600000000000001</c:v>
                </c:pt>
                <c:pt idx="19">
                  <c:v>0.22789999999999999</c:v>
                </c:pt>
                <c:pt idx="20">
                  <c:v>0.25929999999999997</c:v>
                </c:pt>
                <c:pt idx="21">
                  <c:v>0.1336</c:v>
                </c:pt>
                <c:pt idx="22">
                  <c:v>3.39E-2</c:v>
                </c:pt>
                <c:pt idx="23">
                  <c:v>0.2031</c:v>
                </c:pt>
                <c:pt idx="24">
                  <c:v>0.29970000000000002</c:v>
                </c:pt>
                <c:pt idx="25">
                  <c:v>0.25409999999999999</c:v>
                </c:pt>
                <c:pt idx="26">
                  <c:v>0.15859999999999999</c:v>
                </c:pt>
                <c:pt idx="27">
                  <c:v>5.1900000000000002E-2</c:v>
                </c:pt>
                <c:pt idx="28">
                  <c:v>0.1139</c:v>
                </c:pt>
                <c:pt idx="29">
                  <c:v>0.14169999999999999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872-46CC-8120-0491660BF0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35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IN"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hidden true leak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3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IN"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estimated</a:t>
                </a:r>
              </a:p>
            </c:rich>
          </c:tx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379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TITLE">
    <p:bg>
      <p:bgPr>
        <a:solidFill>
          <a:srgbClr val="0F2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2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9.png"/><Relationship Id="rId9" Type="http://schemas.openxmlformats.org/officeDocument/2006/relationships/image" Target="../media/image2.png"/><Relationship Id="rId10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1.png"/><Relationship Id="rId6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7.png"/><Relationship Id="rId4" Type="http://schemas.openxmlformats.org/officeDocument/2006/relationships/image" Target="../media/image39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4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33.png"/><Relationship Id="rId8" Type="http://schemas.openxmlformats.org/officeDocument/2006/relationships/image" Target="../media/image58.png"/><Relationship Id="rId9" Type="http://schemas.openxmlformats.org/officeDocument/2006/relationships/image" Target="../media/image59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Relationship Id="rId7" Type="http://schemas.openxmlformats.org/officeDocument/2006/relationships/chart" Target="../charts/chart3.xml"/><Relationship Id="rId8" Type="http://schemas.openxmlformats.org/officeDocument/2006/relationships/image" Target="../media/image6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43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Relationship Id="rId4" Type="http://schemas.openxmlformats.org/officeDocument/2006/relationships/image" Target="../media/image62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33.png"/><Relationship Id="rId9" Type="http://schemas.openxmlformats.org/officeDocument/2006/relationships/image" Target="../media/image68.png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Vishwakarma Application ID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2A51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VK26-IITI-AHM-0210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FactoryAir Twin</a:t>
            </a:r>
            <a:endParaRPr lang="en-US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6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14" y="304129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141732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+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10" name="Image 1" descr="Bol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94" y="304129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power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274320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291840" y="2880360"/>
            <a:ext cx="731520" cy="73152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4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774" y="3041294"/>
            <a:ext cx="409651" cy="4096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0896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twin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06908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4617720" y="2880360"/>
            <a:ext cx="731520" cy="73152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8" name="Image 3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8654" y="3041294"/>
            <a:ext cx="409651" cy="4096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3484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saving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42062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Volts and Bolts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Track: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in Hardware &amp; Manufacturing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members: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Suheerthan S, Saai Varshan S, </a:t>
            </a:r>
            <a:r>
              <a:rPr lang="en-US" sz="1500" dirty="0" err="1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Neeljaynagasiva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 N, Santhosh R, Raimon I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Institution: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Easwari Engineering College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Faculty mentor: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 Sathiyamoorthy R M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CC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Stage 2 · Design Development · October 2026 · figures from simulation unless marked real data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Image 4" descr="FactoryAir Twin plant overview scree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1234440"/>
            <a:ext cx="5257800" cy="3286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4630293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CC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Working software prototype: plant overview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 factories pay for compressed air they never use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Problem context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035040" cy="3154680"/>
          </a:xfrm>
          <a:prstGeom prst="roundRect">
            <a:avLst>
              <a:gd name="adj" fmla="val 2899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6" name="Image 0" descr="Engin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23902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compressor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920240" y="2697480"/>
            <a:ext cx="4206240" cy="0"/>
          </a:xfrm>
          <a:prstGeom prst="line">
            <a:avLst/>
          </a:prstGeom>
          <a:noFill/>
          <a:ln w="114300">
            <a:solidFill>
              <a:srgbClr val="7FC4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1752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0" name="Image 1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3154680"/>
            <a:ext cx="566928" cy="5669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5196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2" name="Image 2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3154680"/>
            <a:ext cx="566928" cy="56692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48640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4" name="Image 3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3154680"/>
            <a:ext cx="566928" cy="566928"/>
          </a:xfrm>
          <a:prstGeom prst="rect">
            <a:avLst/>
          </a:prstGeom>
        </p:spPr>
      </p:pic>
      <p:pic>
        <p:nvPicPr>
          <p:cNvPr id="15" name="Image 4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2148840"/>
            <a:ext cx="457200" cy="457200"/>
          </a:xfrm>
          <a:prstGeom prst="rect">
            <a:avLst/>
          </a:prstGeom>
        </p:spPr>
      </p:pic>
      <p:pic>
        <p:nvPicPr>
          <p:cNvPr id="16" name="Image 5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057400"/>
            <a:ext cx="457200" cy="457200"/>
          </a:xfrm>
          <a:prstGeom prst="rect">
            <a:avLst/>
          </a:prstGeom>
        </p:spPr>
      </p:pic>
      <p:pic>
        <p:nvPicPr>
          <p:cNvPr id="17" name="Image 6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194560"/>
            <a:ext cx="457200" cy="457200"/>
          </a:xfrm>
          <a:prstGeom prst="rect">
            <a:avLst/>
          </a:prstGeom>
        </p:spPr>
      </p:pic>
      <p:pic>
        <p:nvPicPr>
          <p:cNvPr id="18" name="Image 7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103120"/>
            <a:ext cx="457200" cy="457200"/>
          </a:xfrm>
          <a:prstGeom prst="rect">
            <a:avLst/>
          </a:prstGeom>
        </p:spPr>
      </p:pic>
      <p:sp>
        <p:nvSpPr>
          <p:cNvPr id="19" name="Shape 9"/>
          <p:cNvSpPr/>
          <p:nvPr/>
        </p:nvSpPr>
        <p:spPr>
          <a:xfrm>
            <a:off x="5852160" y="1417320"/>
            <a:ext cx="548640" cy="54864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20" name="Image 8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2861" y="1538021"/>
            <a:ext cx="307238" cy="307238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Leaks hiss away day and night; no meter shows 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1"/>
          <p:cNvSpPr txBox="1"/>
          <p:nvPr/>
        </p:nvSpPr>
        <p:spPr>
          <a:xfrm>
            <a:off x="27432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2"/>
          <p:cNvSpPr/>
          <p:nvPr/>
        </p:nvSpPr>
        <p:spPr>
          <a:xfrm>
            <a:off x="6858000" y="1234440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7040880" y="14356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25" name="Image 9" descr="Wind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604" y="1560332"/>
            <a:ext cx="317480" cy="31748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754112" y="13258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20–30%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7726680" y="1746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compressor output is often lost to leaks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16"/>
          <p:cNvSpPr txBox="1"/>
          <p:nvPr/>
        </p:nvSpPr>
        <p:spPr>
          <a:xfrm>
            <a:off x="7754112" y="207568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DOE sourcebook [1]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6858000" y="2304288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7040880" y="2505456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1" name="Image 10" descr="Bol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5604" y="2630180"/>
            <a:ext cx="317480" cy="317480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7754112" y="239572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~10%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0"/>
          <p:cNvSpPr txBox="1"/>
          <p:nvPr/>
        </p:nvSpPr>
        <p:spPr>
          <a:xfrm>
            <a:off x="7726680" y="2816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industrial electricity makes compressed 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21"/>
          <p:cNvSpPr txBox="1"/>
          <p:nvPr/>
        </p:nvSpPr>
        <p:spPr>
          <a:xfrm>
            <a:off x="7754112" y="31455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DOE sourcebook [1]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22"/>
          <p:cNvSpPr/>
          <p:nvPr/>
        </p:nvSpPr>
        <p:spPr>
          <a:xfrm>
            <a:off x="6858000" y="3374136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6" name="Shape 23"/>
          <p:cNvSpPr/>
          <p:nvPr/>
        </p:nvSpPr>
        <p:spPr>
          <a:xfrm>
            <a:off x="7040880" y="3575304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7" name="Image 11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604" y="3700028"/>
            <a:ext cx="317480" cy="317480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754112" y="34655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36%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25"/>
          <p:cNvSpPr txBox="1"/>
          <p:nvPr/>
        </p:nvSpPr>
        <p:spPr>
          <a:xfrm>
            <a:off x="7726680" y="38862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the demo plant's compressor bill buys no useful 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26"/>
          <p:cNvSpPr txBox="1"/>
          <p:nvPr/>
        </p:nvSpPr>
        <p:spPr>
          <a:xfrm>
            <a:off x="8043361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 Twin, simulated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27"/>
          <p:cNvSpPr/>
          <p:nvPr/>
        </p:nvSpPr>
        <p:spPr>
          <a:xfrm>
            <a:off x="548640" y="46634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2" name="Image 12" descr="Users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" y="4814316"/>
            <a:ext cx="384048" cy="384048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1371600" y="4617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Who suffers: </a:t>
            </a: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MSME foundries, machine shops, textile and packaging units with one or two 5–30 kW compressors, an owner, one technician and no energy manager.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9"/>
          <p:cNvSpPr/>
          <p:nvPr/>
        </p:nvSpPr>
        <p:spPr>
          <a:xfrm>
            <a:off x="6858000" y="466344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45" name="Image 13" descr="Bulb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8876" y="4814316"/>
            <a:ext cx="384048" cy="384048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7680960" y="4617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Core innovation: </a:t>
            </a: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nightly load/unload leak test on pressure + power that teaches the twin each plant — no flow meter.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31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ID - </a:t>
            </a: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VK26-IITI-AHM-0210</a:t>
            </a:r>
            <a:r>
              <a:rPr lang="en-US" sz="13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 ·   </a:t>
            </a: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Track -</a:t>
            </a:r>
            <a:r>
              <a:rPr lang="en-US" sz="13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in Hardware &amp; Manufacturing</a:t>
            </a:r>
            <a:endParaRPr lang="en-US" sz="1300" dirty="0">
              <a:solidFill>
                <a:srgbClr val="5A6A6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Today's options are too rare, too costly or brand-locked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Problem context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446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ClipboardLis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28" y="1709928"/>
            <a:ext cx="512064" cy="5120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8026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8" name="Image 1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751" y="1501811"/>
            <a:ext cx="215067" cy="2150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Annual leak survey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3152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Once a year. Leaks return in weeks; the repair is never checked.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367735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13555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2" descr="Gaug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723" y="1709928"/>
            <a:ext cx="512064" cy="51206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899355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15" name="Image 3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846" y="1501811"/>
            <a:ext cx="215067" cy="21506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504895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Inline flow meter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3550615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Pipe cutting and a shutdown. Says how much, not where.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18683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03265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0" name="Image 4" descr="Loc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3818" y="1709928"/>
            <a:ext cx="512064" cy="51206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71845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2" name="Image 5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2941" y="1501811"/>
            <a:ext cx="215067" cy="21506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32399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Maker's monitoring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6"/>
          <p:cNvSpPr txBox="1"/>
          <p:nvPr/>
        </p:nvSpPr>
        <p:spPr>
          <a:xfrm>
            <a:off x="636971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Only that brand's newer machines. Mixed rooms left out.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005926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851746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7" name="Image 6" descr="Receip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2914" y="1709928"/>
            <a:ext cx="512064" cy="512064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10537546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9" name="Image 7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2036" y="1501811"/>
            <a:ext cx="215067" cy="215067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9143086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Electricity bill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1"/>
          <p:cNvSpPr txBox="1"/>
          <p:nvPr/>
        </p:nvSpPr>
        <p:spPr>
          <a:xfrm>
            <a:off x="9188806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month late. Cannot tell production from waste.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548640" y="425196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822960" y="4663440"/>
            <a:ext cx="1097280" cy="10972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4" name="Image 8" descr="CircleCheck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362" y="4904842"/>
            <a:ext cx="614477" cy="61447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148840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FactoryAir Twin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6" name="Image 9" descr="PlugConnected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5074920"/>
            <a:ext cx="502920" cy="5029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71576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Clip-on, any brand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Image 10" descr="MoonStar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360" y="5074920"/>
            <a:ext cx="502920" cy="50292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459028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Tests every night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Image 11" descr="MapPin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97880" y="5074920"/>
            <a:ext cx="502920" cy="5029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6480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Finds the zone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2" name="Image 12" descr="CurrencyRupee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5074920"/>
            <a:ext cx="502920" cy="50292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33932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Prices it in ₹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Image 13" descr="Checks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6920" y="5074920"/>
            <a:ext cx="502920" cy="50292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1021384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Verifies the repair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Before: one failed coupling costs money for weeks unseen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User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655064" y="2217420"/>
            <a:ext cx="8851392" cy="0"/>
          </a:xfrm>
          <a:prstGeom prst="line">
            <a:avLst/>
          </a:prstGeom>
          <a:noFill/>
          <a:ln w="31750">
            <a:solidFill>
              <a:srgbClr val="D9DEE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Thu 14:24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165860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0724" y="1783080"/>
            <a:ext cx="868680" cy="86868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8" name="Image 0" descr="Tool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834" y="1974190"/>
            <a:ext cx="486461" cy="48646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hose coupling fails in the assembly bay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2761488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day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78708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33572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1" descr="Win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4682" y="1974190"/>
            <a:ext cx="486461" cy="48646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Air hisses out; the compressor loads more often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4974336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~30 days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591556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6420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8" name="Image 2" descr="Receip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530" y="1974190"/>
            <a:ext cx="486461" cy="48646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bill rises; the owner blames an old machine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7187184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Months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804404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859268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3" name="Image 3" descr="CalendarEven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378" y="1974190"/>
            <a:ext cx="486461" cy="48646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Maybe the annual survey finds it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9400032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3A2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After repair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10017252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072116" y="1783080"/>
            <a:ext cx="868680" cy="868680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8" name="Image 4" descr="QuestionMar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3226" y="1974190"/>
            <a:ext cx="486461" cy="48646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Nobody checks the fix held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Quantified inefficiency · demo plant, 14-day twin (simulated)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548640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731520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3" name="Image 5" descr="CurrencyRupe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244" y="4623572"/>
            <a:ext cx="317480" cy="31748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44752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₹5,580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7"/>
          <p:cNvSpPr txBox="1"/>
          <p:nvPr/>
        </p:nvSpPr>
        <p:spPr>
          <a:xfrm>
            <a:off x="1444752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 month added by the one failed coupling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3355848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538728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8" name="Image 6" descr="Win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452" y="4623572"/>
            <a:ext cx="317480" cy="31748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251960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22.5%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1"/>
          <p:cNvSpPr txBox="1"/>
          <p:nvPr/>
        </p:nvSpPr>
        <p:spPr>
          <a:xfrm>
            <a:off x="4251960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compressor capacity leaking on the worst night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32"/>
          <p:cNvSpPr/>
          <p:nvPr/>
        </p:nvSpPr>
        <p:spPr>
          <a:xfrm>
            <a:off x="6163056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6345936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3" name="Image 7" descr="Bolt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0660" y="4623572"/>
            <a:ext cx="317480" cy="317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059168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8.3%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7059168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electricity spent running unloaded (₹1,094/month)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36"/>
          <p:cNvSpPr/>
          <p:nvPr/>
        </p:nvSpPr>
        <p:spPr>
          <a:xfrm>
            <a:off x="8970264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9153144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8" name="Image 8" descr="Hourglas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7868" y="4623572"/>
            <a:ext cx="317480" cy="3174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866376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~30 days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 39"/>
          <p:cNvSpPr txBox="1"/>
          <p:nvPr/>
        </p:nvSpPr>
        <p:spPr>
          <a:xfrm>
            <a:off x="9866376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before the bill gives the first signal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After: found overnight, located at lunch, verified next night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User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655064" y="2080260"/>
            <a:ext cx="8851392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23:00–05:00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211580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6444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MoonStars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437" y="1862633"/>
            <a:ext cx="435254" cy="4352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Nightly leak test on pressure + power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2761488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06:00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424428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9292" y="1691640"/>
            <a:ext cx="777240" cy="77724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13" name="Image 1" descr="BrandWhatsapp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285" y="1862633"/>
            <a:ext cx="435254" cy="43525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Alert: +₹5,580/month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4974336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Lunch break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637276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2140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3133" y="1862633"/>
            <a:ext cx="435254" cy="43525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Hunter: Bay 2 = 58%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7187184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day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850124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904988" y="169164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3" name="Image 3" descr="Tool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5981" y="1862633"/>
            <a:ext cx="435254" cy="43525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Ticket, repair done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9400032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Next night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10062972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117836" y="1691640"/>
            <a:ext cx="777240" cy="7772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8" name="Image 4" descr="Circle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8829" y="1862633"/>
            <a:ext cx="435254" cy="43525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Saving measured, not promised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0" name="Chart 0"/>
          <p:cNvGraphicFramePr/>
          <p:nvPr>
            <p:extLst>
              <p:ext uri="{D42A27DB-BD31-4B8C-83A1-F6EECF244321}">
                <p14:modId xmlns:p14="http://schemas.microsoft.com/office/powerpoint/2010/main" val="1287019058"/>
              </p:ext>
            </p:extLst>
          </p:nvPr>
        </p:nvGraphicFramePr>
        <p:xfrm>
          <a:off x="548640" y="3429000"/>
          <a:ext cx="60350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178308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new leak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89204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repaired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681228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99516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5" name="Image 5" descr="Clock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9884" y="3754892"/>
            <a:ext cx="317480" cy="3174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70839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 night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28"/>
          <p:cNvSpPr txBox="1"/>
          <p:nvPr/>
        </p:nvSpPr>
        <p:spPr>
          <a:xfrm>
            <a:off x="770839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detect, vs ~30 days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9"/>
          <p:cNvSpPr/>
          <p:nvPr/>
        </p:nvSpPr>
        <p:spPr>
          <a:xfrm>
            <a:off x="928116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46404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0" name="Image 6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764" y="3754892"/>
            <a:ext cx="317480" cy="31748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17727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~15 min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32"/>
          <p:cNvSpPr txBox="1"/>
          <p:nvPr/>
        </p:nvSpPr>
        <p:spPr>
          <a:xfrm>
            <a:off x="1017727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locate the zone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681228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995160" y="509320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5" name="Image 7" descr="Check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9884" y="5217932"/>
            <a:ext cx="317480" cy="31748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70839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₹5,453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36"/>
          <p:cNvSpPr txBox="1"/>
          <p:nvPr/>
        </p:nvSpPr>
        <p:spPr>
          <a:xfrm>
            <a:off x="770839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repair saving, measured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928116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9464040" y="50932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50" name="Image 8" descr="Flam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88764" y="5217932"/>
            <a:ext cx="317480" cy="3174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1017727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₹7,414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40"/>
          <p:cNvSpPr txBox="1"/>
          <p:nvPr/>
        </p:nvSpPr>
        <p:spPr>
          <a:xfrm>
            <a:off x="1017727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LPG saved by heat recovery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block diagram: two signals in, a verified saving out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System architecture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122" y="17044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Sensing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4–20 mA pressure on the gauge port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Clip-on CT on one phase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Machine-on contact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99008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8328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2336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2" name="Image 1" descr="Cpu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4762" y="1704442"/>
            <a:ext cx="614477" cy="61447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Electronics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356616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ADS1115 16-bit ADC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ESP32-S3, Wi-Fi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→ 5 V, microSD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82472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Cod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402" y="1704442"/>
            <a:ext cx="614477" cy="61447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93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Firmware (1 Hz)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40080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 → bar, CT → kW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Drop invalid frames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Batch → REST / MQTT, SD spool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65936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05256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692640" y="14630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4" name="Image 3" descr="DeviceLaptop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4042" y="1704442"/>
            <a:ext cx="614477" cy="61447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Twin software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0"/>
          <p:cNvSpPr txBox="1"/>
          <p:nvPr/>
        </p:nvSpPr>
        <p:spPr>
          <a:xfrm>
            <a:off x="923544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 + sensor health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Rules + ML + self-calibration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Hunter, tickets, report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283464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 / mV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566928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I²C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3"/>
          <p:cNvSpPr txBox="1"/>
          <p:nvPr/>
        </p:nvSpPr>
        <p:spPr>
          <a:xfrm>
            <a:off x="850392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Wi-Fi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77240" y="530352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2" name="Image 4" descr="Shield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" y="5454396"/>
            <a:ext cx="384048" cy="38404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45920" y="51206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Read-only by design. </a:t>
            </a:r>
            <a:r>
              <a:rPr lang="en-US" sz="16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flow meter, nothing cut or shut down, and no output stage: the node physically cannot command the compressor. Everything after the ADC already runs today as the virtual edge node.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specifications and hardware selection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System architecture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375080"/>
              </p:ext>
            </p:extLst>
          </p:nvPr>
        </p:nvGraphicFramePr>
        <p:xfrm>
          <a:off x="548640" y="1280160"/>
          <a:ext cx="6035040" cy="351129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Parameter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Target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Selected hardware / protocol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Sampling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 Hz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ESP32-S3 + ADS1115 (860 SPS)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Pressure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0–16 bar, ±0.5 % FS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4–20 mA transmitter, 165 Ω shunt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Motor power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0–30 A RMS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SCT-013-030 split-core CT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Data link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10-frame batches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Wi-Fi REST; MQTT optional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Buffer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 h offline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microSD spool, replay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Enclosure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IP65, DIN rail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PC/ABS box, PG glands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 / site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&lt; ₹10,000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≈ ₹6,100 indicative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5" name="Image 0" descr="Screenshot of the calibration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4754880" cy="2971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858000" y="1280160"/>
            <a:ext cx="4754880" cy="29718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858000" y="4297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Self-calibration screen: storage, leak and specific power learned from pressure + power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4864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0" name="Image 1" descr="TargetArrow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244" y="5263652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4475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1.8%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144475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 leak error on 30 unseen plants (target ±10%)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429768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48056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5" name="Image 2" descr="Check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5284" y="5263652"/>
            <a:ext cx="317480" cy="3174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19379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30/30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519379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plants within ±10% · storage error 1.9%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8046720" y="49377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0" y="513892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0" name="Image 3" descr="MoonStar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4324" y="526365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42832" y="502920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 night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5"/>
          <p:cNvSpPr txBox="1"/>
          <p:nvPr/>
        </p:nvSpPr>
        <p:spPr>
          <a:xfrm>
            <a:off x="8942832" y="5577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from a new leak to an alert (14-day twin)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Mechanical design: a sealed box and a safe pressure tap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CAD &amp; mechanical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2971800"/>
          </a:xfrm>
          <a:prstGeom prst="roundRect">
            <a:avLst>
              <a:gd name="adj" fmla="val 3077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Enclosure layout (concept, not CAD)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474720" cy="109728"/>
          </a:xfrm>
          <a:prstGeom prst="rect">
            <a:avLst/>
          </a:prstGeom>
          <a:solidFill>
            <a:srgbClr val="9AA6AA"/>
          </a:solidFill>
          <a:ln w="12700">
            <a:solidFill>
              <a:srgbClr val="9AA6A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2194560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8" name="Image 0" descr="Bol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2286000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432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PSU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737360" y="2194560"/>
            <a:ext cx="731520" cy="10058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ArrowsDown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2286000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27432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 V buck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2560320" y="2194560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Cpu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972" y="228600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606040" y="2743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 + ADC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2560320" y="3291840"/>
            <a:ext cx="86868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2560320" y="32918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91440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141732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192024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2377440" y="38130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PG7 glands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48640" y="443484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 txBox="1"/>
          <p:nvPr/>
        </p:nvSpPr>
        <p:spPr>
          <a:xfrm>
            <a:off x="685800" y="4507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tap (concept)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31520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 txBox="1"/>
          <p:nvPr/>
        </p:nvSpPr>
        <p:spPr>
          <a:xfrm>
            <a:off x="731520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Gauge port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1"/>
          <p:cNvSpPr txBox="1"/>
          <p:nvPr/>
        </p:nvSpPr>
        <p:spPr>
          <a:xfrm>
            <a:off x="1517904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1664208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 txBox="1"/>
          <p:nvPr/>
        </p:nvSpPr>
        <p:spPr>
          <a:xfrm>
            <a:off x="1664208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G¼ tee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2450592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2596896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 txBox="1"/>
          <p:nvPr/>
        </p:nvSpPr>
        <p:spPr>
          <a:xfrm>
            <a:off x="2596896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Ball valve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7"/>
          <p:cNvSpPr txBox="1"/>
          <p:nvPr/>
        </p:nvSpPr>
        <p:spPr>
          <a:xfrm>
            <a:off x="3383280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8"/>
          <p:cNvSpPr/>
          <p:nvPr/>
        </p:nvSpPr>
        <p:spPr>
          <a:xfrm>
            <a:off x="3529584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34" name="Text 29"/>
          <p:cNvSpPr txBox="1"/>
          <p:nvPr/>
        </p:nvSpPr>
        <p:spPr>
          <a:xfrm>
            <a:off x="3529584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Transmitter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475488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36" name="Shape 31"/>
          <p:cNvSpPr/>
          <p:nvPr/>
        </p:nvSpPr>
        <p:spPr>
          <a:xfrm>
            <a:off x="553212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37" name="Image 3" descr="Box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2938" y="1558138"/>
            <a:ext cx="358445" cy="35844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84632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Enclosure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3"/>
          <p:cNvSpPr txBox="1"/>
          <p:nvPr/>
        </p:nvSpPr>
        <p:spPr>
          <a:xfrm>
            <a:off x="484632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PC/ABS IP65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4"/>
          <p:cNvSpPr txBox="1"/>
          <p:nvPr/>
        </p:nvSpPr>
        <p:spPr>
          <a:xfrm>
            <a:off x="486460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non-conductive, light, ≈ ₹700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708660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42" name="Shape 36"/>
          <p:cNvSpPr/>
          <p:nvPr/>
        </p:nvSpPr>
        <p:spPr>
          <a:xfrm>
            <a:off x="786384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43" name="Image 4" descr="ArrowsJoi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4658" y="1558138"/>
            <a:ext cx="358445" cy="35844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717804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fittings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38"/>
          <p:cNvSpPr txBox="1"/>
          <p:nvPr/>
        </p:nvSpPr>
        <p:spPr>
          <a:xfrm>
            <a:off x="717804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Brass G¼, ≥ 16 bar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 39"/>
          <p:cNvSpPr txBox="1"/>
          <p:nvPr/>
        </p:nvSpPr>
        <p:spPr>
          <a:xfrm>
            <a:off x="719632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over 2× the 7.4 bar band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Shape 40"/>
          <p:cNvSpPr/>
          <p:nvPr/>
        </p:nvSpPr>
        <p:spPr>
          <a:xfrm>
            <a:off x="941832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48" name="Shape 41"/>
          <p:cNvSpPr/>
          <p:nvPr/>
        </p:nvSpPr>
        <p:spPr>
          <a:xfrm>
            <a:off x="1019556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49" name="Image 5" descr="LayoutBoardSpli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36378" y="1558138"/>
            <a:ext cx="358445" cy="35844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950976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Mounting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 43"/>
          <p:cNvSpPr txBox="1"/>
          <p:nvPr/>
        </p:nvSpPr>
        <p:spPr>
          <a:xfrm>
            <a:off x="950976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Steel DIN rail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44"/>
          <p:cNvSpPr txBox="1"/>
          <p:nvPr/>
        </p:nvSpPr>
        <p:spPr>
          <a:xfrm>
            <a:off x="952804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the panel wall, off the vibrating frame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hape 45"/>
          <p:cNvSpPr/>
          <p:nvPr/>
        </p:nvSpPr>
        <p:spPr>
          <a:xfrm>
            <a:off x="4754880" y="3611880"/>
            <a:ext cx="6858000" cy="914400"/>
          </a:xfrm>
          <a:prstGeom prst="roundRect">
            <a:avLst>
              <a:gd name="adj" fmla="val 10000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54" name="Shape 46"/>
          <p:cNvSpPr/>
          <p:nvPr/>
        </p:nvSpPr>
        <p:spPr>
          <a:xfrm>
            <a:off x="4937760" y="3767328"/>
            <a:ext cx="594360" cy="5943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  <p:txBody>
          <a:bodyPr/>
          <a:p/>
        </p:txBody>
      </p:sp>
      <p:pic>
        <p:nvPicPr>
          <p:cNvPr id="55" name="Image 6" descr="Ruler2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8519" y="3898087"/>
            <a:ext cx="332842" cy="332842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715000" y="3611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Stress analysis: </a:t>
            </a:r>
            <a:r>
              <a:rPr lang="en-US" sz="16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load-bearing part at Stage 2; pressure parts are rated fittings. Stage 3 adds a bracket vibration check.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 descr="cad_she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4709160"/>
            <a:ext cx="6858000" cy="1463040"/>
          </a:xfrm>
          <a:prstGeom prst="rect">
            <a:avLst/>
          </a:prstGeom>
          <a:ln>
            <a:solidFill>
              <a:srgbClr val="D9DEE0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Electronics connections and bill of materials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Electronics &amp; BOM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5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904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transmitter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4–20 mA loop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8" name="Image 1" descr="Bol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048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CT SCT-013-030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30 A : 1 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8640" y="31546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1" name="Image 2" descr="PlugConnecte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319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15568" y="31546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Machine-on contact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GND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548640" y="40690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4" name="Image 3" descr="Battery2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2336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15568" y="4069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PSU → 5 V buck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3108960" y="13258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7" name="Image 4" descr="WaveSin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18688" y="1490472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675888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165 Ω shunt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 ADS1115 A0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3108960" y="22402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0" name="Image 5" descr="ChartDot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2404872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675888" y="2240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ADS1115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A1–A3 differential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3108960" y="31546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DCEB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3" name="Image 6" descr="Cpu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8688" y="3319272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3675888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ESP32-S3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SDA 8 · SCL 9 · GPIO 7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6"/>
          <p:cNvSpPr/>
          <p:nvPr/>
        </p:nvSpPr>
        <p:spPr>
          <a:xfrm>
            <a:off x="3108960" y="40690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6" name="Image 7" descr="Database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8688" y="4233672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3675888" y="4069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microSD · CS GPIO 10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2816352" y="15544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2816352" y="24688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2816352" y="33832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2816352" y="42976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5029200"/>
            <a:ext cx="4846320" cy="1143000"/>
          </a:xfrm>
          <a:prstGeom prst="roundRect">
            <a:avLst>
              <a:gd name="adj" fmla="val 80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31520" y="525780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4" name="Image 8" descr="Wifi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" y="5408676"/>
            <a:ext cx="384048" cy="38404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554480" y="502920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Wi-Fi → /api/edge/ingest every 10 s; same frames the software emulator sends today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94605"/>
              </p:ext>
            </p:extLst>
          </p:nvPr>
        </p:nvGraphicFramePr>
        <p:xfrm>
          <a:off x="5715000" y="1325880"/>
          <a:ext cx="3108960" cy="422452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Component (qty 1 each)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≈ ₹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ESP32-S3 DevKitC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ADS1115 ADC module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4–20 mA transmitter 0–16 bar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1,800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SCT-013-030 CT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Shunt, TVS, fuses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 V PSU + 5 V buck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1,100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microSD + 16 GB card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IP65 box, glands, rail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G¼ tee + ball valve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Total (indicative)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6,100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7" name="Chart 0"/>
          <p:cNvGraphicFramePr/>
          <p:nvPr>
            <p:extLst>
              <p:ext uri="{D42A27DB-BD31-4B8C-83A1-F6EECF244321}">
                <p14:modId xmlns:p14="http://schemas.microsoft.com/office/powerpoint/2010/main" val="3628480444"/>
              </p:ext>
            </p:extLst>
          </p:nvPr>
        </p:nvGraphicFramePr>
        <p:xfrm>
          <a:off x="9006840" y="1234440"/>
          <a:ext cx="26517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38" name="Text 25"/>
          <p:cNvSpPr txBox="1"/>
          <p:nvPr/>
        </p:nvSpPr>
        <p:spPr>
          <a:xfrm>
            <a:off x="5715000" y="5669280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All parts sold by Indian online distributors; confirm prices and lead times with quotes.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Maker journey: working software, built and tested by the team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Maker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Screenshot of the gateway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840480" cy="240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pic>
        <p:nvPicPr>
          <p:cNvPr id="6" name="Image 1" descr="Screenshot of the leaks scre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280160"/>
            <a:ext cx="3840480" cy="24003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2628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Live gateway: edge node streaming firmware frames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2628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Hunter: Bay 2 carries 58% of the leakage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54864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3152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18" name="Image 4" descr="BrandGithub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4575658"/>
            <a:ext cx="358445" cy="35844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0876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Repository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3"/>
          <p:cNvSpPr txBox="1"/>
          <p:nvPr/>
        </p:nvSpPr>
        <p:spPr>
          <a:xfrm>
            <a:off x="73152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github.com/Suheerthan/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FactoryAirTwin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33756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352044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3" name="Image 5" descr="Flas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1258" y="4575658"/>
            <a:ext cx="358445" cy="35844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29768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124 tests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7"/>
          <p:cNvSpPr txBox="1"/>
          <p:nvPr/>
        </p:nvSpPr>
        <p:spPr>
          <a:xfrm>
            <a:off x="352044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 slide number reproduced by code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612648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30936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8" name="Image 6" descr="Cpu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178" y="4575658"/>
            <a:ext cx="358445" cy="35844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08660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Firmware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1"/>
          <p:cNvSpPr txBox="1"/>
          <p:nvPr/>
        </p:nvSpPr>
        <p:spPr>
          <a:xfrm>
            <a:off x="630936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factoryair_edge.ino + wiring README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2"/>
          <p:cNvSpPr/>
          <p:nvPr/>
        </p:nvSpPr>
        <p:spPr>
          <a:xfrm>
            <a:off x="891540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909828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33" name="Image 7" descr="FileSpreadshee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098" y="4575658"/>
            <a:ext cx="358445" cy="358445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87552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Real files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5"/>
          <p:cNvSpPr txBox="1"/>
          <p:nvPr/>
        </p:nvSpPr>
        <p:spPr>
          <a:xfrm>
            <a:off x="909828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Python source, sample logger data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E3368F-FB6E-055E-01EF-16BA4F05F4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12077" y="905872"/>
            <a:ext cx="1275525" cy="282488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9CC4717-C929-41FB-D5DD-AB9D2A409D53}"/>
              </a:ext>
            </a:extLst>
          </p:cNvPr>
          <p:cNvSpPr txBox="1"/>
          <p:nvPr/>
        </p:nvSpPr>
        <p:spPr>
          <a:xfrm>
            <a:off x="8686800" y="3699748"/>
            <a:ext cx="3269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review with faculty mentor</a:t>
            </a:r>
            <a:endParaRPr lang="en-IN" dirty="0">
              <a:solidFill>
                <a:srgbClr val="5A6A6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1 → Stage 2: what we learned and changed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Maker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5" name="Image 0" descr="Bra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Real data: AI failed, physics worked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417320" y="1645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MetroPT-3 (real): the synthetic AI flagged 0 windows (AUC 0.58); the physics duty test put all 4 documented-leak nights in the top 7 of 159 (AUC 0.988)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9" name="Image 1" descr="CalendarEven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269290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49631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30 minutes → 14 days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1417320" y="286207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Two-week twin with shifts and nights caught the new leak the same night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3758184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3" name="Image 2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" y="39090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7124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"Where is it?"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1417320" y="40782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 allocates leakage by zone, then verifies the repair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4974336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7" name="Image 3" descr="Cpu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" y="512521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9286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hardware budget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1417320" y="52943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Virtual edge node + firmware + CSV upload run the full pipeline today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654731627"/>
              </p:ext>
            </p:extLst>
          </p:nvPr>
        </p:nvGraphicFramePr>
        <p:xfrm>
          <a:off x="6217920" y="123444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6217920" y="5120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 error 1.8% · storage 1.9% · all 30 within ±10% (simulated)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E24A090B-4544-8591-7574-955FE15A30BB}"/>
              </a:ext>
            </a:extLst>
          </p:cNvPr>
          <p:cNvSpPr/>
          <p:nvPr/>
        </p:nvSpPr>
        <p:spPr>
          <a:xfrm>
            <a:off x="6217920" y="5532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</p:sp>
      <p:pic>
        <p:nvPicPr>
          <p:cNvPr id="34" name="Picture 33" descr="6.jpg">
            <a:extLst>
              <a:ext uri="{FF2B5EF4-FFF2-40B4-BE49-F238E27FC236}">
                <a16:creationId xmlns:a16="http://schemas.microsoft.com/office/drawing/2014/main" id="{05B8D51B-D45D-3F29-3F44-78362A3AB5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577840"/>
            <a:ext cx="1028700" cy="5486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3AC47D0-1F1B-21DF-57C1-83AC9170E4B2}"/>
              </a:ext>
            </a:extLst>
          </p:cNvPr>
          <p:cNvSpPr txBox="1"/>
          <p:nvPr/>
        </p:nvSpPr>
        <p:spPr>
          <a:xfrm>
            <a:off x="7612380" y="5532120"/>
            <a:ext cx="38176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 M Sathiyamoorthy</a:t>
            </a:r>
          </a:p>
          <a:p>
            <a:r>
              <a:rPr sz="11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Faculty Mentor, Department of Mechanical Engineering, Easwari Engineering College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 by design: read-only, clip-on, fail-quiet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Safety &amp; hazard mitigation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HandSto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16139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output stage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cannot start, stop or reload the compressor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6042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330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1" name="Image 1" descr="PlugConnect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161391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6626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Clip-on CT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35433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mains conductor opened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7220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5508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6" name="Image 2" descr="ArrowsJo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61391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7804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Isolated tap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6355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ball valve, fittings rated &gt; 2× pressure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898398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6686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1" name="Image 3" descr="ShieldLoc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16139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98982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Sealed + fused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916686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IP65 box, fused 24 V supply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467575"/>
              </p:ext>
            </p:extLst>
          </p:nvPr>
        </p:nvGraphicFramePr>
        <p:xfrm>
          <a:off x="548640" y="3063240"/>
          <a:ext cx="7680960" cy="26090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Failure mode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Hazard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Built-in protection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Transmitter open loop / drift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Wrong leak figure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&lt; 3.6 mA frames dropped; stuck and range checks first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Wi-Fi dropout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Lost data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 h SD spool; gaps flagged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Clock jump / bad frame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Corrupt history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Ingest rejects them (tested live)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False leak alarm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Wasted labour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Two estimators must agree; weak nights graded down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Wrong nameplate FAD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Biased ₹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Shown openly; Stage 3 pump-up test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hape 18"/>
          <p:cNvSpPr/>
          <p:nvPr/>
        </p:nvSpPr>
        <p:spPr>
          <a:xfrm>
            <a:off x="8458200" y="3063240"/>
            <a:ext cx="3154680" cy="3108960"/>
          </a:xfrm>
          <a:prstGeom prst="roundRect">
            <a:avLst>
              <a:gd name="adj" fmla="val 2941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646920" y="320040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7" name="Image 4" descr="Certificat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913" y="3371393"/>
            <a:ext cx="435254" cy="435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595360" y="40416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Standards considered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8686800" y="44348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IEC 61010-1, 61010-2-032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IEC 60529 (IP65)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 11011 (air audits)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 2379 (pipe colours)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Four-month plan to a field-tested prototype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Roadmap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931670" y="2286000"/>
            <a:ext cx="8298180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Nov 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7388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875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Tool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035" y="2004365"/>
            <a:ext cx="563270" cy="56327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Build: assemble node, flash firmware, bench-test vs gauge + clamp meter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331470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 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13994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9481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3" name="Image 1" descr="PlugConnect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095" y="2004365"/>
            <a:ext cx="563270" cy="56327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0614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Integrate: enclosure CAD + fit-out, college compressor install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608076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Jan 2027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90600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6087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Microscop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155" y="2004365"/>
            <a:ext cx="563270" cy="56327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7220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Validate: MSME pilot vs manual leak-down + ultrasonic walk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884682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Feb 2027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967206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726930" y="1783080"/>
            <a:ext cx="1005840" cy="10058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3" name="Image 3" descr="Rocke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215" y="2004365"/>
            <a:ext cx="563270" cy="56327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3826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Prove: site recalibration, repair a found leak, verify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4389120"/>
            <a:ext cx="640080" cy="6400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7" name="Image 4" descr="Flag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58" y="45299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Stage 3 commitment: demonstrated live on this dashboard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0" name="Image 5" descr="Cpu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941" y="5378501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working edge node on a real compressor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44348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3" name="Image 6" descr="ChartLine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5541" y="5378501"/>
            <a:ext cx="307238" cy="30723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1206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nightly leak index from real data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80924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6" name="Image 7" descr="Check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3141" y="5378501"/>
            <a:ext cx="307238" cy="30723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7782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One leak located, repaired and verified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Engineering bottlenecks we hit in simulation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Technical challenges &amp; risks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ArrowsSplit2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16898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 leak looks like demand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Daytime data cannot separate production air from leaks.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29768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1" name="Image 1" descr="Ta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331" y="16898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Nameplate is not the truth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45262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3% low delivery biased estimates by ~3%.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1508760"/>
            <a:ext cx="822960" cy="82296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6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371" y="16898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7532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Synthetic AI does not transfer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27532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MetroPT-3: 0 windows flagged, AUC 0.58. The physics test scored 0.988.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1" name="Image 3" descr="Clock24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" y="420441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quiet hours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77724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24×7 plants give the nightly test no window.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429768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2628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6" name="Image 4" descr="Drople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7331" y="4204411"/>
            <a:ext cx="460858" cy="46085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2628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Valves are not perfect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2628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Seeping valve seats blur the zone split.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7532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1" name="Image 5" descr="WifiOff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6371" y="4204411"/>
            <a:ext cx="460858" cy="46085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Field data is messy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827532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Dropouts, stuck sensors, spikes, clock jumps.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Backup solutions for each risk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Technical challenges &amp; risks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Risk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384048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Primary solution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1381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Fallback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655064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8" name="Image 0" descr="ArrowsSplit2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1765706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6002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Leak vs demand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337560" y="1783080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40480" y="1600200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Test only in idle windows via the machine-on contact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5320" y="160020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Weekend leak-down test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48640" y="2404872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6" name="Image 1" descr="Ta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2515514"/>
            <a:ext cx="281635" cy="28163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235000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Nameplate bias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337560" y="2532888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40480" y="2350008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77640" y="2350008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One-time pump-up test measures real FAD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8138160" y="2350008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75320" y="235000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Show the bias band on every ₹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4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3265322"/>
            <a:ext cx="281635" cy="28163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188720" y="309981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AI transfer gap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3337560" y="3282696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840480" y="3099816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77640" y="3099816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Physics sets all ₹: AUC 0.988 on real MetroPT-3 nights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8138160" y="3099816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099816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Per-site model recalibration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548640" y="3904488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2" name="Image 3" descr="Clock24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4015130"/>
            <a:ext cx="281635" cy="28163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188720" y="384962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quiet hours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3337560" y="4032504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3840480" y="3849624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977640" y="3849624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Lunch-break tests; decay-only mode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1"/>
          <p:cNvSpPr/>
          <p:nvPr/>
        </p:nvSpPr>
        <p:spPr>
          <a:xfrm>
            <a:off x="8138160" y="3849624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8275320" y="3849624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Isolation during planned stops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33"/>
          <p:cNvSpPr/>
          <p:nvPr/>
        </p:nvSpPr>
        <p:spPr>
          <a:xfrm>
            <a:off x="548640" y="4654296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40" name="Image 4" descr="Drople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764938"/>
            <a:ext cx="281635" cy="281635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188720" y="459943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Seeping valves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35"/>
          <p:cNvSpPr/>
          <p:nvPr/>
        </p:nvSpPr>
        <p:spPr>
          <a:xfrm>
            <a:off x="3337560" y="4782312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840480" y="4599432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3977640" y="4599432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Survey both directions and compare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38"/>
          <p:cNvSpPr/>
          <p:nvPr/>
        </p:nvSpPr>
        <p:spPr>
          <a:xfrm>
            <a:off x="8138160" y="4599432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275320" y="4599432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Ultrasonic walk in the top zone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Shape 40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31520" y="557784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9" name="Image 5" descr="Check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1" y="5698541"/>
            <a:ext cx="307238" cy="307238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463040" y="5486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Already verified in simulation: the repeat valve survey measured ₹4,276/month vs ₹4,741 predicted (−9.8%, 92% repair efficiency).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and sources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References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[1] U.S. Department of Energy &amp; Compressed Air Challenge, Improving Compressed Air System Performance: A Sourcebook for Industry (3rd ed.).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[2] ISO 11011:2013, Compressed air — Energy efficiency — Assessment.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[3] Bureau of Energy Efficiency (India), Energy Efficiency in Electrical Utilities, Chapter 3: Compressed Air System.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[4] Veloso, B. et al., "The MetroPT dataset for predictive maintenance", Scientific Data 9, 764 (2022); UCI Machine Learning Repository, MetroPT-3 (id 791).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[5] IEC 61010-1, IEC 61010-2-032 (measurement equipment, current clamps); IEC 60529 (IP code).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[6] IS 2379, Pipelines — Identification colour code (Bureau of Indian Standards).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[7] Data sheets: Espressif ESP32-S3, Texas Instruments ADS1115, YHDC SCT-013 series.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Images: screenshots of the team's own software; diagrams drawn by the team; icons from the open-source Tabler Icons set (MIT licence).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toryAir Twin">
  <a:themeElements>
    <a:clrScheme name="FactoryAir Twin">
      <a:dk1>
        <a:srgbClr val="0F2730"/>
      </a:dk1>
      <a:lt1>
        <a:srgbClr val="FFFFFF"/>
      </a:lt1>
      <a:dk2>
        <a:srgbClr val="183A45"/>
      </a:dk2>
      <a:lt2>
        <a:srgbClr val="F2F4F5"/>
      </a:lt2>
      <a:accent1>
        <a:srgbClr val="1C6A96"/>
      </a:accent1>
      <a:accent2>
        <a:srgbClr val="F2A516"/>
      </a:accent2>
      <a:accent3>
        <a:srgbClr val="17845A"/>
      </a:accent3>
      <a:accent4>
        <a:srgbClr val="7FC4EA"/>
      </a:accent4>
      <a:accent5>
        <a:srgbClr val="B93A2A"/>
      </a:accent5>
      <a:accent6>
        <a:srgbClr val="5A6A6F"/>
      </a:accent6>
      <a:hlink>
        <a:srgbClr val="1C6A96"/>
      </a:hlink>
      <a:folHlink>
        <a:srgbClr val="183A45"/>
      </a:folHlink>
    </a:clrScheme>
    <a:fontScheme name="FactoryAir Twin">
      <a:majorFont>
        <a:latin typeface="Bahnschrif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2040</Words>
  <Application>Microsoft Office PowerPoint</Application>
  <PresentationFormat>Widescreen</PresentationFormat>
  <Paragraphs>370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Bahnschrift</vt:lpstr>
      <vt:lpstr>Calibri</vt:lpstr>
      <vt:lpstr>Times New Roman</vt:lpstr>
      <vt:lpstr>FactoryAir Twin</vt:lpstr>
      <vt:lpstr>PowerPoint Presentation</vt:lpstr>
      <vt:lpstr>Small factories pay for compressed air they never use</vt:lpstr>
      <vt:lpstr>Today's options are too rare, too costly or brand-locked</vt:lpstr>
      <vt:lpstr>Before: one failed coupling costs money for weeks unseen</vt:lpstr>
      <vt:lpstr>After: found overnight, located at lunch, verified next night</vt:lpstr>
      <vt:lpstr>System block diagram: two signals in, a verified saving out</vt:lpstr>
      <vt:lpstr>Target specifications and hardware selection</vt:lpstr>
      <vt:lpstr>Mechanical design: a sealed box and a safe pressure tap</vt:lpstr>
      <vt:lpstr>Electronics connections and bill of materials</vt:lpstr>
      <vt:lpstr>Maker journey: working software, built and tested by the team</vt:lpstr>
      <vt:lpstr>Stage 1 → Stage 2: what we learned and changed</vt:lpstr>
      <vt:lpstr>Safety by design: read-only, clip-on, fail-quiet</vt:lpstr>
      <vt:lpstr>Four-month plan to a field-tested prototype</vt:lpstr>
      <vt:lpstr>Engineering bottlenecks we hit in simulation</vt:lpstr>
      <vt:lpstr>Backup solutions for each risk</vt:lpstr>
      <vt:lpstr>References and sources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FactoryAir Twin — Vishwakarma Stage 2</dc:title>
  <dc:subject>PptxGenJS Presentation</dc:subject>
  <dc:creator>Team Volts and Bolts</dc:creator>
  <cp:lastModifiedBy>Suheerthan S</cp:lastModifiedBy>
  <cp:revision>5</cp:revision>
  <dcterms:created xsi:type="dcterms:W3CDTF">2026-10-22T08:11:22Z</dcterms:created>
  <dcterms:modified xsi:type="dcterms:W3CDTF">2026-10-23T15:21:05Z</dcterms:modified>
</cp:coreProperties>
</file>