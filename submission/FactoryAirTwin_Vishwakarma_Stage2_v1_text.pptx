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lication ID" id="{d5c39d3e-4d7a-6427-a1a7-fc2ec993c841}">
          <p14:sldIdLst>
            <p14:sldId id="256"/>
          </p14:sldIdLst>
        </p14:section>
        <p14:section name="Problem context" id="{74630174-c516-449c-203d-74781d5522e0}">
          <p14:sldIdLst>
            <p14:sldId id="257"/>
            <p14:sldId id="258"/>
          </p14:sldIdLst>
        </p14:section>
        <p14:section name="User journey" id="{1bca73f1-f418-df0b-b9f7-cfe487d1aa82}">
          <p14:sldIdLst>
            <p14:sldId id="259"/>
            <p14:sldId id="260"/>
          </p14:sldIdLst>
        </p14:section>
        <p14:section name="System architecture" id="{5a67238d-787f-72a9-dcc0-5b48069cb70a}">
          <p14:sldIdLst>
            <p14:sldId id="261"/>
            <p14:sldId id="262"/>
          </p14:sldIdLst>
        </p14:section>
        <p14:section name="CAD &amp; mechanical" id="{15df544e-12ca-ccd5-004a-e084dd312922}">
          <p14:sldIdLst>
            <p14:sldId id="263"/>
          </p14:sldIdLst>
        </p14:section>
        <p14:section name="Electronics &amp; BOM" id="{1518d398-0144-4513-fcaf-c708e8533666}">
          <p14:sldIdLst>
            <p14:sldId id="264"/>
          </p14:sldIdLst>
        </p14:section>
        <p14:section name="Maker journey" id="{f4fbac7b-d7e9-237f-de05-417358d4a145}">
          <p14:sldIdLst>
            <p14:sldId id="265"/>
            <p14:sldId id="266"/>
          </p14:sldIdLst>
        </p14:section>
        <p14:section name="Safety &amp; hazard mitigation" id="{662bb4f9-0179-86e8-492a-1146b2176884}">
          <p14:sldIdLst>
            <p14:sldId id="267"/>
          </p14:sldIdLst>
        </p14:section>
        <p14:section name="Roadmap" id="{fe16ed0c-68c4-0ef5-79ed-032e105365b2}">
          <p14:sldIdLst>
            <p14:sldId id="268"/>
          </p14:sldIdLst>
        </p14:section>
        <p14:section name="Technical challenges &amp; risks" id="{3956e935-0b4d-a7f4-b279-fc687ba08f92}">
          <p14:sldIdLst>
            <p14:sldId id="269"/>
            <p14:sldId id="270"/>
          </p14:sldIdLst>
        </p14:section>
        <p14:section name="References" id="{523d208b-969d-f2c5-1c96-cc007a36533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730"/>
                </a:solidFill>
                <a:latin typeface="+mn-lt"/>
              </a:defRPr>
            </a:pPr>
            <a:r>
              <a:rPr sz="1300" b="0" i="0" u="none" strike="noStrike">
                <a:solidFill>
                  <a:srgbClr val="0F2730"/>
                </a:solidFill>
                <a:latin typeface="+mn-lt"/>
              </a:rPr>
              <a:t>Nightly leak test, % of compressor capacity</a:t>
            </a:r>
          </a:p>
        </c:rich>
      </c:tx>
      <c:layout/>
      <c:overlay val="0"/>
    </c:title>
    <c:autoTitleDeleted val="0"/>
    <c:plotArea>
      <c:layout/>
      <c:lineChart>
        <c:varyColors val="0"/>
        <c:ser>
          <c:idx val="0"/>
          <c:order val="0"/>
          <c:tx>
            <c:strRef>
              <c:f>Sheet1!$B$1</c:f>
              <c:strCache>
                <c:ptCount val="1"/>
                <c:pt idx="0">
                  <c:v>Leak, % of capacity (nightly test)</c:v>
                </c:pt>
              </c:strCache>
            </c:strRef>
          </c:tx>
          <c:spPr>
            <a:solidFill>
              <a:srgbClr val="1C6A96"/>
            </a:solidFill>
            <a:ln w="38100" cap="flat">
              <a:solidFill>
                <a:srgbClr val="1C6A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C6A96"/>
              </a:solidFill>
              <a:ln w="9525" cap="flat">
                <a:solidFill>
                  <a:srgbClr val="1C6A96"/>
                </a:solidFill>
                <a:prstDash val="solid"/>
                <a:round/>
              </a:ln>
              <a:effectLst/>
            </c:spPr>
          </c:marker>
          <c:cat>
            <c:multiLvlStrRef>
              <c:f>Sheet1!$A$2:$A$14</c:f>
              <c:multiLvlStrCache>
                <c:ptCount val="13"/>
                <c:lvl>
                  <c:pt idx="0">
                    <c:v>Mon 1</c:v>
                  </c:pt>
                  <c:pt idx="1">
                    <c:v>Tue 2</c:v>
                  </c:pt>
                  <c:pt idx="2">
                    <c:v>Wed 3</c:v>
                  </c:pt>
                  <c:pt idx="3">
                    <c:v>Thu 4</c:v>
                  </c:pt>
                  <c:pt idx="4">
                    <c:v>Fri 5</c:v>
                  </c:pt>
                  <c:pt idx="5">
                    <c:v>Sat 6</c:v>
                  </c:pt>
                  <c:pt idx="6">
                    <c:v>Sun 7</c:v>
                  </c:pt>
                  <c:pt idx="7">
                    <c:v>Mon 8</c:v>
                  </c:pt>
                  <c:pt idx="8">
                    <c:v>Tue 9</c:v>
                  </c:pt>
                  <c:pt idx="9">
                    <c:v>Wed 10</c:v>
                  </c:pt>
                  <c:pt idx="10">
                    <c:v>Thu 11</c:v>
                  </c:pt>
                  <c:pt idx="11">
                    <c:v>Fri 12</c:v>
                  </c:pt>
                  <c:pt idx="12">
                    <c:v>Sat 13</c:v>
                  </c:pt>
                </c:lvl>
              </c:multiLvlStrCache>
            </c:multiLvlStrRef>
          </c:cat>
          <c:val>
            <c:numRef>
              <c:f>Sheet1!$B$2:$B$14</c:f>
              <c:numCache>
                <c:formatCode>General</c:formatCode>
                <c:ptCount val="13"/>
                <c:pt idx="0">
                  <c:v>7.3</c:v>
                </c:pt>
                <c:pt idx="1">
                  <c:v>7.4</c:v>
                </c:pt>
                <c:pt idx="2">
                  <c:v>7.5</c:v>
                </c:pt>
                <c:pt idx="3">
                  <c:v>22</c:v>
                </c:pt>
                <c:pt idx="4">
                  <c:v>22.1</c:v>
                </c:pt>
                <c:pt idx="5">
                  <c:v>22.1</c:v>
                </c:pt>
                <c:pt idx="6">
                  <c:v>22.2</c:v>
                </c:pt>
                <c:pt idx="7">
                  <c:v>22.3</c:v>
                </c:pt>
                <c:pt idx="8">
                  <c:v>22.4</c:v>
                </c:pt>
                <c:pt idx="9">
                  <c:v>22.5</c:v>
                </c:pt>
                <c:pt idx="10">
                  <c:v>8.2</c:v>
                </c:pt>
                <c:pt idx="11">
                  <c:v>8.2</c:v>
                </c:pt>
                <c:pt idx="12">
                  <c:v>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A6F"/>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2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A6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730"/>
                </a:solidFill>
                <a:latin typeface="+mn-lt"/>
              </a:defRPr>
            </a:pPr>
            <a:r>
              <a:rPr sz="1300" b="0" i="0" u="none" strike="noStrike">
                <a:solidFill>
                  <a:srgbClr val="0F2730"/>
                </a:solidFill>
                <a:latin typeface="+mn-lt"/>
              </a:rPr>
              <a:t>30 unseen plants: estimated vs hidden true leak (m³/min)</a:t>
            </a:r>
          </a:p>
        </c:rich>
      </c:tx>
      <c:layout/>
      <c:overlay val="0"/>
    </c:title>
    <c:autoTitleDeleted val="0"/>
    <c:plotArea>
      <c:layout/>
      <c:scatterChart>
        <c:scatterStyle val="lineMarker"/>
        <c:varyColors val="0"/>
        <c:ser>
          <c:idx val="0"/>
          <c:order val="0"/>
          <c:tx>
            <c:strRef>
              <c:f>Sheet1!$B$1</c:f>
              <c:strCache>
                <c:ptCount val="1"/>
                <c:pt idx="0">
                  <c:v>Estimated leak</c:v>
                </c:pt>
              </c:strCache>
            </c:strRef>
          </c:tx>
          <c:spPr>
            <a:solidFill>
              <a:srgbClr val="1C6A96"/>
            </a:solidFill>
            <a:ln>
              <a:noFill/>
            </a:ln>
            <a:effectLst/>
          </c:spPr>
          <c:marker>
            <c:symbol val="circle"/>
            <c:size val="8"/>
            <c:spPr>
              <a:solidFill>
                <a:srgbClr val="1C6A96"/>
              </a:solidFill>
              <a:ln w="9525" cap="flat">
                <a:solidFill>
                  <a:srgbClr val="1C6A96"/>
                </a:solidFill>
                <a:prstDash val="solid"/>
                <a:round/>
              </a:ln>
              <a:effectLst/>
            </c:spPr>
          </c:marker>
          <c:xVal>
            <c:numRef>
              <c:f>Sheet1!$A$2:$A$31</c:f>
              <c:numCache>
                <c:formatCode>General</c:formatCode>
                <c:ptCount val="30"/>
                <c:pt idx="0">
                  <c:v>0.2714</c:v>
                </c:pt>
                <c:pt idx="1">
                  <c:v>0.1475</c:v>
                </c:pt>
                <c:pt idx="2">
                  <c:v>0.2019</c:v>
                </c:pt>
                <c:pt idx="3">
                  <c:v>0.28</c:v>
                </c:pt>
                <c:pt idx="4">
                  <c:v>0.305</c:v>
                </c:pt>
                <c:pt idx="5">
                  <c:v>0.0506</c:v>
                </c:pt>
                <c:pt idx="6">
                  <c:v>0.0689</c:v>
                </c:pt>
                <c:pt idx="7">
                  <c:v>0.148</c:v>
                </c:pt>
                <c:pt idx="8">
                  <c:v>0.1489</c:v>
                </c:pt>
                <c:pt idx="9">
                  <c:v>0.1879</c:v>
                </c:pt>
                <c:pt idx="10">
                  <c:v>0.2448</c:v>
                </c:pt>
                <c:pt idx="11">
                  <c:v>0.231</c:v>
                </c:pt>
                <c:pt idx="12">
                  <c:v>0.2786</c:v>
                </c:pt>
                <c:pt idx="13">
                  <c:v>0.3047</c:v>
                </c:pt>
                <c:pt idx="14">
                  <c:v>0.2542</c:v>
                </c:pt>
                <c:pt idx="15">
                  <c:v>0.2633</c:v>
                </c:pt>
                <c:pt idx="16">
                  <c:v>0.1582</c:v>
                </c:pt>
                <c:pt idx="17">
                  <c:v>0.1605</c:v>
                </c:pt>
                <c:pt idx="18">
                  <c:v>0.2632</c:v>
                </c:pt>
                <c:pt idx="19">
                  <c:v>0.2308</c:v>
                </c:pt>
                <c:pt idx="20">
                  <c:v>0.2663</c:v>
                </c:pt>
                <c:pt idx="21">
                  <c:v>0.1333</c:v>
                </c:pt>
                <c:pt idx="22">
                  <c:v>0.0331</c:v>
                </c:pt>
                <c:pt idx="23">
                  <c:v>0.2009</c:v>
                </c:pt>
                <c:pt idx="24">
                  <c:v>0.2985</c:v>
                </c:pt>
                <c:pt idx="25">
                  <c:v>0.246</c:v>
                </c:pt>
                <c:pt idx="26">
                  <c:v>0.1623</c:v>
                </c:pt>
                <c:pt idx="27">
                  <c:v>0.0529</c:v>
                </c:pt>
                <c:pt idx="28">
                  <c:v>0.1152</c:v>
                </c:pt>
                <c:pt idx="29">
                  <c:v>0.135</c:v>
                </c:pt>
              </c:numCache>
            </c:numRef>
          </c:xVal>
          <c:yVal>
            <c:numRef>
              <c:f>Sheet1!$B$2:$B$31</c:f>
              <c:numCache>
                <c:formatCode>General</c:formatCode>
                <c:ptCount val="30"/>
                <c:pt idx="0">
                  <c:v>0.2755</c:v>
                </c:pt>
                <c:pt idx="1">
                  <c:v>0.1445</c:v>
                </c:pt>
                <c:pt idx="2">
                  <c:v>0.2034</c:v>
                </c:pt>
                <c:pt idx="3">
                  <c:v>0.2951</c:v>
                </c:pt>
                <c:pt idx="4">
                  <c:v>0.3181</c:v>
                </c:pt>
                <c:pt idx="5">
                  <c:v>0.0491</c:v>
                </c:pt>
                <c:pt idx="6">
                  <c:v>0.0697</c:v>
                </c:pt>
                <c:pt idx="7">
                  <c:v>0.1474</c:v>
                </c:pt>
                <c:pt idx="8">
                  <c:v>0.1504</c:v>
                </c:pt>
                <c:pt idx="9">
                  <c:v>0.1904</c:v>
                </c:pt>
                <c:pt idx="10">
                  <c:v>0.2419</c:v>
                </c:pt>
                <c:pt idx="11">
                  <c:v>0.2341</c:v>
                </c:pt>
                <c:pt idx="12">
                  <c:v>0.2835</c:v>
                </c:pt>
                <c:pt idx="13">
                  <c:v>0.3035</c:v>
                </c:pt>
                <c:pt idx="14">
                  <c:v>0.2543</c:v>
                </c:pt>
                <c:pt idx="15">
                  <c:v>0.2698</c:v>
                </c:pt>
                <c:pt idx="16">
                  <c:v>0.1583</c:v>
                </c:pt>
                <c:pt idx="17">
                  <c:v>0.1676</c:v>
                </c:pt>
                <c:pt idx="18">
                  <c:v>0.266</c:v>
                </c:pt>
                <c:pt idx="19">
                  <c:v>0.2279</c:v>
                </c:pt>
                <c:pt idx="20">
                  <c:v>0.2593</c:v>
                </c:pt>
                <c:pt idx="21">
                  <c:v>0.1336</c:v>
                </c:pt>
                <c:pt idx="22">
                  <c:v>0.0339</c:v>
                </c:pt>
                <c:pt idx="23">
                  <c:v>0.2031</c:v>
                </c:pt>
                <c:pt idx="24">
                  <c:v>0.2997</c:v>
                </c:pt>
                <c:pt idx="25">
                  <c:v>0.2541</c:v>
                </c:pt>
                <c:pt idx="26">
                  <c:v>0.1586</c:v>
                </c:pt>
                <c:pt idx="27">
                  <c:v>0.0519</c:v>
                </c:pt>
                <c:pt idx="28">
                  <c:v>0.1139</c:v>
                </c:pt>
                <c:pt idx="29">
                  <c:v>0.1417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35"/>
          <c:min val="0"/>
        </c:scaling>
        <c:delete val="0"/>
        <c:axPos val="b"/>
        <c:title>
          <c:tx>
            <c:rich>
              <a:bodyPr/>
              <a:lstStyle/>
              <a:p>
                <a:pPr>
                  <a:defRPr sz="1000" b="0" i="0" u="none" strike="noStrike">
                    <a:solidFill>
                      <a:srgbClr val="5A6A6F"/>
                    </a:solidFill>
                    <a:latin typeface="Arial"/>
                  </a:defRPr>
                </a:pPr>
                <a:r>
                  <a:rPr sz="1000" b="0" i="0" u="none" strike="noStrike">
                    <a:solidFill>
                      <a:srgbClr val="5A6A6F"/>
                    </a:solidFill>
                    <a:latin typeface="Arial"/>
                  </a:rPr>
                  <a:t>hidden true leak</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A6A6F"/>
                </a:solidFill>
                <a:latin typeface="+mn-lt"/>
              </a:defRPr>
            </a:pPr>
            <a:endParaRPr lang="en-US"/>
          </a:p>
        </c:txPr>
        <c:crossAx val="2094734552"/>
        <c:crosses val="autoZero"/>
        <c:auto val="1"/>
        <c:lblAlgn val="ctr"/>
        <c:noMultiLvlLbl val="1"/>
      </c:valAx>
      <c:valAx>
        <c:axId val="2094734552"/>
        <c:scaling>
          <c:orientation val="minMax"/>
          <c:max val="0.35"/>
          <c:min val="0"/>
        </c:scaling>
        <c:delete val="0"/>
        <c:axPos val="l"/>
        <c:majorGridlines>
          <c:spPr>
            <a:ln w="9525" cap="flat">
              <a:solidFill>
                <a:srgbClr val="E2E6E8"/>
              </a:solidFill>
              <a:prstDash val="solid"/>
              <a:round/>
            </a:ln>
          </c:spPr>
        </c:majorGridlines>
        <c:title>
          <c:tx>
            <c:rich>
              <a:bodyPr/>
              <a:lstStyle/>
              <a:p>
                <a:pPr>
                  <a:defRPr sz="1000" b="0" i="0" u="none" strike="noStrike">
                    <a:solidFill>
                      <a:srgbClr val="5A6A6F"/>
                    </a:solidFill>
                    <a:latin typeface="Arial"/>
                  </a:defRPr>
                </a:pPr>
                <a:r>
                  <a:rPr sz="1000" b="0" i="0" u="none" strike="noStrike">
                    <a:solidFill>
                      <a:srgbClr val="5A6A6F"/>
                    </a:solidFill>
                    <a:latin typeface="Arial"/>
                  </a:rPr>
                  <a:t>estimated</a:t>
                </a:r>
              </a:p>
            </c:rich>
          </c:tx>
          <c:layout/>
          <c:overlay val="0"/>
        </c:title>
        <c:numFmt formatCode="0.00"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A6A6F"/>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A_TITLE">
    <p:bg>
      <p:bgPr>
        <a:solidFill>
          <a:srgbClr val="0F273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A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000" b="1" dirty="0">
                <a:solidFill>
                  <a:srgbClr val="0F2730"/>
                </a:solidFill>
                <a:latin typeface="Bahnschrift" pitchFamily="34" charset="0"/>
                <a:ea typeface="Bahnschrift" pitchFamily="34" charset="-122"/>
                <a:cs typeface="Bahnschrift" pitchFamily="34" charset="-120"/>
              </a:defRPr>
            </a:lvl1pPr>
          </a:lstStyle>
          <a:p>
            <a:pPr algn="l" indent="0" marL="0">
              <a:buNone/>
            </a:pP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rtlCol="0"/>
          <a:lstStyle>
            <a:lvl1pPr indent="0" marL="0">
              <a:buNone/>
              <a:defRPr lang="en-US" sz="1000" dirty="0">
                <a:solidFill>
                  <a:srgbClr val="5A6A6F"/>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486400" cy="365760"/>
          </a:xfrm>
          <a:prstGeom prst="rect">
            <a:avLst/>
          </a:prstGeom>
          <a:noFill/>
          <a:ln/>
        </p:spPr>
        <p:txBody>
          <a:bodyPr wrap="square" lIns="0" tIns="0" rIns="0" bIns="0" rtlCol="0" anchor="t"/>
          <a:lstStyle/>
          <a:p>
            <a:pPr indent="0" marL="0">
              <a:buNone/>
            </a:pPr>
            <a:r>
              <a:rPr lang="en-US" sz="1600" dirty="0">
                <a:solidFill>
                  <a:srgbClr val="7FC4EA"/>
                </a:solidFill>
                <a:latin typeface="Calibri" pitchFamily="34" charset="0"/>
                <a:ea typeface="Calibri" pitchFamily="34" charset="-122"/>
                <a:cs typeface="Calibri" pitchFamily="34" charset="-120"/>
              </a:rPr>
              <a:t>Vishwakarma Application ID</a:t>
            </a:r>
            <a:endParaRPr lang="en-US" sz="1600" dirty="0"/>
          </a:p>
        </p:txBody>
      </p:sp>
      <p:sp>
        <p:nvSpPr>
          <p:cNvPr id="3" name="Text 1"/>
          <p:cNvSpPr txBox="1"/>
          <p:nvPr/>
        </p:nvSpPr>
        <p:spPr>
          <a:xfrm>
            <a:off x="640080" y="914400"/>
            <a:ext cx="5669280" cy="685800"/>
          </a:xfrm>
          <a:prstGeom prst="rect">
            <a:avLst/>
          </a:prstGeom>
          <a:noFill/>
          <a:ln/>
        </p:spPr>
        <p:txBody>
          <a:bodyPr wrap="square" lIns="0" tIns="0" rIns="0" bIns="0" rtlCol="0" anchor="t"/>
          <a:lstStyle/>
          <a:p>
            <a:pPr indent="0" marL="0">
              <a:buNone/>
            </a:pPr>
            <a:r>
              <a:rPr lang="en-US" sz="3400" b="1" dirty="0">
                <a:solidFill>
                  <a:srgbClr val="F2A516"/>
                </a:solidFill>
                <a:latin typeface="Bahnschrift" pitchFamily="34" charset="0"/>
                <a:ea typeface="Bahnschrift" pitchFamily="34" charset="-122"/>
                <a:cs typeface="Bahnschrift" pitchFamily="34" charset="-120"/>
              </a:rPr>
              <a:t>VK26-IITI-AHM-0210</a:t>
            </a:r>
            <a:endParaRPr lang="en-US" sz="3400" dirty="0"/>
          </a:p>
        </p:txBody>
      </p:sp>
      <p:sp>
        <p:nvSpPr>
          <p:cNvPr id="4" name="Text 2"/>
          <p:cNvSpPr txBox="1"/>
          <p:nvPr/>
        </p:nvSpPr>
        <p:spPr>
          <a:xfrm>
            <a:off x="640080" y="1874520"/>
            <a:ext cx="5669280" cy="914400"/>
          </a:xfrm>
          <a:prstGeom prst="rect">
            <a:avLst/>
          </a:prstGeom>
          <a:noFill/>
          <a:ln/>
        </p:spPr>
        <p:txBody>
          <a:bodyPr wrap="square" lIns="0" tIns="0" rIns="0" bIns="0" rtlCol="0" anchor="t"/>
          <a:lstStyle/>
          <a:p>
            <a:pPr indent="0" marL="0">
              <a:buNone/>
            </a:pPr>
            <a:r>
              <a:rPr lang="en-US" sz="5000" b="1" dirty="0">
                <a:solidFill>
                  <a:srgbClr val="FFFFFF"/>
                </a:solidFill>
                <a:latin typeface="Bahnschrift" pitchFamily="34" charset="0"/>
                <a:ea typeface="Bahnschrift" pitchFamily="34" charset="-122"/>
                <a:cs typeface="Bahnschrift" pitchFamily="34" charset="-120"/>
              </a:rPr>
              <a:t>FactoryAir Twin</a:t>
            </a:r>
            <a:endParaRPr lang="en-US" sz="5000" dirty="0"/>
          </a:p>
        </p:txBody>
      </p:sp>
      <p:sp>
        <p:nvSpPr>
          <p:cNvPr id="5" name="Text 3"/>
          <p:cNvSpPr txBox="1"/>
          <p:nvPr/>
        </p:nvSpPr>
        <p:spPr>
          <a:xfrm>
            <a:off x="640080" y="2880360"/>
            <a:ext cx="5394960" cy="1188720"/>
          </a:xfrm>
          <a:prstGeom prst="rect">
            <a:avLst/>
          </a:prstGeom>
          <a:noFill/>
          <a:ln/>
        </p:spPr>
        <p:txBody>
          <a:bodyPr wrap="square" lIns="0" tIns="0" rIns="0" bIns="0" rtlCol="0" anchor="t"/>
          <a:lstStyle/>
          <a:p>
            <a:pPr indent="0" marL="0">
              <a:buNone/>
            </a:pPr>
            <a:r>
              <a:rPr lang="en-US" sz="1700" dirty="0">
                <a:solidFill>
                  <a:srgbClr val="C4D8DD"/>
                </a:solidFill>
                <a:latin typeface="Calibri" pitchFamily="34" charset="0"/>
                <a:ea typeface="Calibri" pitchFamily="34" charset="-122"/>
                <a:cs typeface="Calibri" pitchFamily="34" charset="-120"/>
              </a:rPr>
              <a:t>A self-calibrating digital twin that finds, locates, prices and verifies compressed-air waste using only the two signals a small factory already has: header pressure and motor power.</a:t>
            </a:r>
            <a:endParaRPr lang="en-US" sz="1700" dirty="0"/>
          </a:p>
        </p:txBody>
      </p:sp>
      <p:sp>
        <p:nvSpPr>
          <p:cNvPr id="6" name="Text 4"/>
          <p:cNvSpPr txBox="1"/>
          <p:nvPr/>
        </p:nvSpPr>
        <p:spPr>
          <a:xfrm>
            <a:off x="640080" y="4251960"/>
            <a:ext cx="5486400" cy="160020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Team Volts and Bolts</a:t>
            </a:r>
            <a:endParaRPr lang="en-US" sz="1500" dirty="0"/>
          </a:p>
          <a:p>
            <a:pPr indent="0" marL="0">
              <a:spcAft>
                <a:spcPts val="400"/>
              </a:spcAft>
              <a:buNone/>
            </a:pPr>
            <a:r>
              <a:rPr lang="en-US" sz="1500" dirty="0">
                <a:solidFill>
                  <a:srgbClr val="F2A516"/>
                </a:solidFill>
                <a:latin typeface="Calibri" pitchFamily="34" charset="0"/>
                <a:ea typeface="Calibri" pitchFamily="34" charset="-122"/>
                <a:cs typeface="Calibri" pitchFamily="34" charset="-120"/>
              </a:rPr>
              <a:t>Track: ______________________</a:t>
            </a:r>
            <a:endParaRPr lang="en-US" sz="1500" dirty="0"/>
          </a:p>
          <a:p>
            <a:pPr indent="0" marL="0">
              <a:spcAft>
                <a:spcPts val="400"/>
              </a:spcAft>
              <a:buNone/>
            </a:pPr>
            <a:r>
              <a:rPr lang="en-US" sz="1500" dirty="0">
                <a:solidFill>
                  <a:srgbClr val="F2A516"/>
                </a:solidFill>
                <a:latin typeface="Calibri" pitchFamily="34" charset="0"/>
                <a:ea typeface="Calibri" pitchFamily="34" charset="-122"/>
                <a:cs typeface="Calibri" pitchFamily="34" charset="-120"/>
              </a:rPr>
              <a:t>Team members: ______________________</a:t>
            </a:r>
            <a:endParaRPr lang="en-US" sz="1500" dirty="0"/>
          </a:p>
          <a:p>
            <a:pPr indent="0" marL="0">
              <a:spcAft>
                <a:spcPts val="400"/>
              </a:spcAft>
              <a:buNone/>
            </a:pPr>
            <a:r>
              <a:rPr lang="en-US" sz="1500" dirty="0">
                <a:solidFill>
                  <a:srgbClr val="F2A516"/>
                </a:solidFill>
                <a:latin typeface="Calibri" pitchFamily="34" charset="0"/>
                <a:ea typeface="Calibri" pitchFamily="34" charset="-122"/>
                <a:cs typeface="Calibri" pitchFamily="34" charset="-120"/>
              </a:rPr>
              <a:t>Institution: ______________________</a:t>
            </a:r>
            <a:endParaRPr lang="en-US" sz="1500" dirty="0"/>
          </a:p>
          <a:p>
            <a:pPr indent="0" marL="0">
              <a:spcAft>
                <a:spcPts val="400"/>
              </a:spcAft>
              <a:buNone/>
            </a:pPr>
            <a:r>
              <a:rPr lang="en-US" sz="1500" dirty="0">
                <a:solidFill>
                  <a:srgbClr val="F2A516"/>
                </a:solidFill>
                <a:latin typeface="Calibri" pitchFamily="34" charset="0"/>
                <a:ea typeface="Calibri" pitchFamily="34" charset="-122"/>
                <a:cs typeface="Calibri" pitchFamily="34" charset="-120"/>
              </a:rPr>
              <a:t>Faculty mentor: ______________________</a:t>
            </a:r>
            <a:endParaRPr lang="en-US" sz="1500" dirty="0"/>
          </a:p>
        </p:txBody>
      </p:sp>
      <p:sp>
        <p:nvSpPr>
          <p:cNvPr id="7" name="Text 5"/>
          <p:cNvSpPr txBox="1"/>
          <p:nvPr/>
        </p:nvSpPr>
        <p:spPr>
          <a:xfrm>
            <a:off x="640080" y="6172200"/>
            <a:ext cx="7315200" cy="320040"/>
          </a:xfrm>
          <a:prstGeom prst="rect">
            <a:avLst/>
          </a:prstGeom>
          <a:noFill/>
          <a:ln/>
        </p:spPr>
        <p:txBody>
          <a:bodyPr wrap="square" lIns="0" tIns="0" rIns="0" bIns="0" rtlCol="0" anchor="t"/>
          <a:lstStyle/>
          <a:p>
            <a:pPr indent="0" marL="0">
              <a:buNone/>
            </a:pPr>
            <a:r>
              <a:rPr lang="en-US" sz="1100" dirty="0">
                <a:solidFill>
                  <a:srgbClr val="9FBCC4"/>
                </a:solidFill>
                <a:latin typeface="Calibri" pitchFamily="34" charset="0"/>
                <a:ea typeface="Calibri" pitchFamily="34" charset="-122"/>
                <a:cs typeface="Calibri" pitchFamily="34" charset="-120"/>
              </a:rPr>
              <a:t>Stage 2 · Design Development · October 2026 · all figures from simulation unless marked real data</a:t>
            </a:r>
            <a:endParaRPr lang="en-US" sz="1100" dirty="0"/>
          </a:p>
        </p:txBody>
      </p:sp>
      <p:pic>
        <p:nvPicPr>
          <p:cNvPr id="8" name="Image 0" descr="FactoryAir Twin plant overview screen">    </p:cNvPr>
          <p:cNvPicPr>
            <a:picLocks noChangeAspect="1"/>
          </p:cNvPicPr>
          <p:nvPr/>
        </p:nvPicPr>
        <p:blipFill>
          <a:blip r:embed="rId1"/>
          <a:stretch>
            <a:fillRect/>
          </a:stretch>
        </p:blipFill>
        <p:spPr>
          <a:xfrm>
            <a:off x="6492240" y="1234440"/>
            <a:ext cx="5257800" cy="3286125"/>
          </a:xfrm>
          <a:prstGeom prst="rect">
            <a:avLst/>
          </a:prstGeom>
        </p:spPr>
      </p:pic>
      <p:sp>
        <p:nvSpPr>
          <p:cNvPr id="9" name="Text 6"/>
          <p:cNvSpPr txBox="1"/>
          <p:nvPr/>
        </p:nvSpPr>
        <p:spPr>
          <a:xfrm>
            <a:off x="6492240" y="4630293"/>
            <a:ext cx="5257800" cy="274320"/>
          </a:xfrm>
          <a:prstGeom prst="rect">
            <a:avLst/>
          </a:prstGeom>
          <a:noFill/>
          <a:ln/>
        </p:spPr>
        <p:txBody>
          <a:bodyPr wrap="square" lIns="0" tIns="0" rIns="0" bIns="0" rtlCol="0" anchor="t"/>
          <a:lstStyle/>
          <a:p>
            <a:pPr indent="0" marL="0">
              <a:buNone/>
            </a:pPr>
            <a:r>
              <a:rPr lang="en-US" sz="1100" dirty="0">
                <a:solidFill>
                  <a:srgbClr val="9FBCC4"/>
                </a:solidFill>
                <a:latin typeface="Calibri" pitchFamily="34" charset="0"/>
                <a:ea typeface="Calibri" pitchFamily="34" charset="-122"/>
                <a:cs typeface="Calibri" pitchFamily="34" charset="-120"/>
              </a:rPr>
              <a:t>Working software prototype: plant overview screen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Small factories pay for compressed air they never use</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Problem context</a:t>
            </a:r>
            <a:endParaRPr lang="en-US" sz="1000" dirty="0"/>
          </a:p>
        </p:txBody>
      </p:sp>
      <p:sp>
        <p:nvSpPr>
          <p:cNvPr id="4" name="Shape 2"/>
          <p:cNvSpPr/>
          <p:nvPr/>
        </p:nvSpPr>
        <p:spPr>
          <a:xfrm>
            <a:off x="548640" y="1234440"/>
            <a:ext cx="5120640" cy="4937760"/>
          </a:xfrm>
          <a:prstGeom prst="roundRect">
            <a:avLst>
              <a:gd name="adj" fmla="val 1481"/>
            </a:avLst>
          </a:prstGeom>
          <a:solidFill>
            <a:srgbClr val="E8F3FA"/>
          </a:solidFill>
          <a:ln w="12700">
            <a:solidFill>
              <a:srgbClr val="E8F3FA"/>
            </a:solidFill>
            <a:prstDash val="solid"/>
          </a:ln>
        </p:spPr>
      </p:sp>
      <p:sp>
        <p:nvSpPr>
          <p:cNvPr id="5" name="Text 3"/>
          <p:cNvSpPr txBox="1"/>
          <p:nvPr/>
        </p:nvSpPr>
        <p:spPr>
          <a:xfrm>
            <a:off x="777240" y="1417320"/>
            <a:ext cx="4663440" cy="365760"/>
          </a:xfrm>
          <a:prstGeom prst="rect">
            <a:avLst/>
          </a:prstGeom>
          <a:noFill/>
          <a:ln/>
        </p:spPr>
        <p:txBody>
          <a:bodyPr wrap="square" lIns="0" tIns="0" rIns="0" bIns="0" rtlCol="0" anchor="t"/>
          <a:lstStyle/>
          <a:p>
            <a:pPr indent="0" marL="0">
              <a:buNone/>
            </a:pPr>
            <a:r>
              <a:rPr lang="en-US" sz="1800" b="1" dirty="0">
                <a:solidFill>
                  <a:srgbClr val="1C6A96"/>
                </a:solidFill>
                <a:latin typeface="Bahnschrift" pitchFamily="34" charset="0"/>
                <a:ea typeface="Bahnschrift" pitchFamily="34" charset="-122"/>
                <a:cs typeface="Bahnschrift" pitchFamily="34" charset="-120"/>
              </a:rPr>
              <a:t>Project overview</a:t>
            </a:r>
            <a:endParaRPr lang="en-US" sz="1800" dirty="0"/>
          </a:p>
        </p:txBody>
      </p:sp>
      <p:sp>
        <p:nvSpPr>
          <p:cNvPr id="6" name="Text 4"/>
          <p:cNvSpPr txBox="1"/>
          <p:nvPr/>
        </p:nvSpPr>
        <p:spPr>
          <a:xfrm>
            <a:off x="777240" y="1874520"/>
            <a:ext cx="4663440" cy="1097280"/>
          </a:xfrm>
          <a:prstGeom prst="rect">
            <a:avLst/>
          </a:prstGeom>
          <a:noFill/>
          <a:ln/>
        </p:spPr>
        <p:txBody>
          <a:bodyPr wrap="square" lIns="0" tIns="0" rIns="0" bIns="0" rtlCol="0" anchor="t"/>
          <a:lstStyle/>
          <a:p>
            <a:pPr indent="0" marL="0">
              <a:spcAft>
                <a:spcPts val="400"/>
              </a:spcAft>
              <a:buNone/>
            </a:pPr>
            <a:r>
              <a:rPr lang="en-US" sz="1500" b="1" dirty="0">
                <a:solidFill>
                  <a:srgbClr val="0F2730"/>
                </a:solidFill>
                <a:latin typeface="Calibri" pitchFamily="34" charset="0"/>
                <a:ea typeface="Calibri" pitchFamily="34" charset="-122"/>
                <a:cs typeface="Calibri" pitchFamily="34" charset="-120"/>
              </a:rPr>
              <a:t>Title: </a:t>
            </a:r>
            <a:pPr indent="0" marL="0">
              <a:spcAft>
                <a:spcPts val="400"/>
              </a:spcAft>
              <a:buNone/>
            </a:pPr>
            <a:r>
              <a:rPr lang="en-US" sz="1500" dirty="0">
                <a:solidFill>
                  <a:srgbClr val="0F2730"/>
                </a:solidFill>
                <a:latin typeface="Calibri" pitchFamily="34" charset="0"/>
                <a:ea typeface="Calibri" pitchFamily="34" charset="-122"/>
                <a:cs typeface="Calibri" pitchFamily="34" charset="-120"/>
              </a:rPr>
              <a:t>FactoryAir Twin</a:t>
            </a:r>
            <a:endParaRPr lang="en-US" sz="1500" dirty="0"/>
          </a:p>
          <a:p>
            <a:pPr indent="0" marL="0">
              <a:spcAft>
                <a:spcPts val="400"/>
              </a:spcAft>
              <a:buNone/>
            </a:pPr>
            <a:r>
              <a:rPr lang="en-US" sz="1500" b="1" dirty="0">
                <a:solidFill>
                  <a:srgbClr val="0F2730"/>
                </a:solidFill>
                <a:latin typeface="Calibri" pitchFamily="34" charset="0"/>
                <a:ea typeface="Calibri" pitchFamily="34" charset="-122"/>
                <a:cs typeface="Calibri" pitchFamily="34" charset="-120"/>
              </a:rPr>
              <a:t>Team ID: </a:t>
            </a:r>
            <a:pPr indent="0" marL="0">
              <a:spcAft>
                <a:spcPts val="400"/>
              </a:spcAft>
              <a:buNone/>
            </a:pPr>
            <a:r>
              <a:rPr lang="en-US" sz="1500" dirty="0">
                <a:solidFill>
                  <a:srgbClr val="0F2730"/>
                </a:solidFill>
                <a:latin typeface="Calibri" pitchFamily="34" charset="0"/>
                <a:ea typeface="Calibri" pitchFamily="34" charset="-122"/>
                <a:cs typeface="Calibri" pitchFamily="34" charset="-120"/>
              </a:rPr>
              <a:t>VK26-IITI-AHM-0210</a:t>
            </a:r>
            <a:endParaRPr lang="en-US" sz="1500" dirty="0"/>
          </a:p>
          <a:p>
            <a:pPr indent="0" marL="0">
              <a:spcAft>
                <a:spcPts val="400"/>
              </a:spcAft>
              <a:buNone/>
            </a:pPr>
            <a:r>
              <a:rPr lang="en-US" sz="1500" b="1" dirty="0">
                <a:solidFill>
                  <a:srgbClr val="0F2730"/>
                </a:solidFill>
                <a:latin typeface="Calibri" pitchFamily="34" charset="0"/>
                <a:ea typeface="Calibri" pitchFamily="34" charset="-122"/>
                <a:cs typeface="Calibri" pitchFamily="34" charset="-120"/>
              </a:rPr>
              <a:t>Track: </a:t>
            </a:r>
            <a:pPr indent="0" marL="0">
              <a:spcAft>
                <a:spcPts val="400"/>
              </a:spcAft>
              <a:buNone/>
            </a:pPr>
            <a:r>
              <a:rPr lang="en-US" sz="1500" dirty="0">
                <a:solidFill>
                  <a:srgbClr val="8F5600"/>
                </a:solidFill>
                <a:latin typeface="Calibri" pitchFamily="34" charset="0"/>
                <a:ea typeface="Calibri" pitchFamily="34" charset="-122"/>
                <a:cs typeface="Calibri" pitchFamily="34" charset="-120"/>
              </a:rPr>
              <a:t>______________________</a:t>
            </a:r>
            <a:endParaRPr lang="en-US" sz="1500" dirty="0"/>
          </a:p>
        </p:txBody>
      </p:sp>
      <p:sp>
        <p:nvSpPr>
          <p:cNvPr id="7" name="Text 5"/>
          <p:cNvSpPr txBox="1"/>
          <p:nvPr/>
        </p:nvSpPr>
        <p:spPr>
          <a:xfrm>
            <a:off x="777240" y="3063240"/>
            <a:ext cx="4663440" cy="320040"/>
          </a:xfrm>
          <a:prstGeom prst="rect">
            <a:avLst/>
          </a:prstGeom>
          <a:noFill/>
          <a:ln/>
        </p:spPr>
        <p:txBody>
          <a:bodyPr wrap="square" lIns="0" tIns="0" rIns="0" bIns="0" rtlCol="0" anchor="t"/>
          <a:lstStyle/>
          <a:p>
            <a:pPr indent="0" marL="0">
              <a:buNone/>
            </a:pPr>
            <a:r>
              <a:rPr lang="en-US" sz="1300" b="1" dirty="0">
                <a:solidFill>
                  <a:srgbClr val="5A6A6F"/>
                </a:solidFill>
                <a:latin typeface="Calibri" pitchFamily="34" charset="0"/>
                <a:ea typeface="Calibri" pitchFamily="34" charset="-122"/>
                <a:cs typeface="Calibri" pitchFamily="34" charset="-120"/>
              </a:rPr>
              <a:t>Core innovation</a:t>
            </a:r>
            <a:endParaRPr lang="en-US" sz="1300" dirty="0"/>
          </a:p>
        </p:txBody>
      </p:sp>
      <p:sp>
        <p:nvSpPr>
          <p:cNvPr id="8" name="Text 6"/>
          <p:cNvSpPr txBox="1"/>
          <p:nvPr/>
        </p:nvSpPr>
        <p:spPr>
          <a:xfrm>
            <a:off x="777240" y="3401568"/>
            <a:ext cx="4663440" cy="1463040"/>
          </a:xfrm>
          <a:prstGeom prst="rect">
            <a:avLst/>
          </a:prstGeom>
          <a:noFill/>
          <a:ln/>
        </p:spPr>
        <p:txBody>
          <a:bodyPr wrap="square" lIns="0" tIns="0" rIns="0" bIns="0" rtlCol="0" anchor="t"/>
          <a:lstStyle/>
          <a:p>
            <a:pPr indent="0" marL="0">
              <a:buNone/>
            </a:pPr>
            <a:r>
              <a:rPr lang="en-US" sz="1700" dirty="0">
                <a:solidFill>
                  <a:srgbClr val="0F2730"/>
                </a:solidFill>
                <a:latin typeface="Bahnschrift" pitchFamily="34" charset="0"/>
                <a:ea typeface="Bahnschrift" pitchFamily="34" charset="-122"/>
                <a:cs typeface="Bahnschrift" pitchFamily="34" charset="-120"/>
              </a:rPr>
              <a:t>A nightly load/unload leak test on header pressure and motor power that teaches the twin each plant's own storage volume, leak flow and specific power — so it can find, locate and verify leaks with no flow meter.</a:t>
            </a:r>
            <a:endParaRPr lang="en-US" sz="1700" dirty="0"/>
          </a:p>
        </p:txBody>
      </p:sp>
      <p:sp>
        <p:nvSpPr>
          <p:cNvPr id="9" name="Text 7"/>
          <p:cNvSpPr txBox="1"/>
          <p:nvPr/>
        </p:nvSpPr>
        <p:spPr>
          <a:xfrm>
            <a:off x="777240" y="5440680"/>
            <a:ext cx="4663440" cy="457200"/>
          </a:xfrm>
          <a:prstGeom prst="rect">
            <a:avLst/>
          </a:prstGeom>
          <a:noFill/>
          <a:ln/>
        </p:spPr>
        <p:txBody>
          <a:bodyPr wrap="square" lIns="0" tIns="0" rIns="0" bIns="0" rtlCol="0" anchor="t"/>
          <a:lstStyle/>
          <a:p>
            <a:pPr indent="0" marL="0">
              <a:buNone/>
            </a:pPr>
            <a:r>
              <a:rPr lang="en-US" sz="1300" i="1" dirty="0">
                <a:solidFill>
                  <a:srgbClr val="1C6A96"/>
                </a:solidFill>
                <a:latin typeface="Calibri" pitchFamily="34" charset="0"/>
                <a:ea typeface="Calibri" pitchFamily="34" charset="-122"/>
                <a:cs typeface="Calibri" pitchFamily="34" charset="-120"/>
              </a:rPr>
              <a:t>Reads only. It never sends a command to the compressor.</a:t>
            </a:r>
            <a:endParaRPr lang="en-US" sz="1300" dirty="0"/>
          </a:p>
        </p:txBody>
      </p:sp>
      <p:sp>
        <p:nvSpPr>
          <p:cNvPr id="10" name="Text 8"/>
          <p:cNvSpPr txBox="1"/>
          <p:nvPr/>
        </p:nvSpPr>
        <p:spPr>
          <a:xfrm>
            <a:off x="6126480" y="1280160"/>
            <a:ext cx="5486400" cy="365760"/>
          </a:xfrm>
          <a:prstGeom prst="rect">
            <a:avLst/>
          </a:prstGeom>
          <a:noFill/>
          <a:ln/>
        </p:spPr>
        <p:txBody>
          <a:bodyPr wrap="square" lIns="0" tIns="0" rIns="0" bIns="0" rtlCol="0" anchor="t"/>
          <a:lstStyle/>
          <a:p>
            <a:pPr indent="0" marL="0">
              <a:buNone/>
            </a:pPr>
            <a:r>
              <a:rPr lang="en-US" sz="1800" b="1" dirty="0">
                <a:solidFill>
                  <a:srgbClr val="0F2730"/>
                </a:solidFill>
                <a:latin typeface="Bahnschrift" pitchFamily="34" charset="0"/>
                <a:ea typeface="Bahnschrift" pitchFamily="34" charset="-122"/>
                <a:cs typeface="Bahnschrift" pitchFamily="34" charset="-120"/>
              </a:rPr>
              <a:t>Problem statement</a:t>
            </a:r>
            <a:endParaRPr lang="en-US" sz="1800" dirty="0"/>
          </a:p>
        </p:txBody>
      </p:sp>
      <p:sp>
        <p:nvSpPr>
          <p:cNvPr id="11" name="Text 9"/>
          <p:cNvSpPr txBox="1"/>
          <p:nvPr/>
        </p:nvSpPr>
        <p:spPr>
          <a:xfrm>
            <a:off x="6126480" y="1691640"/>
            <a:ext cx="5486400" cy="1188720"/>
          </a:xfrm>
          <a:prstGeom prst="rect">
            <a:avLst/>
          </a:prstGeom>
          <a:noFill/>
          <a:ln/>
        </p:spPr>
        <p:txBody>
          <a:bodyPr wrap="square" lIns="0" tIns="0" rIns="0" bIns="0" rtlCol="0" anchor="t"/>
          <a:lstStyle/>
          <a:p>
            <a:pPr indent="0" marL="0">
              <a:buNone/>
            </a:pPr>
            <a:r>
              <a:rPr lang="en-US" sz="1500" dirty="0">
                <a:solidFill>
                  <a:srgbClr val="0F2730"/>
                </a:solidFill>
                <a:latin typeface="Calibri" pitchFamily="34" charset="0"/>
                <a:ea typeface="Calibri" pitchFamily="34" charset="-122"/>
                <a:cs typeface="Calibri" pitchFamily="34" charset="-120"/>
              </a:rPr>
              <a:t>Leaks, unloaded running and excess pressure waste a large share of compressor electricity. Nobody sees it: there is no flow meter on the line, the bill arrives a month later, and an air leak makes no smoke or smell.</a:t>
            </a:r>
            <a:endParaRPr lang="en-US" sz="1500" dirty="0"/>
          </a:p>
        </p:txBody>
      </p:sp>
      <p:sp>
        <p:nvSpPr>
          <p:cNvPr id="12" name="Text 10"/>
          <p:cNvSpPr txBox="1"/>
          <p:nvPr/>
        </p:nvSpPr>
        <p:spPr>
          <a:xfrm>
            <a:off x="6126480" y="2926080"/>
            <a:ext cx="5486400" cy="365760"/>
          </a:xfrm>
          <a:prstGeom prst="rect">
            <a:avLst/>
          </a:prstGeom>
          <a:noFill/>
          <a:ln/>
        </p:spPr>
        <p:txBody>
          <a:bodyPr wrap="square" lIns="0" tIns="0" rIns="0" bIns="0" rtlCol="0" anchor="t"/>
          <a:lstStyle/>
          <a:p>
            <a:pPr indent="0" marL="0">
              <a:buNone/>
            </a:pPr>
            <a:r>
              <a:rPr lang="en-US" sz="1800" b="1" dirty="0">
                <a:solidFill>
                  <a:srgbClr val="0F2730"/>
                </a:solidFill>
                <a:latin typeface="Bahnschrift" pitchFamily="34" charset="0"/>
                <a:ea typeface="Bahnschrift" pitchFamily="34" charset="-122"/>
                <a:cs typeface="Bahnschrift" pitchFamily="34" charset="-120"/>
              </a:rPr>
              <a:t>Target beneficiary</a:t>
            </a:r>
            <a:endParaRPr lang="en-US" sz="1800" dirty="0"/>
          </a:p>
        </p:txBody>
      </p:sp>
      <p:sp>
        <p:nvSpPr>
          <p:cNvPr id="13" name="Text 11"/>
          <p:cNvSpPr txBox="1"/>
          <p:nvPr/>
        </p:nvSpPr>
        <p:spPr>
          <a:xfrm>
            <a:off x="6126480" y="3337560"/>
            <a:ext cx="5486400" cy="1005840"/>
          </a:xfrm>
          <a:prstGeom prst="rect">
            <a:avLst/>
          </a:prstGeom>
          <a:noFill/>
          <a:ln/>
        </p:spPr>
        <p:txBody>
          <a:bodyPr wrap="square" lIns="0" tIns="0" rIns="0" bIns="0" rtlCol="0" anchor="t"/>
          <a:lstStyle/>
          <a:p>
            <a:pPr indent="0" marL="0">
              <a:buNone/>
            </a:pPr>
            <a:r>
              <a:rPr lang="en-US" sz="1500" dirty="0">
                <a:solidFill>
                  <a:srgbClr val="0F2730"/>
                </a:solidFill>
                <a:latin typeface="Calibri" pitchFamily="34" charset="0"/>
                <a:ea typeface="Calibri" pitchFamily="34" charset="-122"/>
                <a:cs typeface="Calibri" pitchFamily="34" charset="-120"/>
              </a:rPr>
              <a:t>MSME units — foundries, machine shops, textile and packaging plants — running one or two 5–30 kW screw compressors, with an owner and one maintenance person and no energy manager.</a:t>
            </a:r>
            <a:endParaRPr lang="en-US" sz="1500" dirty="0"/>
          </a:p>
        </p:txBody>
      </p:sp>
      <p:sp>
        <p:nvSpPr>
          <p:cNvPr id="14" name="Text 12"/>
          <p:cNvSpPr txBox="1"/>
          <p:nvPr/>
        </p:nvSpPr>
        <p:spPr>
          <a:xfrm>
            <a:off x="6126480" y="4434840"/>
            <a:ext cx="1737360" cy="685800"/>
          </a:xfrm>
          <a:prstGeom prst="rect">
            <a:avLst/>
          </a:prstGeom>
          <a:noFill/>
          <a:ln/>
        </p:spPr>
        <p:txBody>
          <a:bodyPr wrap="square" lIns="0" tIns="0" rIns="0" bIns="0" rtlCol="0" anchor="t"/>
          <a:lstStyle/>
          <a:p>
            <a:pPr indent="0" marL="0">
              <a:buNone/>
            </a:pPr>
            <a:r>
              <a:rPr lang="en-US" sz="3600" b="1" dirty="0">
                <a:solidFill>
                  <a:srgbClr val="8F5600"/>
                </a:solidFill>
                <a:latin typeface="Bahnschrift" pitchFamily="34" charset="0"/>
                <a:ea typeface="Bahnschrift" pitchFamily="34" charset="-122"/>
                <a:cs typeface="Bahnschrift" pitchFamily="34" charset="-120"/>
              </a:rPr>
              <a:t>20–30%</a:t>
            </a:r>
            <a:endParaRPr lang="en-US" sz="3600" dirty="0"/>
          </a:p>
        </p:txBody>
      </p:sp>
      <p:sp>
        <p:nvSpPr>
          <p:cNvPr id="15" name="Text 13"/>
          <p:cNvSpPr txBox="1"/>
          <p:nvPr/>
        </p:nvSpPr>
        <p:spPr>
          <a:xfrm>
            <a:off x="6126480" y="5148072"/>
            <a:ext cx="173736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of compressor output is often lost to leaks</a:t>
            </a:r>
            <a:endParaRPr lang="en-US" sz="1300" dirty="0"/>
          </a:p>
        </p:txBody>
      </p:sp>
      <p:sp>
        <p:nvSpPr>
          <p:cNvPr id="16" name="Text 14"/>
          <p:cNvSpPr txBox="1"/>
          <p:nvPr/>
        </p:nvSpPr>
        <p:spPr>
          <a:xfrm>
            <a:off x="6126480" y="5852160"/>
            <a:ext cx="1737360" cy="228600"/>
          </a:xfrm>
          <a:prstGeom prst="rect">
            <a:avLst/>
          </a:prstGeom>
          <a:noFill/>
          <a:ln/>
        </p:spPr>
        <p:txBody>
          <a:bodyPr wrap="square" lIns="0" tIns="0" rIns="0" bIns="0" rtlCol="0" anchor="t"/>
          <a:lstStyle/>
          <a:p>
            <a:pPr indent="0" marL="0">
              <a:buNone/>
            </a:pPr>
            <a:r>
              <a:rPr lang="en-US" sz="1000" i="1" dirty="0">
                <a:solidFill>
                  <a:srgbClr val="5A6A6F"/>
                </a:solidFill>
                <a:latin typeface="Calibri" pitchFamily="34" charset="0"/>
                <a:ea typeface="Calibri" pitchFamily="34" charset="-122"/>
                <a:cs typeface="Calibri" pitchFamily="34" charset="-120"/>
              </a:rPr>
              <a:t>US DOE sourcebook [1]</a:t>
            </a:r>
            <a:endParaRPr lang="en-US" sz="1000" dirty="0"/>
          </a:p>
        </p:txBody>
      </p:sp>
      <p:sp>
        <p:nvSpPr>
          <p:cNvPr id="17" name="Text 15"/>
          <p:cNvSpPr txBox="1"/>
          <p:nvPr/>
        </p:nvSpPr>
        <p:spPr>
          <a:xfrm>
            <a:off x="8001000" y="4434840"/>
            <a:ext cx="1737360" cy="685800"/>
          </a:xfrm>
          <a:prstGeom prst="rect">
            <a:avLst/>
          </a:prstGeom>
          <a:noFill/>
          <a:ln/>
        </p:spPr>
        <p:txBody>
          <a:bodyPr wrap="square" lIns="0" tIns="0" rIns="0" bIns="0" rtlCol="0" anchor="t"/>
          <a:lstStyle/>
          <a:p>
            <a:pPr indent="0" marL="0">
              <a:buNone/>
            </a:pPr>
            <a:r>
              <a:rPr lang="en-US" sz="3600" b="1" dirty="0">
                <a:solidFill>
                  <a:srgbClr val="0F2730"/>
                </a:solidFill>
                <a:latin typeface="Bahnschrift" pitchFamily="34" charset="0"/>
                <a:ea typeface="Bahnschrift" pitchFamily="34" charset="-122"/>
                <a:cs typeface="Bahnschrift" pitchFamily="34" charset="-120"/>
              </a:rPr>
              <a:t>~10%</a:t>
            </a:r>
            <a:endParaRPr lang="en-US" sz="3600" dirty="0"/>
          </a:p>
        </p:txBody>
      </p:sp>
      <p:sp>
        <p:nvSpPr>
          <p:cNvPr id="18" name="Text 16"/>
          <p:cNvSpPr txBox="1"/>
          <p:nvPr/>
        </p:nvSpPr>
        <p:spPr>
          <a:xfrm>
            <a:off x="8001000" y="5148072"/>
            <a:ext cx="173736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of industrial electricity makes compressed air</a:t>
            </a:r>
            <a:endParaRPr lang="en-US" sz="1300" dirty="0"/>
          </a:p>
        </p:txBody>
      </p:sp>
      <p:sp>
        <p:nvSpPr>
          <p:cNvPr id="19" name="Text 17"/>
          <p:cNvSpPr txBox="1"/>
          <p:nvPr/>
        </p:nvSpPr>
        <p:spPr>
          <a:xfrm>
            <a:off x="8001000" y="5852160"/>
            <a:ext cx="1737360" cy="228600"/>
          </a:xfrm>
          <a:prstGeom prst="rect">
            <a:avLst/>
          </a:prstGeom>
          <a:noFill/>
          <a:ln/>
        </p:spPr>
        <p:txBody>
          <a:bodyPr wrap="square" lIns="0" tIns="0" rIns="0" bIns="0" rtlCol="0" anchor="t"/>
          <a:lstStyle/>
          <a:p>
            <a:pPr indent="0" marL="0">
              <a:buNone/>
            </a:pPr>
            <a:r>
              <a:rPr lang="en-US" sz="1000" i="1" dirty="0">
                <a:solidFill>
                  <a:srgbClr val="5A6A6F"/>
                </a:solidFill>
                <a:latin typeface="Calibri" pitchFamily="34" charset="0"/>
                <a:ea typeface="Calibri" pitchFamily="34" charset="-122"/>
                <a:cs typeface="Calibri" pitchFamily="34" charset="-120"/>
              </a:rPr>
              <a:t>US DOE sourcebook [1]</a:t>
            </a:r>
            <a:endParaRPr lang="en-US" sz="1000" dirty="0"/>
          </a:p>
        </p:txBody>
      </p:sp>
      <p:sp>
        <p:nvSpPr>
          <p:cNvPr id="20" name="Text 18"/>
          <p:cNvSpPr txBox="1"/>
          <p:nvPr/>
        </p:nvSpPr>
        <p:spPr>
          <a:xfrm>
            <a:off x="9875520" y="4434840"/>
            <a:ext cx="1737360" cy="685800"/>
          </a:xfrm>
          <a:prstGeom prst="rect">
            <a:avLst/>
          </a:prstGeom>
          <a:noFill/>
          <a:ln/>
        </p:spPr>
        <p:txBody>
          <a:bodyPr wrap="square" lIns="0" tIns="0" rIns="0" bIns="0" rtlCol="0" anchor="t"/>
          <a:lstStyle/>
          <a:p>
            <a:pPr indent="0" marL="0">
              <a:buNone/>
            </a:pPr>
            <a:r>
              <a:rPr lang="en-US" sz="3600" b="1" dirty="0">
                <a:solidFill>
                  <a:srgbClr val="8F5600"/>
                </a:solidFill>
                <a:latin typeface="Bahnschrift" pitchFamily="34" charset="0"/>
                <a:ea typeface="Bahnschrift" pitchFamily="34" charset="-122"/>
                <a:cs typeface="Bahnschrift" pitchFamily="34" charset="-120"/>
              </a:rPr>
              <a:t>36%</a:t>
            </a:r>
            <a:endParaRPr lang="en-US" sz="3600" dirty="0"/>
          </a:p>
        </p:txBody>
      </p:sp>
      <p:sp>
        <p:nvSpPr>
          <p:cNvPr id="21" name="Text 19"/>
          <p:cNvSpPr txBox="1"/>
          <p:nvPr/>
        </p:nvSpPr>
        <p:spPr>
          <a:xfrm>
            <a:off x="9875520" y="5148072"/>
            <a:ext cx="173736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of the demo plant's compressor bill buys no useful air</a:t>
            </a:r>
            <a:endParaRPr lang="en-US" sz="1300" dirty="0"/>
          </a:p>
        </p:txBody>
      </p:sp>
      <p:sp>
        <p:nvSpPr>
          <p:cNvPr id="22" name="Text 20"/>
          <p:cNvSpPr txBox="1"/>
          <p:nvPr/>
        </p:nvSpPr>
        <p:spPr>
          <a:xfrm>
            <a:off x="9875520" y="5852160"/>
            <a:ext cx="1737360" cy="228600"/>
          </a:xfrm>
          <a:prstGeom prst="rect">
            <a:avLst/>
          </a:prstGeom>
          <a:noFill/>
          <a:ln/>
        </p:spPr>
        <p:txBody>
          <a:bodyPr wrap="square" lIns="0" tIns="0" rIns="0" bIns="0" rtlCol="0" anchor="t"/>
          <a:lstStyle/>
          <a:p>
            <a:pPr indent="0" marL="0">
              <a:buNone/>
            </a:pPr>
            <a:r>
              <a:rPr lang="en-US" sz="1000" i="1" dirty="0">
                <a:solidFill>
                  <a:srgbClr val="5A6A6F"/>
                </a:solidFill>
                <a:latin typeface="Calibri" pitchFamily="34" charset="0"/>
                <a:ea typeface="Calibri" pitchFamily="34" charset="-122"/>
                <a:cs typeface="Calibri" pitchFamily="34" charset="-120"/>
              </a:rPr>
              <a:t>FactoryAir Twin, simulated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Today's options are too rare, too costly or brand-locked</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Problem context</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gridCol w="2743200"/>
                <a:gridCol w="521208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 a small plant has today</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needs</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misses</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r>
              <a:tr h="566928">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Annual ultrasonic leak survey</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A consultant visit</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A snapshot once a year. New leaks run unseen for months; no one checks the repair held.</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566928">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Inline flow meter</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Pipe cutting and a shutdown</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Says how much air flows, not where it leaks or what it costs.</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566928">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Compressor maker's connected monitoring</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That brand's newer machine</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Older and mixed-brand compressor rooms — most small plants — are left out.</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566928">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Watching the electricity bill</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Nothing</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0F2730"/>
                          </a:solidFill>
                          <a:latin typeface="Calibri" pitchFamily="34" charset="0"/>
                          <a:ea typeface="Calibri" pitchFamily="34" charset="-122"/>
                          <a:cs typeface="Calibri" pitchFamily="34" charset="-120"/>
                        </a:rPr>
                        <a:t>Arrives a month late and cannot separate production from waste.</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566928">
                <a:tc>
                  <a:txBody>
                    <a:bodyPr/>
                    <a:lstStyle/>
                    <a:p>
                      <a:pPr indent="0" marL="0">
                        <a:buNone/>
                      </a:pPr>
                      <a:r>
                        <a:rPr lang="en-US" sz="1400" b="1" dirty="0">
                          <a:solidFill>
                            <a:srgbClr val="17845A"/>
                          </a:solidFill>
                          <a:latin typeface="Calibri" pitchFamily="34" charset="0"/>
                          <a:ea typeface="Calibri" pitchFamily="34" charset="-122"/>
                          <a:cs typeface="Calibri" pitchFamily="34" charset="-120"/>
                        </a:rPr>
                        <a:t>FactoryAir Twin</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17845A"/>
                          </a:solidFill>
                          <a:latin typeface="Calibri" pitchFamily="34" charset="0"/>
                          <a:ea typeface="Calibri" pitchFamily="34" charset="-122"/>
                          <a:cs typeface="Calibri" pitchFamily="34" charset="-120"/>
                        </a:rPr>
                        <a:t>Two clip-on signals, any brand</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400" dirty="0">
                          <a:solidFill>
                            <a:srgbClr val="17845A"/>
                          </a:solidFill>
                          <a:latin typeface="Calibri" pitchFamily="34" charset="0"/>
                          <a:ea typeface="Calibri" pitchFamily="34" charset="-122"/>
                          <a:cs typeface="Calibri" pitchFamily="34" charset="-120"/>
                        </a:rPr>
                        <a:t>Tests every night, finds the zone, prices it in ₹, and measures the repair the next night.</a:t>
                      </a:r>
                      <a:endParaRPr lang="en-US" sz="14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bl>
          </a:graphicData>
        </a:graphic>
      </p:graphicFrame>
      <p:sp>
        <p:nvSpPr>
          <p:cNvPr id="5" name="Shape 2"/>
          <p:cNvSpPr/>
          <p:nvPr/>
        </p:nvSpPr>
        <p:spPr>
          <a:xfrm>
            <a:off x="548640" y="5074920"/>
            <a:ext cx="11064240" cy="1051560"/>
          </a:xfrm>
          <a:prstGeom prst="roundRect">
            <a:avLst>
              <a:gd name="adj" fmla="val 6957"/>
            </a:avLst>
          </a:prstGeom>
          <a:solidFill>
            <a:srgbClr val="FDF1D8"/>
          </a:solidFill>
          <a:ln w="12700">
            <a:solidFill>
              <a:srgbClr val="FDF1D8"/>
            </a:solidFill>
            <a:prstDash val="solid"/>
          </a:ln>
        </p:spPr>
      </p:sp>
      <p:sp>
        <p:nvSpPr>
          <p:cNvPr id="6" name="Text 3"/>
          <p:cNvSpPr txBox="1"/>
          <p:nvPr/>
        </p:nvSpPr>
        <p:spPr>
          <a:xfrm>
            <a:off x="822960" y="5074920"/>
            <a:ext cx="10515600" cy="1051560"/>
          </a:xfrm>
          <a:prstGeom prst="rect">
            <a:avLst/>
          </a:prstGeom>
          <a:noFill/>
          <a:ln/>
        </p:spPr>
        <p:txBody>
          <a:bodyPr wrap="square" lIns="0" tIns="0" rIns="0" bIns="0" rtlCol="0" anchor="ctr"/>
          <a:lstStyle/>
          <a:p>
            <a:pPr indent="0" marL="0">
              <a:buNone/>
            </a:pPr>
            <a:r>
              <a:rPr lang="en-US" sz="1900" dirty="0">
                <a:solidFill>
                  <a:srgbClr val="8F5600"/>
                </a:solidFill>
                <a:latin typeface="Bahnschrift" pitchFamily="34" charset="0"/>
                <a:ea typeface="Bahnschrift" pitchFamily="34" charset="-122"/>
                <a:cs typeface="Bahnschrift" pitchFamily="34" charset="-120"/>
              </a:rPr>
              <a:t>The gap: nobody measures waste continuously, cheaply and on any compressor — so it stays invisible until the bill.</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Before: one failed coupling costs money for weeks unseen</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User journey</a:t>
            </a:r>
            <a:endParaRPr lang="en-US" sz="1000" dirty="0"/>
          </a:p>
        </p:txBody>
      </p:sp>
      <p:sp>
        <p:nvSpPr>
          <p:cNvPr id="4" name="Shape 2"/>
          <p:cNvSpPr/>
          <p:nvPr/>
        </p:nvSpPr>
        <p:spPr>
          <a:xfrm>
            <a:off x="548640" y="1371600"/>
            <a:ext cx="2011680" cy="1828800"/>
          </a:xfrm>
          <a:prstGeom prst="roundRect">
            <a:avLst>
              <a:gd name="adj" fmla="val 4000"/>
            </a:avLst>
          </a:prstGeom>
          <a:solidFill>
            <a:srgbClr val="FDF1D8"/>
          </a:solidFill>
          <a:ln w="12700">
            <a:solidFill>
              <a:srgbClr val="F2A516"/>
            </a:solidFill>
            <a:prstDash val="solid"/>
          </a:ln>
        </p:spPr>
      </p:sp>
      <p:sp>
        <p:nvSpPr>
          <p:cNvPr id="5" name="Text 3"/>
          <p:cNvSpPr txBox="1"/>
          <p:nvPr/>
        </p:nvSpPr>
        <p:spPr>
          <a:xfrm>
            <a:off x="685800" y="1481328"/>
            <a:ext cx="1737360" cy="320040"/>
          </a:xfrm>
          <a:prstGeom prst="rect">
            <a:avLst/>
          </a:prstGeom>
          <a:noFill/>
          <a:ln/>
        </p:spPr>
        <p:txBody>
          <a:bodyPr wrap="square" lIns="0" tIns="0" rIns="0" bIns="0" rtlCol="0" anchor="t"/>
          <a:lstStyle/>
          <a:p>
            <a:pPr indent="0" marL="0">
              <a:buNone/>
            </a:pPr>
            <a:r>
              <a:rPr lang="en-US" sz="1200" b="1" dirty="0">
                <a:solidFill>
                  <a:srgbClr val="8F5600"/>
                </a:solidFill>
                <a:latin typeface="Calibri" pitchFamily="34" charset="0"/>
                <a:ea typeface="Calibri" pitchFamily="34" charset="-122"/>
                <a:cs typeface="Calibri" pitchFamily="34" charset="-120"/>
              </a:rPr>
              <a:t>Thu, 14:24</a:t>
            </a:r>
            <a:endParaRPr lang="en-US" sz="1200" dirty="0"/>
          </a:p>
        </p:txBody>
      </p:sp>
      <p:sp>
        <p:nvSpPr>
          <p:cNvPr id="6" name="Text 4"/>
          <p:cNvSpPr txBox="1"/>
          <p:nvPr/>
        </p:nvSpPr>
        <p:spPr>
          <a:xfrm>
            <a:off x="685800" y="1828800"/>
            <a:ext cx="1737360" cy="128016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A hose coupling fails in the assembly bay</a:t>
            </a:r>
            <a:endParaRPr lang="en-US" sz="1400" dirty="0"/>
          </a:p>
        </p:txBody>
      </p:sp>
      <p:sp>
        <p:nvSpPr>
          <p:cNvPr id="7" name="Shape 5"/>
          <p:cNvSpPr/>
          <p:nvPr/>
        </p:nvSpPr>
        <p:spPr>
          <a:xfrm>
            <a:off x="2578608" y="2148840"/>
            <a:ext cx="210312" cy="292608"/>
          </a:xfrm>
          <a:prstGeom prst="rightArrow">
            <a:avLst/>
          </a:prstGeom>
          <a:solidFill>
            <a:srgbClr val="5A6A6F"/>
          </a:solidFill>
          <a:ln w="12700">
            <a:solidFill>
              <a:srgbClr val="5A6A6F"/>
            </a:solidFill>
            <a:prstDash val="solid"/>
          </a:ln>
        </p:spPr>
      </p:sp>
      <p:sp>
        <p:nvSpPr>
          <p:cNvPr id="8" name="Shape 6"/>
          <p:cNvSpPr/>
          <p:nvPr/>
        </p:nvSpPr>
        <p:spPr>
          <a:xfrm>
            <a:off x="2807208" y="1371600"/>
            <a:ext cx="2011680" cy="1828800"/>
          </a:xfrm>
          <a:prstGeom prst="roundRect">
            <a:avLst>
              <a:gd name="adj" fmla="val 4000"/>
            </a:avLst>
          </a:prstGeom>
          <a:solidFill>
            <a:srgbClr val="F2F4F5"/>
          </a:solidFill>
          <a:ln w="12700">
            <a:solidFill>
              <a:srgbClr val="D9DEE0"/>
            </a:solidFill>
            <a:prstDash val="solid"/>
          </a:ln>
        </p:spPr>
      </p:sp>
      <p:sp>
        <p:nvSpPr>
          <p:cNvPr id="9" name="Text 7"/>
          <p:cNvSpPr txBox="1"/>
          <p:nvPr/>
        </p:nvSpPr>
        <p:spPr>
          <a:xfrm>
            <a:off x="2944368" y="1481328"/>
            <a:ext cx="1737360" cy="320040"/>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Same day</a:t>
            </a:r>
            <a:endParaRPr lang="en-US" sz="1200" dirty="0"/>
          </a:p>
        </p:txBody>
      </p:sp>
      <p:sp>
        <p:nvSpPr>
          <p:cNvPr id="10" name="Text 8"/>
          <p:cNvSpPr txBox="1"/>
          <p:nvPr/>
        </p:nvSpPr>
        <p:spPr>
          <a:xfrm>
            <a:off x="2944368" y="1828800"/>
            <a:ext cx="1737360" cy="128016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The compressor quietly loads more often. No alarm, no flow meter</a:t>
            </a:r>
            <a:endParaRPr lang="en-US" sz="1400" dirty="0"/>
          </a:p>
        </p:txBody>
      </p:sp>
      <p:sp>
        <p:nvSpPr>
          <p:cNvPr id="11" name="Shape 9"/>
          <p:cNvSpPr/>
          <p:nvPr/>
        </p:nvSpPr>
        <p:spPr>
          <a:xfrm>
            <a:off x="4837176" y="2148840"/>
            <a:ext cx="210312" cy="292608"/>
          </a:xfrm>
          <a:prstGeom prst="rightArrow">
            <a:avLst/>
          </a:prstGeom>
          <a:solidFill>
            <a:srgbClr val="5A6A6F"/>
          </a:solidFill>
          <a:ln w="12700">
            <a:solidFill>
              <a:srgbClr val="5A6A6F"/>
            </a:solidFill>
            <a:prstDash val="solid"/>
          </a:ln>
        </p:spPr>
      </p:sp>
      <p:sp>
        <p:nvSpPr>
          <p:cNvPr id="12" name="Shape 10"/>
          <p:cNvSpPr/>
          <p:nvPr/>
        </p:nvSpPr>
        <p:spPr>
          <a:xfrm>
            <a:off x="5065776" y="1371600"/>
            <a:ext cx="2011680" cy="1828800"/>
          </a:xfrm>
          <a:prstGeom prst="roundRect">
            <a:avLst>
              <a:gd name="adj" fmla="val 4000"/>
            </a:avLst>
          </a:prstGeom>
          <a:solidFill>
            <a:srgbClr val="F2F4F5"/>
          </a:solidFill>
          <a:ln w="12700">
            <a:solidFill>
              <a:srgbClr val="D9DEE0"/>
            </a:solidFill>
            <a:prstDash val="solid"/>
          </a:ln>
        </p:spPr>
      </p:sp>
      <p:sp>
        <p:nvSpPr>
          <p:cNvPr id="13" name="Text 11"/>
          <p:cNvSpPr txBox="1"/>
          <p:nvPr/>
        </p:nvSpPr>
        <p:spPr>
          <a:xfrm>
            <a:off x="5202936" y="1481328"/>
            <a:ext cx="1737360" cy="320040"/>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~30 days</a:t>
            </a:r>
            <a:endParaRPr lang="en-US" sz="1200" dirty="0"/>
          </a:p>
        </p:txBody>
      </p:sp>
      <p:sp>
        <p:nvSpPr>
          <p:cNvPr id="14" name="Text 12"/>
          <p:cNvSpPr txBox="1"/>
          <p:nvPr/>
        </p:nvSpPr>
        <p:spPr>
          <a:xfrm>
            <a:off x="5202936" y="1828800"/>
            <a:ext cx="1737360" cy="128016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The electricity bill rises. The owner blames an old machine</a:t>
            </a:r>
            <a:endParaRPr lang="en-US" sz="1400" dirty="0"/>
          </a:p>
        </p:txBody>
      </p:sp>
      <p:sp>
        <p:nvSpPr>
          <p:cNvPr id="15" name="Shape 13"/>
          <p:cNvSpPr/>
          <p:nvPr/>
        </p:nvSpPr>
        <p:spPr>
          <a:xfrm>
            <a:off x="7095744" y="2148840"/>
            <a:ext cx="210312" cy="292608"/>
          </a:xfrm>
          <a:prstGeom prst="rightArrow">
            <a:avLst/>
          </a:prstGeom>
          <a:solidFill>
            <a:srgbClr val="5A6A6F"/>
          </a:solidFill>
          <a:ln w="12700">
            <a:solidFill>
              <a:srgbClr val="5A6A6F"/>
            </a:solidFill>
            <a:prstDash val="solid"/>
          </a:ln>
        </p:spPr>
      </p:sp>
      <p:sp>
        <p:nvSpPr>
          <p:cNvPr id="16" name="Shape 14"/>
          <p:cNvSpPr/>
          <p:nvPr/>
        </p:nvSpPr>
        <p:spPr>
          <a:xfrm>
            <a:off x="7324344" y="1371600"/>
            <a:ext cx="2011680" cy="1828800"/>
          </a:xfrm>
          <a:prstGeom prst="roundRect">
            <a:avLst>
              <a:gd name="adj" fmla="val 4000"/>
            </a:avLst>
          </a:prstGeom>
          <a:solidFill>
            <a:srgbClr val="F2F4F5"/>
          </a:solidFill>
          <a:ln w="12700">
            <a:solidFill>
              <a:srgbClr val="D9DEE0"/>
            </a:solidFill>
            <a:prstDash val="solid"/>
          </a:ln>
        </p:spPr>
      </p:sp>
      <p:sp>
        <p:nvSpPr>
          <p:cNvPr id="17" name="Text 15"/>
          <p:cNvSpPr txBox="1"/>
          <p:nvPr/>
        </p:nvSpPr>
        <p:spPr>
          <a:xfrm>
            <a:off x="7461504" y="1481328"/>
            <a:ext cx="1737360" cy="320040"/>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Months</a:t>
            </a:r>
            <a:endParaRPr lang="en-US" sz="1200" dirty="0"/>
          </a:p>
        </p:txBody>
      </p:sp>
      <p:sp>
        <p:nvSpPr>
          <p:cNvPr id="18" name="Text 16"/>
          <p:cNvSpPr txBox="1"/>
          <p:nvPr/>
        </p:nvSpPr>
        <p:spPr>
          <a:xfrm>
            <a:off x="7461504" y="1828800"/>
            <a:ext cx="1737360" cy="128016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Maybe the annual survey finds it, maybe not</a:t>
            </a:r>
            <a:endParaRPr lang="en-US" sz="1400" dirty="0"/>
          </a:p>
        </p:txBody>
      </p:sp>
      <p:sp>
        <p:nvSpPr>
          <p:cNvPr id="19" name="Shape 17"/>
          <p:cNvSpPr/>
          <p:nvPr/>
        </p:nvSpPr>
        <p:spPr>
          <a:xfrm>
            <a:off x="9354312" y="2148840"/>
            <a:ext cx="210312" cy="292608"/>
          </a:xfrm>
          <a:prstGeom prst="rightArrow">
            <a:avLst/>
          </a:prstGeom>
          <a:solidFill>
            <a:srgbClr val="5A6A6F"/>
          </a:solidFill>
          <a:ln w="12700">
            <a:solidFill>
              <a:srgbClr val="5A6A6F"/>
            </a:solidFill>
            <a:prstDash val="solid"/>
          </a:ln>
        </p:spPr>
      </p:sp>
      <p:sp>
        <p:nvSpPr>
          <p:cNvPr id="20" name="Shape 18"/>
          <p:cNvSpPr/>
          <p:nvPr/>
        </p:nvSpPr>
        <p:spPr>
          <a:xfrm>
            <a:off x="9582912" y="1371600"/>
            <a:ext cx="2011680" cy="1828800"/>
          </a:xfrm>
          <a:prstGeom prst="roundRect">
            <a:avLst>
              <a:gd name="adj" fmla="val 4000"/>
            </a:avLst>
          </a:prstGeom>
          <a:solidFill>
            <a:srgbClr val="F2F4F5"/>
          </a:solidFill>
          <a:ln w="12700">
            <a:solidFill>
              <a:srgbClr val="D9DEE0"/>
            </a:solidFill>
            <a:prstDash val="solid"/>
          </a:ln>
        </p:spPr>
      </p:sp>
      <p:sp>
        <p:nvSpPr>
          <p:cNvPr id="21" name="Text 19"/>
          <p:cNvSpPr txBox="1"/>
          <p:nvPr/>
        </p:nvSpPr>
        <p:spPr>
          <a:xfrm>
            <a:off x="9720072" y="1481328"/>
            <a:ext cx="1737360" cy="320040"/>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After repair</a:t>
            </a:r>
            <a:endParaRPr lang="en-US" sz="1200" dirty="0"/>
          </a:p>
        </p:txBody>
      </p:sp>
      <p:sp>
        <p:nvSpPr>
          <p:cNvPr id="22" name="Text 20"/>
          <p:cNvSpPr txBox="1"/>
          <p:nvPr/>
        </p:nvSpPr>
        <p:spPr>
          <a:xfrm>
            <a:off x="9720072" y="1828800"/>
            <a:ext cx="1737360" cy="128016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Nobody measures whether the fix held</a:t>
            </a:r>
            <a:endParaRPr lang="en-US" sz="1400" dirty="0"/>
          </a:p>
        </p:txBody>
      </p:sp>
      <p:sp>
        <p:nvSpPr>
          <p:cNvPr id="23" name="Text 21"/>
          <p:cNvSpPr txBox="1"/>
          <p:nvPr/>
        </p:nvSpPr>
        <p:spPr>
          <a:xfrm>
            <a:off x="548640" y="3520440"/>
            <a:ext cx="10972800" cy="365760"/>
          </a:xfrm>
          <a:prstGeom prst="rect">
            <a:avLst/>
          </a:prstGeom>
          <a:noFill/>
          <a:ln/>
        </p:spPr>
        <p:txBody>
          <a:bodyPr wrap="square" lIns="0" tIns="0" rIns="0" bIns="0" rtlCol="0" anchor="t"/>
          <a:lstStyle/>
          <a:p>
            <a:pPr indent="0" marL="0">
              <a:buNone/>
            </a:pPr>
            <a:r>
              <a:rPr lang="en-US" sz="1800" b="1" dirty="0">
                <a:solidFill>
                  <a:srgbClr val="0F2730"/>
                </a:solidFill>
                <a:latin typeface="Bahnschrift" pitchFamily="34" charset="0"/>
                <a:ea typeface="Bahnschrift" pitchFamily="34" charset="-122"/>
                <a:cs typeface="Bahnschrift" pitchFamily="34" charset="-120"/>
              </a:rPr>
              <a:t>Quantified inefficiency in the demo plant (14-day twin, simulated)</a:t>
            </a:r>
            <a:endParaRPr lang="en-US" sz="1800" dirty="0"/>
          </a:p>
        </p:txBody>
      </p:sp>
      <p:sp>
        <p:nvSpPr>
          <p:cNvPr id="24" name="Text 22"/>
          <p:cNvSpPr txBox="1"/>
          <p:nvPr/>
        </p:nvSpPr>
        <p:spPr>
          <a:xfrm>
            <a:off x="548640" y="4023360"/>
            <a:ext cx="2560320" cy="685800"/>
          </a:xfrm>
          <a:prstGeom prst="rect">
            <a:avLst/>
          </a:prstGeom>
          <a:noFill/>
          <a:ln/>
        </p:spPr>
        <p:txBody>
          <a:bodyPr wrap="square" lIns="0" tIns="0" rIns="0" bIns="0" rtlCol="0" anchor="t"/>
          <a:lstStyle/>
          <a:p>
            <a:pPr indent="0" marL="0">
              <a:buNone/>
            </a:pPr>
            <a:r>
              <a:rPr lang="en-US" sz="3600" b="1" dirty="0">
                <a:solidFill>
                  <a:srgbClr val="8F5600"/>
                </a:solidFill>
                <a:latin typeface="Bahnschrift" pitchFamily="34" charset="0"/>
                <a:ea typeface="Bahnschrift" pitchFamily="34" charset="-122"/>
                <a:cs typeface="Bahnschrift" pitchFamily="34" charset="-120"/>
              </a:rPr>
              <a:t>₹5,580</a:t>
            </a:r>
            <a:endParaRPr lang="en-US" sz="3600" dirty="0"/>
          </a:p>
        </p:txBody>
      </p:sp>
      <p:sp>
        <p:nvSpPr>
          <p:cNvPr id="25" name="Text 23"/>
          <p:cNvSpPr txBox="1"/>
          <p:nvPr/>
        </p:nvSpPr>
        <p:spPr>
          <a:xfrm>
            <a:off x="548640" y="4736592"/>
            <a:ext cx="256032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a month added by the one failed coupling</a:t>
            </a:r>
            <a:endParaRPr lang="en-US" sz="1300" dirty="0"/>
          </a:p>
        </p:txBody>
      </p:sp>
      <p:sp>
        <p:nvSpPr>
          <p:cNvPr id="26" name="Text 24"/>
          <p:cNvSpPr txBox="1"/>
          <p:nvPr/>
        </p:nvSpPr>
        <p:spPr>
          <a:xfrm>
            <a:off x="3337560" y="4023360"/>
            <a:ext cx="2560320" cy="685800"/>
          </a:xfrm>
          <a:prstGeom prst="rect">
            <a:avLst/>
          </a:prstGeom>
          <a:noFill/>
          <a:ln/>
        </p:spPr>
        <p:txBody>
          <a:bodyPr wrap="square" lIns="0" tIns="0" rIns="0" bIns="0" rtlCol="0" anchor="t"/>
          <a:lstStyle/>
          <a:p>
            <a:pPr indent="0" marL="0">
              <a:buNone/>
            </a:pPr>
            <a:r>
              <a:rPr lang="en-US" sz="3600" b="1" dirty="0">
                <a:solidFill>
                  <a:srgbClr val="8F5600"/>
                </a:solidFill>
                <a:latin typeface="Bahnschrift" pitchFamily="34" charset="0"/>
                <a:ea typeface="Bahnschrift" pitchFamily="34" charset="-122"/>
                <a:cs typeface="Bahnschrift" pitchFamily="34" charset="-120"/>
              </a:rPr>
              <a:t>22.5%</a:t>
            </a:r>
            <a:endParaRPr lang="en-US" sz="3600" dirty="0"/>
          </a:p>
        </p:txBody>
      </p:sp>
      <p:sp>
        <p:nvSpPr>
          <p:cNvPr id="27" name="Text 25"/>
          <p:cNvSpPr txBox="1"/>
          <p:nvPr/>
        </p:nvSpPr>
        <p:spPr>
          <a:xfrm>
            <a:off x="3337560" y="4736592"/>
            <a:ext cx="256032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of compressor capacity leaking at the worst night</a:t>
            </a:r>
            <a:endParaRPr lang="en-US" sz="1300" dirty="0"/>
          </a:p>
        </p:txBody>
      </p:sp>
      <p:sp>
        <p:nvSpPr>
          <p:cNvPr id="28" name="Text 26"/>
          <p:cNvSpPr txBox="1"/>
          <p:nvPr/>
        </p:nvSpPr>
        <p:spPr>
          <a:xfrm>
            <a:off x="6126480" y="4023360"/>
            <a:ext cx="2560320" cy="685800"/>
          </a:xfrm>
          <a:prstGeom prst="rect">
            <a:avLst/>
          </a:prstGeom>
          <a:noFill/>
          <a:ln/>
        </p:spPr>
        <p:txBody>
          <a:bodyPr wrap="square" lIns="0" tIns="0" rIns="0" bIns="0" rtlCol="0" anchor="t"/>
          <a:lstStyle/>
          <a:p>
            <a:pPr indent="0" marL="0">
              <a:buNone/>
            </a:pPr>
            <a:r>
              <a:rPr lang="en-US" sz="3600" b="1" dirty="0">
                <a:solidFill>
                  <a:srgbClr val="0F2730"/>
                </a:solidFill>
                <a:latin typeface="Bahnschrift" pitchFamily="34" charset="0"/>
                <a:ea typeface="Bahnschrift" pitchFamily="34" charset="-122"/>
                <a:cs typeface="Bahnschrift" pitchFamily="34" charset="-120"/>
              </a:rPr>
              <a:t>8.3%</a:t>
            </a:r>
            <a:endParaRPr lang="en-US" sz="3600" dirty="0"/>
          </a:p>
        </p:txBody>
      </p:sp>
      <p:sp>
        <p:nvSpPr>
          <p:cNvPr id="29" name="Text 27"/>
          <p:cNvSpPr txBox="1"/>
          <p:nvPr/>
        </p:nvSpPr>
        <p:spPr>
          <a:xfrm>
            <a:off x="6126480" y="4736592"/>
            <a:ext cx="256032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of electricity spent running unloaded (₹1,094/month)</a:t>
            </a:r>
            <a:endParaRPr lang="en-US" sz="1300" dirty="0"/>
          </a:p>
        </p:txBody>
      </p:sp>
      <p:sp>
        <p:nvSpPr>
          <p:cNvPr id="30" name="Text 28"/>
          <p:cNvSpPr txBox="1"/>
          <p:nvPr/>
        </p:nvSpPr>
        <p:spPr>
          <a:xfrm>
            <a:off x="8915400" y="4023360"/>
            <a:ext cx="2697480" cy="685800"/>
          </a:xfrm>
          <a:prstGeom prst="rect">
            <a:avLst/>
          </a:prstGeom>
          <a:noFill/>
          <a:ln/>
        </p:spPr>
        <p:txBody>
          <a:bodyPr wrap="square" lIns="0" tIns="0" rIns="0" bIns="0" rtlCol="0" anchor="t"/>
          <a:lstStyle/>
          <a:p>
            <a:pPr indent="0" marL="0">
              <a:buNone/>
            </a:pPr>
            <a:r>
              <a:rPr lang="en-US" sz="3600" b="1" dirty="0">
                <a:solidFill>
                  <a:srgbClr val="0F2730"/>
                </a:solidFill>
                <a:latin typeface="Bahnschrift" pitchFamily="34" charset="0"/>
                <a:ea typeface="Bahnschrift" pitchFamily="34" charset="-122"/>
                <a:cs typeface="Bahnschrift" pitchFamily="34" charset="-120"/>
              </a:rPr>
              <a:t>~30 days</a:t>
            </a:r>
            <a:endParaRPr lang="en-US" sz="3600" dirty="0"/>
          </a:p>
        </p:txBody>
      </p:sp>
      <p:sp>
        <p:nvSpPr>
          <p:cNvPr id="31" name="Text 29"/>
          <p:cNvSpPr txBox="1"/>
          <p:nvPr/>
        </p:nvSpPr>
        <p:spPr>
          <a:xfrm>
            <a:off x="8915400" y="4736592"/>
            <a:ext cx="269748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until the bill is the first signal: the leak costs a full month before anyone looks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After: found overnight, located at lunch, verified next night</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User journey</a:t>
            </a:r>
            <a:endParaRPr lang="en-US" sz="1000" dirty="0"/>
          </a:p>
        </p:txBody>
      </p:sp>
      <p:sp>
        <p:nvSpPr>
          <p:cNvPr id="4" name="Shape 2"/>
          <p:cNvSpPr/>
          <p:nvPr/>
        </p:nvSpPr>
        <p:spPr>
          <a:xfrm>
            <a:off x="548640" y="1280160"/>
            <a:ext cx="2011680" cy="1463040"/>
          </a:xfrm>
          <a:prstGeom prst="roundRect">
            <a:avLst>
              <a:gd name="adj" fmla="val 5000"/>
            </a:avLst>
          </a:prstGeom>
          <a:solidFill>
            <a:srgbClr val="E8F3FA"/>
          </a:solidFill>
          <a:ln w="12700">
            <a:solidFill>
              <a:srgbClr val="7FC4EA"/>
            </a:solidFill>
            <a:prstDash val="solid"/>
          </a:ln>
        </p:spPr>
      </p:sp>
      <p:sp>
        <p:nvSpPr>
          <p:cNvPr id="5" name="Text 3"/>
          <p:cNvSpPr txBox="1"/>
          <p:nvPr/>
        </p:nvSpPr>
        <p:spPr>
          <a:xfrm>
            <a:off x="685800" y="1371600"/>
            <a:ext cx="1737360" cy="320040"/>
          </a:xfrm>
          <a:prstGeom prst="rect">
            <a:avLst/>
          </a:prstGeom>
          <a:noFill/>
          <a:ln/>
        </p:spPr>
        <p:txBody>
          <a:bodyPr wrap="square" lIns="0" tIns="0" rIns="0" bIns="0" rtlCol="0" anchor="t"/>
          <a:lstStyle/>
          <a:p>
            <a:pPr indent="0" marL="0">
              <a:buNone/>
            </a:pPr>
            <a:r>
              <a:rPr lang="en-US" sz="1200" b="1" dirty="0">
                <a:solidFill>
                  <a:srgbClr val="1C6A96"/>
                </a:solidFill>
                <a:latin typeface="Calibri" pitchFamily="34" charset="0"/>
                <a:ea typeface="Calibri" pitchFamily="34" charset="-122"/>
                <a:cs typeface="Calibri" pitchFamily="34" charset="-120"/>
              </a:rPr>
              <a:t>23:00–05:00</a:t>
            </a:r>
            <a:endParaRPr lang="en-US" sz="1200" dirty="0"/>
          </a:p>
        </p:txBody>
      </p:sp>
      <p:sp>
        <p:nvSpPr>
          <p:cNvPr id="6" name="Text 4"/>
          <p:cNvSpPr txBox="1"/>
          <p:nvPr/>
        </p:nvSpPr>
        <p:spPr>
          <a:xfrm>
            <a:off x="685800" y="1691640"/>
            <a:ext cx="1737360" cy="100584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Nightly leak test on pressure + power</a:t>
            </a:r>
            <a:endParaRPr lang="en-US" sz="1400" dirty="0"/>
          </a:p>
        </p:txBody>
      </p:sp>
      <p:sp>
        <p:nvSpPr>
          <p:cNvPr id="7" name="Shape 5"/>
          <p:cNvSpPr/>
          <p:nvPr/>
        </p:nvSpPr>
        <p:spPr>
          <a:xfrm>
            <a:off x="2578608" y="1874520"/>
            <a:ext cx="210312" cy="292608"/>
          </a:xfrm>
          <a:prstGeom prst="rightArrow">
            <a:avLst/>
          </a:prstGeom>
          <a:solidFill>
            <a:srgbClr val="1C6A96"/>
          </a:solidFill>
          <a:ln w="12700">
            <a:solidFill>
              <a:srgbClr val="1C6A96"/>
            </a:solidFill>
            <a:prstDash val="solid"/>
          </a:ln>
        </p:spPr>
      </p:sp>
      <p:sp>
        <p:nvSpPr>
          <p:cNvPr id="8" name="Shape 6"/>
          <p:cNvSpPr/>
          <p:nvPr/>
        </p:nvSpPr>
        <p:spPr>
          <a:xfrm>
            <a:off x="2807208" y="1280160"/>
            <a:ext cx="2011680" cy="1463040"/>
          </a:xfrm>
          <a:prstGeom prst="roundRect">
            <a:avLst>
              <a:gd name="adj" fmla="val 5000"/>
            </a:avLst>
          </a:prstGeom>
          <a:solidFill>
            <a:srgbClr val="E8F3FA"/>
          </a:solidFill>
          <a:ln w="12700">
            <a:solidFill>
              <a:srgbClr val="7FC4EA"/>
            </a:solidFill>
            <a:prstDash val="solid"/>
          </a:ln>
        </p:spPr>
      </p:sp>
      <p:sp>
        <p:nvSpPr>
          <p:cNvPr id="9" name="Text 7"/>
          <p:cNvSpPr txBox="1"/>
          <p:nvPr/>
        </p:nvSpPr>
        <p:spPr>
          <a:xfrm>
            <a:off x="2944368" y="1371600"/>
            <a:ext cx="1737360" cy="320040"/>
          </a:xfrm>
          <a:prstGeom prst="rect">
            <a:avLst/>
          </a:prstGeom>
          <a:noFill/>
          <a:ln/>
        </p:spPr>
        <p:txBody>
          <a:bodyPr wrap="square" lIns="0" tIns="0" rIns="0" bIns="0" rtlCol="0" anchor="t"/>
          <a:lstStyle/>
          <a:p>
            <a:pPr indent="0" marL="0">
              <a:buNone/>
            </a:pPr>
            <a:r>
              <a:rPr lang="en-US" sz="1200" b="1" dirty="0">
                <a:solidFill>
                  <a:srgbClr val="8F5600"/>
                </a:solidFill>
                <a:latin typeface="Calibri" pitchFamily="34" charset="0"/>
                <a:ea typeface="Calibri" pitchFamily="34" charset="-122"/>
                <a:cs typeface="Calibri" pitchFamily="34" charset="-120"/>
              </a:rPr>
              <a:t>06:00</a:t>
            </a:r>
            <a:endParaRPr lang="en-US" sz="1200" dirty="0"/>
          </a:p>
        </p:txBody>
      </p:sp>
      <p:sp>
        <p:nvSpPr>
          <p:cNvPr id="10" name="Text 8"/>
          <p:cNvSpPr txBox="1"/>
          <p:nvPr/>
        </p:nvSpPr>
        <p:spPr>
          <a:xfrm>
            <a:off x="2944368" y="1691640"/>
            <a:ext cx="1737360" cy="100584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Alert to the maintenance group: +₹5,580/month</a:t>
            </a:r>
            <a:endParaRPr lang="en-US" sz="1400" dirty="0"/>
          </a:p>
        </p:txBody>
      </p:sp>
      <p:sp>
        <p:nvSpPr>
          <p:cNvPr id="11" name="Shape 9"/>
          <p:cNvSpPr/>
          <p:nvPr/>
        </p:nvSpPr>
        <p:spPr>
          <a:xfrm>
            <a:off x="4837176" y="1874520"/>
            <a:ext cx="210312" cy="292608"/>
          </a:xfrm>
          <a:prstGeom prst="rightArrow">
            <a:avLst/>
          </a:prstGeom>
          <a:solidFill>
            <a:srgbClr val="1C6A96"/>
          </a:solidFill>
          <a:ln w="12700">
            <a:solidFill>
              <a:srgbClr val="1C6A96"/>
            </a:solidFill>
            <a:prstDash val="solid"/>
          </a:ln>
        </p:spPr>
      </p:sp>
      <p:sp>
        <p:nvSpPr>
          <p:cNvPr id="12" name="Shape 10"/>
          <p:cNvSpPr/>
          <p:nvPr/>
        </p:nvSpPr>
        <p:spPr>
          <a:xfrm>
            <a:off x="5065776" y="1280160"/>
            <a:ext cx="2011680" cy="1463040"/>
          </a:xfrm>
          <a:prstGeom prst="roundRect">
            <a:avLst>
              <a:gd name="adj" fmla="val 5000"/>
            </a:avLst>
          </a:prstGeom>
          <a:solidFill>
            <a:srgbClr val="E8F3FA"/>
          </a:solidFill>
          <a:ln w="12700">
            <a:solidFill>
              <a:srgbClr val="7FC4EA"/>
            </a:solidFill>
            <a:prstDash val="solid"/>
          </a:ln>
        </p:spPr>
      </p:sp>
      <p:sp>
        <p:nvSpPr>
          <p:cNvPr id="13" name="Text 11"/>
          <p:cNvSpPr txBox="1"/>
          <p:nvPr/>
        </p:nvSpPr>
        <p:spPr>
          <a:xfrm>
            <a:off x="5202936" y="1371600"/>
            <a:ext cx="1737360" cy="320040"/>
          </a:xfrm>
          <a:prstGeom prst="rect">
            <a:avLst/>
          </a:prstGeom>
          <a:noFill/>
          <a:ln/>
        </p:spPr>
        <p:txBody>
          <a:bodyPr wrap="square" lIns="0" tIns="0" rIns="0" bIns="0" rtlCol="0" anchor="t"/>
          <a:lstStyle/>
          <a:p>
            <a:pPr indent="0" marL="0">
              <a:buNone/>
            </a:pPr>
            <a:r>
              <a:rPr lang="en-US" sz="1200" b="1" dirty="0">
                <a:solidFill>
                  <a:srgbClr val="1C6A96"/>
                </a:solidFill>
                <a:latin typeface="Calibri" pitchFamily="34" charset="0"/>
                <a:ea typeface="Calibri" pitchFamily="34" charset="-122"/>
                <a:cs typeface="Calibri" pitchFamily="34" charset="-120"/>
              </a:rPr>
              <a:t>Lunch break</a:t>
            </a:r>
            <a:endParaRPr lang="en-US" sz="1200" dirty="0"/>
          </a:p>
        </p:txBody>
      </p:sp>
      <p:sp>
        <p:nvSpPr>
          <p:cNvPr id="14" name="Text 12"/>
          <p:cNvSpPr txBox="1"/>
          <p:nvPr/>
        </p:nvSpPr>
        <p:spPr>
          <a:xfrm>
            <a:off x="5202936" y="1691640"/>
            <a:ext cx="1737360" cy="100584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Leak Hunter: 5 valve tests, ~15 min → Bay 2 = 58%</a:t>
            </a:r>
            <a:endParaRPr lang="en-US" sz="1400" dirty="0"/>
          </a:p>
        </p:txBody>
      </p:sp>
      <p:sp>
        <p:nvSpPr>
          <p:cNvPr id="15" name="Shape 13"/>
          <p:cNvSpPr/>
          <p:nvPr/>
        </p:nvSpPr>
        <p:spPr>
          <a:xfrm>
            <a:off x="7095744" y="1874520"/>
            <a:ext cx="210312" cy="292608"/>
          </a:xfrm>
          <a:prstGeom prst="rightArrow">
            <a:avLst/>
          </a:prstGeom>
          <a:solidFill>
            <a:srgbClr val="1C6A96"/>
          </a:solidFill>
          <a:ln w="12700">
            <a:solidFill>
              <a:srgbClr val="1C6A96"/>
            </a:solidFill>
            <a:prstDash val="solid"/>
          </a:ln>
        </p:spPr>
      </p:sp>
      <p:sp>
        <p:nvSpPr>
          <p:cNvPr id="16" name="Shape 14"/>
          <p:cNvSpPr/>
          <p:nvPr/>
        </p:nvSpPr>
        <p:spPr>
          <a:xfrm>
            <a:off x="7324344" y="1280160"/>
            <a:ext cx="2011680" cy="1463040"/>
          </a:xfrm>
          <a:prstGeom prst="roundRect">
            <a:avLst>
              <a:gd name="adj" fmla="val 5000"/>
            </a:avLst>
          </a:prstGeom>
          <a:solidFill>
            <a:srgbClr val="E8F3FA"/>
          </a:solidFill>
          <a:ln w="12700">
            <a:solidFill>
              <a:srgbClr val="7FC4EA"/>
            </a:solidFill>
            <a:prstDash val="solid"/>
          </a:ln>
        </p:spPr>
      </p:sp>
      <p:sp>
        <p:nvSpPr>
          <p:cNvPr id="17" name="Text 15"/>
          <p:cNvSpPr txBox="1"/>
          <p:nvPr/>
        </p:nvSpPr>
        <p:spPr>
          <a:xfrm>
            <a:off x="7461504" y="1371600"/>
            <a:ext cx="1737360" cy="320040"/>
          </a:xfrm>
          <a:prstGeom prst="rect">
            <a:avLst/>
          </a:prstGeom>
          <a:noFill/>
          <a:ln/>
        </p:spPr>
        <p:txBody>
          <a:bodyPr wrap="square" lIns="0" tIns="0" rIns="0" bIns="0" rtlCol="0" anchor="t"/>
          <a:lstStyle/>
          <a:p>
            <a:pPr indent="0" marL="0">
              <a:buNone/>
            </a:pPr>
            <a:r>
              <a:rPr lang="en-US" sz="1200" b="1" dirty="0">
                <a:solidFill>
                  <a:srgbClr val="0F2730"/>
                </a:solidFill>
                <a:latin typeface="Calibri" pitchFamily="34" charset="0"/>
                <a:ea typeface="Calibri" pitchFamily="34" charset="-122"/>
                <a:cs typeface="Calibri" pitchFamily="34" charset="-120"/>
              </a:rPr>
              <a:t>Same day</a:t>
            </a:r>
            <a:endParaRPr lang="en-US" sz="1200" dirty="0"/>
          </a:p>
        </p:txBody>
      </p:sp>
      <p:sp>
        <p:nvSpPr>
          <p:cNvPr id="18" name="Text 16"/>
          <p:cNvSpPr txBox="1"/>
          <p:nvPr/>
        </p:nvSpPr>
        <p:spPr>
          <a:xfrm>
            <a:off x="7461504" y="1691640"/>
            <a:ext cx="1737360" cy="100584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Ticket raised, repair done</a:t>
            </a:r>
            <a:endParaRPr lang="en-US" sz="1400" dirty="0"/>
          </a:p>
        </p:txBody>
      </p:sp>
      <p:sp>
        <p:nvSpPr>
          <p:cNvPr id="19" name="Shape 17"/>
          <p:cNvSpPr/>
          <p:nvPr/>
        </p:nvSpPr>
        <p:spPr>
          <a:xfrm>
            <a:off x="9354312" y="1874520"/>
            <a:ext cx="210312" cy="292608"/>
          </a:xfrm>
          <a:prstGeom prst="rightArrow">
            <a:avLst/>
          </a:prstGeom>
          <a:solidFill>
            <a:srgbClr val="1C6A96"/>
          </a:solidFill>
          <a:ln w="12700">
            <a:solidFill>
              <a:srgbClr val="1C6A96"/>
            </a:solidFill>
            <a:prstDash val="solid"/>
          </a:ln>
        </p:spPr>
      </p:sp>
      <p:sp>
        <p:nvSpPr>
          <p:cNvPr id="20" name="Shape 18"/>
          <p:cNvSpPr/>
          <p:nvPr/>
        </p:nvSpPr>
        <p:spPr>
          <a:xfrm>
            <a:off x="9582912" y="1280160"/>
            <a:ext cx="2011680" cy="1463040"/>
          </a:xfrm>
          <a:prstGeom prst="roundRect">
            <a:avLst>
              <a:gd name="adj" fmla="val 5000"/>
            </a:avLst>
          </a:prstGeom>
          <a:solidFill>
            <a:srgbClr val="E2F2EA"/>
          </a:solidFill>
          <a:ln w="12700">
            <a:solidFill>
              <a:srgbClr val="17845A"/>
            </a:solidFill>
            <a:prstDash val="solid"/>
          </a:ln>
        </p:spPr>
      </p:sp>
      <p:sp>
        <p:nvSpPr>
          <p:cNvPr id="21" name="Text 19"/>
          <p:cNvSpPr txBox="1"/>
          <p:nvPr/>
        </p:nvSpPr>
        <p:spPr>
          <a:xfrm>
            <a:off x="9720072" y="1371600"/>
            <a:ext cx="1737360" cy="320040"/>
          </a:xfrm>
          <a:prstGeom prst="rect">
            <a:avLst/>
          </a:prstGeom>
          <a:noFill/>
          <a:ln/>
        </p:spPr>
        <p:txBody>
          <a:bodyPr wrap="square" lIns="0" tIns="0" rIns="0" bIns="0" rtlCol="0" anchor="t"/>
          <a:lstStyle/>
          <a:p>
            <a:pPr indent="0" marL="0">
              <a:buNone/>
            </a:pPr>
            <a:r>
              <a:rPr lang="en-US" sz="1200" b="1" dirty="0">
                <a:solidFill>
                  <a:srgbClr val="17845A"/>
                </a:solidFill>
                <a:latin typeface="Calibri" pitchFamily="34" charset="0"/>
                <a:ea typeface="Calibri" pitchFamily="34" charset="-122"/>
                <a:cs typeface="Calibri" pitchFamily="34" charset="-120"/>
              </a:rPr>
              <a:t>Next night</a:t>
            </a:r>
            <a:endParaRPr lang="en-US" sz="1200" dirty="0"/>
          </a:p>
        </p:txBody>
      </p:sp>
      <p:sp>
        <p:nvSpPr>
          <p:cNvPr id="22" name="Text 20"/>
          <p:cNvSpPr txBox="1"/>
          <p:nvPr/>
        </p:nvSpPr>
        <p:spPr>
          <a:xfrm>
            <a:off x="9720072" y="1691640"/>
            <a:ext cx="1737360" cy="1005840"/>
          </a:xfrm>
          <a:prstGeom prst="rect">
            <a:avLst/>
          </a:prstGeom>
          <a:noFill/>
          <a:ln/>
        </p:spPr>
        <p:txBody>
          <a:bodyPr wrap="square" lIns="0" tIns="0" rIns="0" bIns="0" rtlCol="0" anchor="t"/>
          <a:lstStyle/>
          <a:p>
            <a:pPr indent="0" marL="0">
              <a:buNone/>
            </a:pPr>
            <a:r>
              <a:rPr lang="en-US" sz="1400" dirty="0">
                <a:solidFill>
                  <a:srgbClr val="0F2730"/>
                </a:solidFill>
                <a:latin typeface="Calibri" pitchFamily="34" charset="0"/>
                <a:ea typeface="Calibri" pitchFamily="34" charset="-122"/>
                <a:cs typeface="Calibri" pitchFamily="34" charset="-120"/>
              </a:rPr>
              <a:t>Saving measured, not promised</a:t>
            </a:r>
            <a:endParaRPr lang="en-US" sz="1400" dirty="0"/>
          </a:p>
        </p:txBody>
      </p:sp>
      <p:graphicFrame>
        <p:nvGraphicFramePr>
          <p:cNvPr id="23" name="Chart 0" descr=""/>
          <p:cNvGraphicFramePr/>
          <p:nvPr/>
        </p:nvGraphicFramePr>
        <p:xfrm>
          <a:off x="548640" y="2971800"/>
          <a:ext cx="6309360" cy="324612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1874520" y="3429000"/>
            <a:ext cx="1463040" cy="274320"/>
          </a:xfrm>
          <a:prstGeom prst="rect">
            <a:avLst/>
          </a:prstGeom>
          <a:noFill/>
          <a:ln/>
        </p:spPr>
        <p:txBody>
          <a:bodyPr wrap="square" lIns="0" tIns="0" rIns="0" bIns="0" rtlCol="0" anchor="t"/>
          <a:lstStyle/>
          <a:p>
            <a:pPr indent="0" marL="0">
              <a:buNone/>
            </a:pPr>
            <a:r>
              <a:rPr lang="en-US" sz="1100" b="1" dirty="0">
                <a:solidFill>
                  <a:srgbClr val="8F5600"/>
                </a:solidFill>
                <a:latin typeface="Calibri" pitchFamily="34" charset="0"/>
                <a:ea typeface="Calibri" pitchFamily="34" charset="-122"/>
                <a:cs typeface="Calibri" pitchFamily="34" charset="-120"/>
              </a:rPr>
              <a:t>new leak (Thu 4)</a:t>
            </a:r>
            <a:endParaRPr lang="en-US" sz="1100" dirty="0"/>
          </a:p>
        </p:txBody>
      </p:sp>
      <p:sp>
        <p:nvSpPr>
          <p:cNvPr id="25" name="Text 22"/>
          <p:cNvSpPr txBox="1"/>
          <p:nvPr/>
        </p:nvSpPr>
        <p:spPr>
          <a:xfrm>
            <a:off x="5074920" y="3429000"/>
            <a:ext cx="1463040" cy="274320"/>
          </a:xfrm>
          <a:prstGeom prst="rect">
            <a:avLst/>
          </a:prstGeom>
          <a:noFill/>
          <a:ln/>
        </p:spPr>
        <p:txBody>
          <a:bodyPr wrap="square" lIns="0" tIns="0" rIns="0" bIns="0" rtlCol="0" anchor="t"/>
          <a:lstStyle/>
          <a:p>
            <a:pPr indent="0" marL="0">
              <a:buNone/>
            </a:pPr>
            <a:r>
              <a:rPr lang="en-US" sz="1100" b="1" dirty="0">
                <a:solidFill>
                  <a:srgbClr val="17845A"/>
                </a:solidFill>
                <a:latin typeface="Calibri" pitchFamily="34" charset="0"/>
                <a:ea typeface="Calibri" pitchFamily="34" charset="-122"/>
                <a:cs typeface="Calibri" pitchFamily="34" charset="-120"/>
              </a:rPr>
              <a:t>repaired (Thu 11)</a:t>
            </a:r>
            <a:endParaRPr lang="en-US" sz="1100" dirty="0"/>
          </a:p>
        </p:txBody>
      </p:sp>
      <p:sp>
        <p:nvSpPr>
          <p:cNvPr id="26" name="Text 23"/>
          <p:cNvSpPr txBox="1"/>
          <p:nvPr/>
        </p:nvSpPr>
        <p:spPr>
          <a:xfrm>
            <a:off x="7178040" y="3017520"/>
            <a:ext cx="4480560" cy="365760"/>
          </a:xfrm>
          <a:prstGeom prst="rect">
            <a:avLst/>
          </a:prstGeom>
          <a:noFill/>
          <a:ln/>
        </p:spPr>
        <p:txBody>
          <a:bodyPr wrap="square" lIns="0" tIns="0" rIns="0" bIns="0" rtlCol="0" anchor="t"/>
          <a:lstStyle/>
          <a:p>
            <a:pPr indent="0" marL="0">
              <a:buNone/>
            </a:pPr>
            <a:r>
              <a:rPr lang="en-US" sz="1800" b="1" dirty="0">
                <a:solidFill>
                  <a:srgbClr val="0F2730"/>
                </a:solidFill>
                <a:latin typeface="Bahnschrift" pitchFamily="34" charset="0"/>
                <a:ea typeface="Bahnschrift" pitchFamily="34" charset="-122"/>
                <a:cs typeface="Bahnschrift" pitchFamily="34" charset="-120"/>
              </a:rPr>
              <a:t>Quantified efficiency (simulated)</a:t>
            </a:r>
            <a:endParaRPr lang="en-US" sz="1800" dirty="0"/>
          </a:p>
        </p:txBody>
      </p:sp>
      <p:sp>
        <p:nvSpPr>
          <p:cNvPr id="27" name="Text 24"/>
          <p:cNvSpPr txBox="1"/>
          <p:nvPr/>
        </p:nvSpPr>
        <p:spPr>
          <a:xfrm>
            <a:off x="7178040" y="3474720"/>
            <a:ext cx="1645920" cy="411480"/>
          </a:xfrm>
          <a:prstGeom prst="rect">
            <a:avLst/>
          </a:prstGeom>
          <a:noFill/>
          <a:ln/>
        </p:spPr>
        <p:txBody>
          <a:bodyPr wrap="square" lIns="0" tIns="0" rIns="0" bIns="0" rtlCol="0" anchor="ctr"/>
          <a:lstStyle/>
          <a:p>
            <a:pPr indent="0" marL="0">
              <a:buNone/>
            </a:pPr>
            <a:r>
              <a:rPr lang="en-US" sz="1300" dirty="0">
                <a:solidFill>
                  <a:srgbClr val="5A6A6F"/>
                </a:solidFill>
                <a:latin typeface="Calibri" pitchFamily="34" charset="0"/>
                <a:ea typeface="Calibri" pitchFamily="34" charset="-122"/>
                <a:cs typeface="Calibri" pitchFamily="34" charset="-120"/>
              </a:rPr>
              <a:t>Detection</a:t>
            </a:r>
            <a:endParaRPr lang="en-US" sz="1300" dirty="0"/>
          </a:p>
        </p:txBody>
      </p:sp>
      <p:sp>
        <p:nvSpPr>
          <p:cNvPr id="28" name="Text 25"/>
          <p:cNvSpPr txBox="1"/>
          <p:nvPr/>
        </p:nvSpPr>
        <p:spPr>
          <a:xfrm>
            <a:off x="8778240" y="3474720"/>
            <a:ext cx="1325880" cy="411480"/>
          </a:xfrm>
          <a:prstGeom prst="rect">
            <a:avLst/>
          </a:prstGeom>
          <a:noFill/>
          <a:ln/>
        </p:spPr>
        <p:txBody>
          <a:bodyPr wrap="square" lIns="0" tIns="0" rIns="0" bIns="0" rtlCol="0" anchor="ctr"/>
          <a:lstStyle/>
          <a:p>
            <a:pPr indent="0" marL="0">
              <a:buNone/>
            </a:pPr>
            <a:r>
              <a:rPr lang="en-US" sz="1600" b="1" dirty="0">
                <a:solidFill>
                  <a:srgbClr val="0F2730"/>
                </a:solidFill>
                <a:latin typeface="Calibri" pitchFamily="34" charset="0"/>
                <a:ea typeface="Calibri" pitchFamily="34" charset="-122"/>
                <a:cs typeface="Calibri" pitchFamily="34" charset="-120"/>
              </a:rPr>
              <a:t>next morning</a:t>
            </a:r>
            <a:endParaRPr lang="en-US" sz="1600" dirty="0"/>
          </a:p>
        </p:txBody>
      </p:sp>
      <p:sp>
        <p:nvSpPr>
          <p:cNvPr id="29" name="Text 26"/>
          <p:cNvSpPr txBox="1"/>
          <p:nvPr/>
        </p:nvSpPr>
        <p:spPr>
          <a:xfrm>
            <a:off x="10104120" y="3474720"/>
            <a:ext cx="1600200" cy="411480"/>
          </a:xfrm>
          <a:prstGeom prst="rect">
            <a:avLst/>
          </a:prstGeom>
          <a:noFill/>
          <a:ln/>
        </p:spPr>
        <p:txBody>
          <a:bodyPr wrap="square" lIns="0" tIns="0" rIns="0" bIns="0" rtlCol="0" anchor="ctr"/>
          <a:lstStyle/>
          <a:p>
            <a:pPr indent="0" marL="0">
              <a:buNone/>
            </a:pPr>
            <a:r>
              <a:rPr lang="en-US" sz="1100" dirty="0">
                <a:solidFill>
                  <a:srgbClr val="5A6A6F"/>
                </a:solidFill>
                <a:latin typeface="Calibri" pitchFamily="34" charset="0"/>
                <a:ea typeface="Calibri" pitchFamily="34" charset="-122"/>
                <a:cs typeface="Calibri" pitchFamily="34" charset="-120"/>
              </a:rPr>
              <a:t>vs ~30 days</a:t>
            </a:r>
            <a:endParaRPr lang="en-US" sz="1100" dirty="0"/>
          </a:p>
        </p:txBody>
      </p:sp>
      <p:sp>
        <p:nvSpPr>
          <p:cNvPr id="30" name="Text 27"/>
          <p:cNvSpPr txBox="1"/>
          <p:nvPr/>
        </p:nvSpPr>
        <p:spPr>
          <a:xfrm>
            <a:off x="7178040" y="3931920"/>
            <a:ext cx="1645920" cy="411480"/>
          </a:xfrm>
          <a:prstGeom prst="rect">
            <a:avLst/>
          </a:prstGeom>
          <a:noFill/>
          <a:ln/>
        </p:spPr>
        <p:txBody>
          <a:bodyPr wrap="square" lIns="0" tIns="0" rIns="0" bIns="0" rtlCol="0" anchor="ctr"/>
          <a:lstStyle/>
          <a:p>
            <a:pPr indent="0" marL="0">
              <a:buNone/>
            </a:pPr>
            <a:r>
              <a:rPr lang="en-US" sz="1300" dirty="0">
                <a:solidFill>
                  <a:srgbClr val="5A6A6F"/>
                </a:solidFill>
                <a:latin typeface="Calibri" pitchFamily="34" charset="0"/>
                <a:ea typeface="Calibri" pitchFamily="34" charset="-122"/>
                <a:cs typeface="Calibri" pitchFamily="34" charset="-120"/>
              </a:rPr>
              <a:t>Locating the zone</a:t>
            </a:r>
            <a:endParaRPr lang="en-US" sz="1300" dirty="0"/>
          </a:p>
        </p:txBody>
      </p:sp>
      <p:sp>
        <p:nvSpPr>
          <p:cNvPr id="31" name="Text 28"/>
          <p:cNvSpPr txBox="1"/>
          <p:nvPr/>
        </p:nvSpPr>
        <p:spPr>
          <a:xfrm>
            <a:off x="8778240" y="3931920"/>
            <a:ext cx="1325880" cy="411480"/>
          </a:xfrm>
          <a:prstGeom prst="rect">
            <a:avLst/>
          </a:prstGeom>
          <a:noFill/>
          <a:ln/>
        </p:spPr>
        <p:txBody>
          <a:bodyPr wrap="square" lIns="0" tIns="0" rIns="0" bIns="0" rtlCol="0" anchor="ctr"/>
          <a:lstStyle/>
          <a:p>
            <a:pPr indent="0" marL="0">
              <a:buNone/>
            </a:pPr>
            <a:r>
              <a:rPr lang="en-US" sz="1600" b="1" dirty="0">
                <a:solidFill>
                  <a:srgbClr val="0F2730"/>
                </a:solidFill>
                <a:latin typeface="Calibri" pitchFamily="34" charset="0"/>
                <a:ea typeface="Calibri" pitchFamily="34" charset="-122"/>
                <a:cs typeface="Calibri" pitchFamily="34" charset="-120"/>
              </a:rPr>
              <a:t>~15 min</a:t>
            </a:r>
            <a:endParaRPr lang="en-US" sz="1600" dirty="0"/>
          </a:p>
        </p:txBody>
      </p:sp>
      <p:sp>
        <p:nvSpPr>
          <p:cNvPr id="32" name="Text 29"/>
          <p:cNvSpPr txBox="1"/>
          <p:nvPr/>
        </p:nvSpPr>
        <p:spPr>
          <a:xfrm>
            <a:off x="10104120" y="3931920"/>
            <a:ext cx="1600200" cy="411480"/>
          </a:xfrm>
          <a:prstGeom prst="rect">
            <a:avLst/>
          </a:prstGeom>
          <a:noFill/>
          <a:ln/>
        </p:spPr>
        <p:txBody>
          <a:bodyPr wrap="square" lIns="0" tIns="0" rIns="0" bIns="0" rtlCol="0" anchor="ctr"/>
          <a:lstStyle/>
          <a:p>
            <a:pPr indent="0" marL="0">
              <a:buNone/>
            </a:pPr>
            <a:r>
              <a:rPr lang="en-US" sz="1100" dirty="0">
                <a:solidFill>
                  <a:srgbClr val="5A6A6F"/>
                </a:solidFill>
                <a:latin typeface="Calibri" pitchFamily="34" charset="0"/>
                <a:ea typeface="Calibri" pitchFamily="34" charset="-122"/>
                <a:cs typeface="Calibri" pitchFamily="34" charset="-120"/>
              </a:rPr>
              <a:t>5 decay tests</a:t>
            </a:r>
            <a:endParaRPr lang="en-US" sz="1100" dirty="0"/>
          </a:p>
        </p:txBody>
      </p:sp>
      <p:sp>
        <p:nvSpPr>
          <p:cNvPr id="33" name="Text 30"/>
          <p:cNvSpPr txBox="1"/>
          <p:nvPr/>
        </p:nvSpPr>
        <p:spPr>
          <a:xfrm>
            <a:off x="7178040" y="4389120"/>
            <a:ext cx="1645920" cy="411480"/>
          </a:xfrm>
          <a:prstGeom prst="rect">
            <a:avLst/>
          </a:prstGeom>
          <a:noFill/>
          <a:ln/>
        </p:spPr>
        <p:txBody>
          <a:bodyPr wrap="square" lIns="0" tIns="0" rIns="0" bIns="0" rtlCol="0" anchor="ctr"/>
          <a:lstStyle/>
          <a:p>
            <a:pPr indent="0" marL="0">
              <a:buNone/>
            </a:pPr>
            <a:r>
              <a:rPr lang="en-US" sz="1300" dirty="0">
                <a:solidFill>
                  <a:srgbClr val="5A6A6F"/>
                </a:solidFill>
                <a:latin typeface="Calibri" pitchFamily="34" charset="0"/>
                <a:ea typeface="Calibri" pitchFamily="34" charset="-122"/>
                <a:cs typeface="Calibri" pitchFamily="34" charset="-120"/>
              </a:rPr>
              <a:t>Repair saving</a:t>
            </a:r>
            <a:endParaRPr lang="en-US" sz="1300" dirty="0"/>
          </a:p>
        </p:txBody>
      </p:sp>
      <p:sp>
        <p:nvSpPr>
          <p:cNvPr id="34" name="Text 31"/>
          <p:cNvSpPr txBox="1"/>
          <p:nvPr/>
        </p:nvSpPr>
        <p:spPr>
          <a:xfrm>
            <a:off x="8778240" y="4389120"/>
            <a:ext cx="1325880" cy="411480"/>
          </a:xfrm>
          <a:prstGeom prst="rect">
            <a:avLst/>
          </a:prstGeom>
          <a:noFill/>
          <a:ln/>
        </p:spPr>
        <p:txBody>
          <a:bodyPr wrap="square" lIns="0" tIns="0" rIns="0" bIns="0" rtlCol="0" anchor="ctr"/>
          <a:lstStyle/>
          <a:p>
            <a:pPr indent="0" marL="0">
              <a:buNone/>
            </a:pPr>
            <a:r>
              <a:rPr lang="en-US" sz="1600" b="1" dirty="0">
                <a:solidFill>
                  <a:srgbClr val="17845A"/>
                </a:solidFill>
                <a:latin typeface="Calibri" pitchFamily="34" charset="0"/>
                <a:ea typeface="Calibri" pitchFamily="34" charset="-122"/>
                <a:cs typeface="Calibri" pitchFamily="34" charset="-120"/>
              </a:rPr>
              <a:t>₹5,453/mo</a:t>
            </a:r>
            <a:endParaRPr lang="en-US" sz="1600" dirty="0"/>
          </a:p>
        </p:txBody>
      </p:sp>
      <p:sp>
        <p:nvSpPr>
          <p:cNvPr id="35" name="Text 32"/>
          <p:cNvSpPr txBox="1"/>
          <p:nvPr/>
        </p:nvSpPr>
        <p:spPr>
          <a:xfrm>
            <a:off x="10104120" y="4389120"/>
            <a:ext cx="1600200" cy="411480"/>
          </a:xfrm>
          <a:prstGeom prst="rect">
            <a:avLst/>
          </a:prstGeom>
          <a:noFill/>
          <a:ln/>
        </p:spPr>
        <p:txBody>
          <a:bodyPr wrap="square" lIns="0" tIns="0" rIns="0" bIns="0" rtlCol="0" anchor="ctr"/>
          <a:lstStyle/>
          <a:p>
            <a:pPr indent="0" marL="0">
              <a:buNone/>
            </a:pPr>
            <a:r>
              <a:rPr lang="en-US" sz="1100" dirty="0">
                <a:solidFill>
                  <a:srgbClr val="5A6A6F"/>
                </a:solidFill>
                <a:latin typeface="Calibri" pitchFamily="34" charset="0"/>
                <a:ea typeface="Calibri" pitchFamily="34" charset="-122"/>
                <a:cs typeface="Calibri" pitchFamily="34" charset="-120"/>
              </a:rPr>
              <a:t>measured overnight</a:t>
            </a:r>
            <a:endParaRPr lang="en-US" sz="1100" dirty="0"/>
          </a:p>
        </p:txBody>
      </p:sp>
      <p:sp>
        <p:nvSpPr>
          <p:cNvPr id="36" name="Text 33"/>
          <p:cNvSpPr txBox="1"/>
          <p:nvPr/>
        </p:nvSpPr>
        <p:spPr>
          <a:xfrm>
            <a:off x="7178040" y="4846320"/>
            <a:ext cx="1645920" cy="411480"/>
          </a:xfrm>
          <a:prstGeom prst="rect">
            <a:avLst/>
          </a:prstGeom>
          <a:noFill/>
          <a:ln/>
        </p:spPr>
        <p:txBody>
          <a:bodyPr wrap="square" lIns="0" tIns="0" rIns="0" bIns="0" rtlCol="0" anchor="ctr"/>
          <a:lstStyle/>
          <a:p>
            <a:pPr indent="0" marL="0">
              <a:buNone/>
            </a:pPr>
            <a:r>
              <a:rPr lang="en-US" sz="1300" dirty="0">
                <a:solidFill>
                  <a:srgbClr val="5A6A6F"/>
                </a:solidFill>
                <a:latin typeface="Calibri" pitchFamily="34" charset="0"/>
                <a:ea typeface="Calibri" pitchFamily="34" charset="-122"/>
                <a:cs typeface="Calibri" pitchFamily="34" charset="-120"/>
              </a:rPr>
              <a:t>Zone ticket</a:t>
            </a:r>
            <a:endParaRPr lang="en-US" sz="1300" dirty="0"/>
          </a:p>
        </p:txBody>
      </p:sp>
      <p:sp>
        <p:nvSpPr>
          <p:cNvPr id="37" name="Text 34"/>
          <p:cNvSpPr txBox="1"/>
          <p:nvPr/>
        </p:nvSpPr>
        <p:spPr>
          <a:xfrm>
            <a:off x="8778240" y="4846320"/>
            <a:ext cx="1325880" cy="411480"/>
          </a:xfrm>
          <a:prstGeom prst="rect">
            <a:avLst/>
          </a:prstGeom>
          <a:noFill/>
          <a:ln/>
        </p:spPr>
        <p:txBody>
          <a:bodyPr wrap="square" lIns="0" tIns="0" rIns="0" bIns="0" rtlCol="0" anchor="ctr"/>
          <a:lstStyle/>
          <a:p>
            <a:pPr indent="0" marL="0">
              <a:buNone/>
            </a:pPr>
            <a:r>
              <a:rPr lang="en-US" sz="1600" b="1" dirty="0">
                <a:solidFill>
                  <a:srgbClr val="17845A"/>
                </a:solidFill>
                <a:latin typeface="Calibri" pitchFamily="34" charset="0"/>
                <a:ea typeface="Calibri" pitchFamily="34" charset="-122"/>
                <a:cs typeface="Calibri" pitchFamily="34" charset="-120"/>
              </a:rPr>
              <a:t>₹4,276/mo</a:t>
            </a:r>
            <a:endParaRPr lang="en-US" sz="1600" dirty="0"/>
          </a:p>
        </p:txBody>
      </p:sp>
      <p:sp>
        <p:nvSpPr>
          <p:cNvPr id="38" name="Text 35"/>
          <p:cNvSpPr txBox="1"/>
          <p:nvPr/>
        </p:nvSpPr>
        <p:spPr>
          <a:xfrm>
            <a:off x="10104120" y="4846320"/>
            <a:ext cx="1600200" cy="411480"/>
          </a:xfrm>
          <a:prstGeom prst="rect">
            <a:avLst/>
          </a:prstGeom>
          <a:noFill/>
          <a:ln/>
        </p:spPr>
        <p:txBody>
          <a:bodyPr wrap="square" lIns="0" tIns="0" rIns="0" bIns="0" rtlCol="0" anchor="ctr"/>
          <a:lstStyle/>
          <a:p>
            <a:pPr indent="0" marL="0">
              <a:buNone/>
            </a:pPr>
            <a:r>
              <a:rPr lang="en-US" sz="1100" dirty="0">
                <a:solidFill>
                  <a:srgbClr val="5A6A6F"/>
                </a:solidFill>
                <a:latin typeface="Calibri" pitchFamily="34" charset="0"/>
                <a:ea typeface="Calibri" pitchFamily="34" charset="-122"/>
                <a:cs typeface="Calibri" pitchFamily="34" charset="-120"/>
              </a:rPr>
              <a:t>measured vs ₹4,741 predicted</a:t>
            </a:r>
            <a:endParaRPr lang="en-US" sz="1100" dirty="0"/>
          </a:p>
        </p:txBody>
      </p:sp>
      <p:sp>
        <p:nvSpPr>
          <p:cNvPr id="39" name="Text 36"/>
          <p:cNvSpPr txBox="1"/>
          <p:nvPr/>
        </p:nvSpPr>
        <p:spPr>
          <a:xfrm>
            <a:off x="7178040" y="5303520"/>
            <a:ext cx="1645920" cy="411480"/>
          </a:xfrm>
          <a:prstGeom prst="rect">
            <a:avLst/>
          </a:prstGeom>
          <a:noFill/>
          <a:ln/>
        </p:spPr>
        <p:txBody>
          <a:bodyPr wrap="square" lIns="0" tIns="0" rIns="0" bIns="0" rtlCol="0" anchor="ctr"/>
          <a:lstStyle/>
          <a:p>
            <a:pPr indent="0" marL="0">
              <a:buNone/>
            </a:pPr>
            <a:r>
              <a:rPr lang="en-US" sz="1300" dirty="0">
                <a:solidFill>
                  <a:srgbClr val="5A6A6F"/>
                </a:solidFill>
                <a:latin typeface="Calibri" pitchFamily="34" charset="0"/>
                <a:ea typeface="Calibri" pitchFamily="34" charset="-122"/>
                <a:cs typeface="Calibri" pitchFamily="34" charset="-120"/>
              </a:rPr>
              <a:t>Heat recovery</a:t>
            </a:r>
            <a:endParaRPr lang="en-US" sz="1300" dirty="0"/>
          </a:p>
        </p:txBody>
      </p:sp>
      <p:sp>
        <p:nvSpPr>
          <p:cNvPr id="40" name="Text 37"/>
          <p:cNvSpPr txBox="1"/>
          <p:nvPr/>
        </p:nvSpPr>
        <p:spPr>
          <a:xfrm>
            <a:off x="8778240" y="5303520"/>
            <a:ext cx="1325880" cy="411480"/>
          </a:xfrm>
          <a:prstGeom prst="rect">
            <a:avLst/>
          </a:prstGeom>
          <a:noFill/>
          <a:ln/>
        </p:spPr>
        <p:txBody>
          <a:bodyPr wrap="square" lIns="0" tIns="0" rIns="0" bIns="0" rtlCol="0" anchor="ctr"/>
          <a:lstStyle/>
          <a:p>
            <a:pPr indent="0" marL="0">
              <a:buNone/>
            </a:pPr>
            <a:r>
              <a:rPr lang="en-US" sz="1600" b="1" dirty="0">
                <a:solidFill>
                  <a:srgbClr val="0F2730"/>
                </a:solidFill>
                <a:latin typeface="Calibri" pitchFamily="34" charset="0"/>
                <a:ea typeface="Calibri" pitchFamily="34" charset="-122"/>
                <a:cs typeface="Calibri" pitchFamily="34" charset="-120"/>
              </a:rPr>
              <a:t>₹7,414/mo</a:t>
            </a:r>
            <a:endParaRPr lang="en-US" sz="1600" dirty="0"/>
          </a:p>
        </p:txBody>
      </p:sp>
      <p:sp>
        <p:nvSpPr>
          <p:cNvPr id="41" name="Text 38"/>
          <p:cNvSpPr txBox="1"/>
          <p:nvPr/>
        </p:nvSpPr>
        <p:spPr>
          <a:xfrm>
            <a:off x="10104120" y="5303520"/>
            <a:ext cx="1600200" cy="411480"/>
          </a:xfrm>
          <a:prstGeom prst="rect">
            <a:avLst/>
          </a:prstGeom>
          <a:noFill/>
          <a:ln/>
        </p:spPr>
        <p:txBody>
          <a:bodyPr wrap="square" lIns="0" tIns="0" rIns="0" bIns="0" rtlCol="0" anchor="ctr"/>
          <a:lstStyle/>
          <a:p>
            <a:pPr indent="0" marL="0">
              <a:buNone/>
            </a:pPr>
            <a:r>
              <a:rPr lang="en-US" sz="1100" dirty="0">
                <a:solidFill>
                  <a:srgbClr val="5A6A6F"/>
                </a:solidFill>
                <a:latin typeface="Calibri" pitchFamily="34" charset="0"/>
                <a:ea typeface="Calibri" pitchFamily="34" charset="-122"/>
                <a:cs typeface="Calibri" pitchFamily="34" charset="-120"/>
              </a:rPr>
              <a:t>LPG displaced, 8.8-month payback</a:t>
            </a:r>
            <a:endParaRPr lang="en-US" sz="1100" dirty="0"/>
          </a:p>
        </p:txBody>
      </p:sp>
      <p:sp>
        <p:nvSpPr>
          <p:cNvPr id="42" name="Text 39"/>
          <p:cNvSpPr txBox="1"/>
          <p:nvPr/>
        </p:nvSpPr>
        <p:spPr>
          <a:xfrm>
            <a:off x="7178040" y="5760720"/>
            <a:ext cx="1645920" cy="411480"/>
          </a:xfrm>
          <a:prstGeom prst="rect">
            <a:avLst/>
          </a:prstGeom>
          <a:noFill/>
          <a:ln/>
        </p:spPr>
        <p:txBody>
          <a:bodyPr wrap="square" lIns="0" tIns="0" rIns="0" bIns="0" rtlCol="0" anchor="ctr"/>
          <a:lstStyle/>
          <a:p>
            <a:pPr indent="0" marL="0">
              <a:buNone/>
            </a:pPr>
            <a:r>
              <a:rPr lang="en-US" sz="1300" dirty="0">
                <a:solidFill>
                  <a:srgbClr val="5A6A6F"/>
                </a:solidFill>
                <a:latin typeface="Calibri" pitchFamily="34" charset="0"/>
                <a:ea typeface="Calibri" pitchFamily="34" charset="-122"/>
                <a:cs typeface="Calibri" pitchFamily="34" charset="-120"/>
              </a:rPr>
              <a:t>New flow meters</a:t>
            </a:r>
            <a:endParaRPr lang="en-US" sz="1300" dirty="0"/>
          </a:p>
        </p:txBody>
      </p:sp>
      <p:sp>
        <p:nvSpPr>
          <p:cNvPr id="43" name="Text 40"/>
          <p:cNvSpPr txBox="1"/>
          <p:nvPr/>
        </p:nvSpPr>
        <p:spPr>
          <a:xfrm>
            <a:off x="8778240" y="5760720"/>
            <a:ext cx="1325880" cy="411480"/>
          </a:xfrm>
          <a:prstGeom prst="rect">
            <a:avLst/>
          </a:prstGeom>
          <a:noFill/>
          <a:ln/>
        </p:spPr>
        <p:txBody>
          <a:bodyPr wrap="square" lIns="0" tIns="0" rIns="0" bIns="0" rtlCol="0" anchor="ctr"/>
          <a:lstStyle/>
          <a:p>
            <a:pPr indent="0" marL="0">
              <a:buNone/>
            </a:pPr>
            <a:r>
              <a:rPr lang="en-US" sz="1600" b="1" dirty="0">
                <a:solidFill>
                  <a:srgbClr val="0F2730"/>
                </a:solidFill>
                <a:latin typeface="Calibri" pitchFamily="34" charset="0"/>
                <a:ea typeface="Calibri" pitchFamily="34" charset="-122"/>
                <a:cs typeface="Calibri" pitchFamily="34" charset="-120"/>
              </a:rPr>
              <a:t>0</a:t>
            </a:r>
            <a:endParaRPr lang="en-US" sz="1600" dirty="0"/>
          </a:p>
        </p:txBody>
      </p:sp>
      <p:sp>
        <p:nvSpPr>
          <p:cNvPr id="44" name="Text 41"/>
          <p:cNvSpPr txBox="1"/>
          <p:nvPr/>
        </p:nvSpPr>
        <p:spPr>
          <a:xfrm>
            <a:off x="10104120" y="5760720"/>
            <a:ext cx="1600200" cy="411480"/>
          </a:xfrm>
          <a:prstGeom prst="rect">
            <a:avLst/>
          </a:prstGeom>
          <a:noFill/>
          <a:ln/>
        </p:spPr>
        <p:txBody>
          <a:bodyPr wrap="square" lIns="0" tIns="0" rIns="0" bIns="0" rtlCol="0" anchor="ctr"/>
          <a:lstStyle/>
          <a:p>
            <a:pPr indent="0" marL="0">
              <a:buNone/>
            </a:pPr>
            <a:r>
              <a:rPr lang="en-US" sz="1100" dirty="0">
                <a:solidFill>
                  <a:srgbClr val="5A6A6F"/>
                </a:solidFill>
                <a:latin typeface="Calibri" pitchFamily="34" charset="0"/>
                <a:ea typeface="Calibri" pitchFamily="34" charset="-122"/>
                <a:cs typeface="Calibri" pitchFamily="34" charset="-120"/>
              </a:rPr>
              <a:t>pressure + power only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System block diagram: two signals in, a verified saving out</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System architecture</a:t>
            </a:r>
            <a:endParaRPr lang="en-US" sz="1000" dirty="0"/>
          </a:p>
        </p:txBody>
      </p:sp>
      <p:sp>
        <p:nvSpPr>
          <p:cNvPr id="4" name="Shape 2"/>
          <p:cNvSpPr/>
          <p:nvPr/>
        </p:nvSpPr>
        <p:spPr>
          <a:xfrm>
            <a:off x="548640" y="1325880"/>
            <a:ext cx="2606040" cy="548640"/>
          </a:xfrm>
          <a:prstGeom prst="roundRect">
            <a:avLst>
              <a:gd name="adj" fmla="val 13333"/>
            </a:avLst>
          </a:prstGeom>
          <a:solidFill>
            <a:srgbClr val="1C6A96"/>
          </a:solidFill>
          <a:ln w="12700">
            <a:solidFill>
              <a:srgbClr val="1C6A96"/>
            </a:solidFill>
            <a:prstDash val="solid"/>
          </a:ln>
        </p:spPr>
      </p:sp>
      <p:sp>
        <p:nvSpPr>
          <p:cNvPr id="5" name="Text 3"/>
          <p:cNvSpPr txBox="1"/>
          <p:nvPr/>
        </p:nvSpPr>
        <p:spPr>
          <a:xfrm>
            <a:off x="658368" y="1325880"/>
            <a:ext cx="2386584" cy="548640"/>
          </a:xfrm>
          <a:prstGeom prst="rect">
            <a:avLst/>
          </a:prstGeom>
          <a:noFill/>
          <a:ln/>
        </p:spPr>
        <p:txBody>
          <a:bodyPr wrap="square" lIns="0" tIns="0" rIns="0" bIns="0" rtlCol="0" anchor="ctr"/>
          <a:lstStyle/>
          <a:p>
            <a:pPr indent="0" marL="0">
              <a:buNone/>
            </a:pPr>
            <a:r>
              <a:rPr lang="en-US" sz="1500" b="1" dirty="0">
                <a:solidFill>
                  <a:srgbClr val="FFFFFF"/>
                </a:solidFill>
                <a:latin typeface="Bahnschrift" pitchFamily="34" charset="0"/>
                <a:ea typeface="Bahnschrift" pitchFamily="34" charset="-122"/>
                <a:cs typeface="Bahnschrift" pitchFamily="34" charset="-120"/>
              </a:rPr>
              <a:t>Mechanical &amp; sensing</a:t>
            </a:r>
            <a:endParaRPr lang="en-US" sz="1500" dirty="0"/>
          </a:p>
        </p:txBody>
      </p:sp>
      <p:sp>
        <p:nvSpPr>
          <p:cNvPr id="6" name="Shape 4"/>
          <p:cNvSpPr/>
          <p:nvPr/>
        </p:nvSpPr>
        <p:spPr>
          <a:xfrm>
            <a:off x="548640" y="1965960"/>
            <a:ext cx="2606040" cy="2971800"/>
          </a:xfrm>
          <a:prstGeom prst="roundRect">
            <a:avLst>
              <a:gd name="adj" fmla="val 2807"/>
            </a:avLst>
          </a:prstGeom>
          <a:solidFill>
            <a:srgbClr val="F2F4F5"/>
          </a:solidFill>
          <a:ln w="12700">
            <a:solidFill>
              <a:srgbClr val="D9DEE0"/>
            </a:solidFill>
            <a:prstDash val="solid"/>
          </a:ln>
        </p:spPr>
      </p:sp>
      <p:sp>
        <p:nvSpPr>
          <p:cNvPr id="7" name="Text 5"/>
          <p:cNvSpPr txBox="1"/>
          <p:nvPr/>
        </p:nvSpPr>
        <p:spPr>
          <a:xfrm>
            <a:off x="658368" y="2075688"/>
            <a:ext cx="2386584"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4–20 mA pressure transmitter, 0–16 bar, on the existing gauge port behind a ball valve</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Split-core CT on one motor phase: clip-on, no cable opened</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Optional machine-on dry contact</a:t>
            </a:r>
            <a:endParaRPr lang="en-US" sz="1300" dirty="0"/>
          </a:p>
        </p:txBody>
      </p:sp>
      <p:sp>
        <p:nvSpPr>
          <p:cNvPr id="8" name="Shape 6"/>
          <p:cNvSpPr/>
          <p:nvPr/>
        </p:nvSpPr>
        <p:spPr>
          <a:xfrm>
            <a:off x="3163824" y="3291840"/>
            <a:ext cx="194767" cy="292608"/>
          </a:xfrm>
          <a:prstGeom prst="rightArrow">
            <a:avLst/>
          </a:prstGeom>
          <a:solidFill>
            <a:srgbClr val="1C6A96"/>
          </a:solidFill>
          <a:ln w="12700">
            <a:solidFill>
              <a:srgbClr val="1C6A96"/>
            </a:solidFill>
            <a:prstDash val="solid"/>
          </a:ln>
        </p:spPr>
      </p:sp>
      <p:sp>
        <p:nvSpPr>
          <p:cNvPr id="9" name="Shape 7"/>
          <p:cNvSpPr/>
          <p:nvPr/>
        </p:nvSpPr>
        <p:spPr>
          <a:xfrm>
            <a:off x="3367735" y="1325880"/>
            <a:ext cx="2606040" cy="548640"/>
          </a:xfrm>
          <a:prstGeom prst="roundRect">
            <a:avLst>
              <a:gd name="adj" fmla="val 13333"/>
            </a:avLst>
          </a:prstGeom>
          <a:solidFill>
            <a:srgbClr val="1C6A96"/>
          </a:solidFill>
          <a:ln w="12700">
            <a:solidFill>
              <a:srgbClr val="1C6A96"/>
            </a:solidFill>
            <a:prstDash val="solid"/>
          </a:ln>
        </p:spPr>
      </p:sp>
      <p:sp>
        <p:nvSpPr>
          <p:cNvPr id="10" name="Text 8"/>
          <p:cNvSpPr txBox="1"/>
          <p:nvPr/>
        </p:nvSpPr>
        <p:spPr>
          <a:xfrm>
            <a:off x="3477463" y="1325880"/>
            <a:ext cx="2386584" cy="548640"/>
          </a:xfrm>
          <a:prstGeom prst="rect">
            <a:avLst/>
          </a:prstGeom>
          <a:noFill/>
          <a:ln/>
        </p:spPr>
        <p:txBody>
          <a:bodyPr wrap="square" lIns="0" tIns="0" rIns="0" bIns="0" rtlCol="0" anchor="ctr"/>
          <a:lstStyle/>
          <a:p>
            <a:pPr indent="0" marL="0">
              <a:buNone/>
            </a:pPr>
            <a:r>
              <a:rPr lang="en-US" sz="1500" b="1" dirty="0">
                <a:solidFill>
                  <a:srgbClr val="FFFFFF"/>
                </a:solidFill>
                <a:latin typeface="Bahnschrift" pitchFamily="34" charset="0"/>
                <a:ea typeface="Bahnschrift" pitchFamily="34" charset="-122"/>
                <a:cs typeface="Bahnschrift" pitchFamily="34" charset="-120"/>
              </a:rPr>
              <a:t>Electronics &amp; power</a:t>
            </a:r>
            <a:endParaRPr lang="en-US" sz="1500" dirty="0"/>
          </a:p>
        </p:txBody>
      </p:sp>
      <p:sp>
        <p:nvSpPr>
          <p:cNvPr id="11" name="Shape 9"/>
          <p:cNvSpPr/>
          <p:nvPr/>
        </p:nvSpPr>
        <p:spPr>
          <a:xfrm>
            <a:off x="3367735" y="1965960"/>
            <a:ext cx="2606040" cy="2971800"/>
          </a:xfrm>
          <a:prstGeom prst="roundRect">
            <a:avLst>
              <a:gd name="adj" fmla="val 2807"/>
            </a:avLst>
          </a:prstGeom>
          <a:solidFill>
            <a:srgbClr val="F2F4F5"/>
          </a:solidFill>
          <a:ln w="12700">
            <a:solidFill>
              <a:srgbClr val="D9DEE0"/>
            </a:solidFill>
            <a:prstDash val="solid"/>
          </a:ln>
        </p:spPr>
      </p:sp>
      <p:sp>
        <p:nvSpPr>
          <p:cNvPr id="12" name="Text 10"/>
          <p:cNvSpPr txBox="1"/>
          <p:nvPr/>
        </p:nvSpPr>
        <p:spPr>
          <a:xfrm>
            <a:off x="3477463" y="2075688"/>
            <a:ext cx="2386584"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ADS1115 16-bit ADC, 165 Ω 0.1 % shunt</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ESP32-S3 controller, Wi-Fi</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24 V DIN supply → 5 V buck</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microSD buffer · no output stage</a:t>
            </a:r>
            <a:endParaRPr lang="en-US" sz="1300" dirty="0"/>
          </a:p>
        </p:txBody>
      </p:sp>
      <p:sp>
        <p:nvSpPr>
          <p:cNvPr id="13" name="Shape 11"/>
          <p:cNvSpPr/>
          <p:nvPr/>
        </p:nvSpPr>
        <p:spPr>
          <a:xfrm>
            <a:off x="5982919" y="3291840"/>
            <a:ext cx="194767" cy="292608"/>
          </a:xfrm>
          <a:prstGeom prst="rightArrow">
            <a:avLst/>
          </a:prstGeom>
          <a:solidFill>
            <a:srgbClr val="1C6A96"/>
          </a:solidFill>
          <a:ln w="12700">
            <a:solidFill>
              <a:srgbClr val="1C6A96"/>
            </a:solidFill>
            <a:prstDash val="solid"/>
          </a:ln>
        </p:spPr>
      </p:sp>
      <p:sp>
        <p:nvSpPr>
          <p:cNvPr id="14" name="Shape 12"/>
          <p:cNvSpPr/>
          <p:nvPr/>
        </p:nvSpPr>
        <p:spPr>
          <a:xfrm>
            <a:off x="6186830" y="1325880"/>
            <a:ext cx="2606040" cy="548640"/>
          </a:xfrm>
          <a:prstGeom prst="roundRect">
            <a:avLst>
              <a:gd name="adj" fmla="val 13333"/>
            </a:avLst>
          </a:prstGeom>
          <a:solidFill>
            <a:srgbClr val="1C6A96"/>
          </a:solidFill>
          <a:ln w="12700">
            <a:solidFill>
              <a:srgbClr val="1C6A96"/>
            </a:solidFill>
            <a:prstDash val="solid"/>
          </a:ln>
        </p:spPr>
      </p:sp>
      <p:sp>
        <p:nvSpPr>
          <p:cNvPr id="15" name="Text 13"/>
          <p:cNvSpPr txBox="1"/>
          <p:nvPr/>
        </p:nvSpPr>
        <p:spPr>
          <a:xfrm>
            <a:off x="6296558" y="1325880"/>
            <a:ext cx="2386584" cy="548640"/>
          </a:xfrm>
          <a:prstGeom prst="rect">
            <a:avLst/>
          </a:prstGeom>
          <a:noFill/>
          <a:ln/>
        </p:spPr>
        <p:txBody>
          <a:bodyPr wrap="square" lIns="0" tIns="0" rIns="0" bIns="0" rtlCol="0" anchor="ctr"/>
          <a:lstStyle/>
          <a:p>
            <a:pPr indent="0" marL="0">
              <a:buNone/>
            </a:pPr>
            <a:r>
              <a:rPr lang="en-US" sz="1500" b="1" dirty="0">
                <a:solidFill>
                  <a:srgbClr val="FFFFFF"/>
                </a:solidFill>
                <a:latin typeface="Bahnschrift" pitchFamily="34" charset="0"/>
                <a:ea typeface="Bahnschrift" pitchFamily="34" charset="-122"/>
                <a:cs typeface="Bahnschrift" pitchFamily="34" charset="-120"/>
              </a:rPr>
              <a:t>Firmware logic (1 Hz)</a:t>
            </a:r>
            <a:endParaRPr lang="en-US" sz="1500" dirty="0"/>
          </a:p>
        </p:txBody>
      </p:sp>
      <p:sp>
        <p:nvSpPr>
          <p:cNvPr id="16" name="Shape 14"/>
          <p:cNvSpPr/>
          <p:nvPr/>
        </p:nvSpPr>
        <p:spPr>
          <a:xfrm>
            <a:off x="6186830" y="1965960"/>
            <a:ext cx="2606040" cy="2971800"/>
          </a:xfrm>
          <a:prstGeom prst="roundRect">
            <a:avLst>
              <a:gd name="adj" fmla="val 2807"/>
            </a:avLst>
          </a:prstGeom>
          <a:solidFill>
            <a:srgbClr val="F2F4F5"/>
          </a:solidFill>
          <a:ln w="12700">
            <a:solidFill>
              <a:srgbClr val="D9DEE0"/>
            </a:solidFill>
            <a:prstDash val="solid"/>
          </a:ln>
        </p:spPr>
      </p:sp>
      <p:sp>
        <p:nvSpPr>
          <p:cNvPr id="17" name="Text 15"/>
          <p:cNvSpPr txBox="1"/>
          <p:nvPr/>
        </p:nvSpPr>
        <p:spPr>
          <a:xfrm>
            <a:off x="6296558" y="2075688"/>
            <a:ext cx="2386584"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Read loop current → bar; CT RMS → kW</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Drop invalid frames (open loop, no clock)</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Batch 10 frames → REST / MQTT</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Spool to SD offline, replay oldest-first</a:t>
            </a:r>
            <a:endParaRPr lang="en-US" sz="1300" dirty="0"/>
          </a:p>
        </p:txBody>
      </p:sp>
      <p:sp>
        <p:nvSpPr>
          <p:cNvPr id="18" name="Shape 16"/>
          <p:cNvSpPr/>
          <p:nvPr/>
        </p:nvSpPr>
        <p:spPr>
          <a:xfrm>
            <a:off x="8802014" y="3291840"/>
            <a:ext cx="194767" cy="292608"/>
          </a:xfrm>
          <a:prstGeom prst="rightArrow">
            <a:avLst/>
          </a:prstGeom>
          <a:solidFill>
            <a:srgbClr val="1C6A96"/>
          </a:solidFill>
          <a:ln w="12700">
            <a:solidFill>
              <a:srgbClr val="1C6A96"/>
            </a:solidFill>
            <a:prstDash val="solid"/>
          </a:ln>
        </p:spPr>
      </p:sp>
      <p:sp>
        <p:nvSpPr>
          <p:cNvPr id="19" name="Shape 17"/>
          <p:cNvSpPr/>
          <p:nvPr/>
        </p:nvSpPr>
        <p:spPr>
          <a:xfrm>
            <a:off x="9005926" y="1325880"/>
            <a:ext cx="2606040" cy="548640"/>
          </a:xfrm>
          <a:prstGeom prst="roundRect">
            <a:avLst>
              <a:gd name="adj" fmla="val 13333"/>
            </a:avLst>
          </a:prstGeom>
          <a:solidFill>
            <a:srgbClr val="0F2730"/>
          </a:solidFill>
          <a:ln w="12700">
            <a:solidFill>
              <a:srgbClr val="0F2730"/>
            </a:solidFill>
            <a:prstDash val="solid"/>
          </a:ln>
        </p:spPr>
      </p:sp>
      <p:sp>
        <p:nvSpPr>
          <p:cNvPr id="20" name="Text 18"/>
          <p:cNvSpPr txBox="1"/>
          <p:nvPr/>
        </p:nvSpPr>
        <p:spPr>
          <a:xfrm>
            <a:off x="9115654" y="1325880"/>
            <a:ext cx="2386584" cy="548640"/>
          </a:xfrm>
          <a:prstGeom prst="rect">
            <a:avLst/>
          </a:prstGeom>
          <a:noFill/>
          <a:ln/>
        </p:spPr>
        <p:txBody>
          <a:bodyPr wrap="square" lIns="0" tIns="0" rIns="0" bIns="0" rtlCol="0" anchor="ctr"/>
          <a:lstStyle/>
          <a:p>
            <a:pPr indent="0" marL="0">
              <a:buNone/>
            </a:pPr>
            <a:r>
              <a:rPr lang="en-US" sz="1500" b="1" dirty="0">
                <a:solidFill>
                  <a:srgbClr val="FFFFFF"/>
                </a:solidFill>
                <a:latin typeface="Bahnschrift" pitchFamily="34" charset="0"/>
                <a:ea typeface="Bahnschrift" pitchFamily="34" charset="-122"/>
                <a:cs typeface="Bahnschrift" pitchFamily="34" charset="-120"/>
              </a:rPr>
              <a:t>Twin software (laptop, offline)</a:t>
            </a:r>
            <a:endParaRPr lang="en-US" sz="1500" dirty="0"/>
          </a:p>
        </p:txBody>
      </p:sp>
      <p:sp>
        <p:nvSpPr>
          <p:cNvPr id="21" name="Shape 19"/>
          <p:cNvSpPr/>
          <p:nvPr/>
        </p:nvSpPr>
        <p:spPr>
          <a:xfrm>
            <a:off x="9005926" y="1965960"/>
            <a:ext cx="2606040" cy="2971800"/>
          </a:xfrm>
          <a:prstGeom prst="roundRect">
            <a:avLst>
              <a:gd name="adj" fmla="val 2807"/>
            </a:avLst>
          </a:prstGeom>
          <a:solidFill>
            <a:srgbClr val="F2F4F5"/>
          </a:solidFill>
          <a:ln w="12700">
            <a:solidFill>
              <a:srgbClr val="D9DEE0"/>
            </a:solidFill>
            <a:prstDash val="solid"/>
          </a:ln>
        </p:spPr>
      </p:sp>
      <p:sp>
        <p:nvSpPr>
          <p:cNvPr id="22" name="Text 20"/>
          <p:cNvSpPr txBox="1"/>
          <p:nvPr/>
        </p:nvSpPr>
        <p:spPr>
          <a:xfrm>
            <a:off x="9115654" y="2075688"/>
            <a:ext cx="2386584"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Ingest &amp; validate → sensor health</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Rules + Isolation Forest + Random Forest</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Nightly self-calibration (leak, volume, kW per m³/min)</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Leak Hunter · advisors · tickets · owner report</a:t>
            </a:r>
            <a:endParaRPr lang="en-US" sz="1300" dirty="0"/>
          </a:p>
        </p:txBody>
      </p:sp>
      <p:sp>
        <p:nvSpPr>
          <p:cNvPr id="23" name="Shape 21"/>
          <p:cNvSpPr/>
          <p:nvPr/>
        </p:nvSpPr>
        <p:spPr>
          <a:xfrm>
            <a:off x="548640" y="5120640"/>
            <a:ext cx="11064240" cy="1051560"/>
          </a:xfrm>
          <a:prstGeom prst="roundRect">
            <a:avLst>
              <a:gd name="adj" fmla="val 6957"/>
            </a:avLst>
          </a:prstGeom>
          <a:solidFill>
            <a:srgbClr val="E8F3FA"/>
          </a:solidFill>
          <a:ln w="12700">
            <a:solidFill>
              <a:srgbClr val="E8F3FA"/>
            </a:solidFill>
            <a:prstDash val="solid"/>
          </a:ln>
        </p:spPr>
      </p:sp>
      <p:sp>
        <p:nvSpPr>
          <p:cNvPr id="24" name="Text 22"/>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400" b="1" dirty="0">
                <a:solidFill>
                  <a:srgbClr val="1C6A96"/>
                </a:solidFill>
                <a:latin typeface="Calibri" pitchFamily="34" charset="0"/>
                <a:ea typeface="Calibri" pitchFamily="34" charset="-122"/>
                <a:cs typeface="Calibri" pitchFamily="34" charset="-120"/>
              </a:rPr>
              <a:t>Architecture rationale: </a:t>
            </a:r>
            <a:pPr indent="0" marL="0">
              <a:buNone/>
            </a:pPr>
            <a:r>
              <a:rPr lang="en-US" sz="1400" dirty="0">
                <a:solidFill>
                  <a:srgbClr val="0F2730"/>
                </a:solidFill>
                <a:latin typeface="Calibri" pitchFamily="34" charset="0"/>
                <a:ea typeface="Calibri" pitchFamily="34" charset="-122"/>
                <a:cs typeface="Calibri" pitchFamily="34" charset="-120"/>
              </a:rPr>
              <a:t>a clip-on CT and a gauge-port transmitter instead of a flow meter, so nothing is cut or shut down. Everything after the ADC is software, so today's virtual edge node already exercises the full pipeline the hardware will feed. The node has no output stage at all: it physically cannot command the compressor.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Target specifications and hardware selection</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System architecture</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1600200"/>
                <a:gridCol w="2331720"/>
                <a:gridCol w="30175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Target specification</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Selected hardware / protocol</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Sampling</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 Hz pressure and power</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ESP32-S3 + ADS1115 at 860 samples/s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Header pressure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0–16 bar(g), ±0.5 % full scale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4–20 mA transmitter, 165 Ω 0.1 % shunt</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Motor power</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0–30 A per phase, RMS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SCT-013-030 split-core CT, RMS over 10 mains cycles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Data link</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Batches of 10 frames, read-only</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Wi-Fi REST to /api/edge/ingest; MQTT optional</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Offline buffer</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72 h at 1 Hz</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microSD spool, replayed oldest-first</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Enclosure &amp; supply</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IP65, DIN rail</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PC/ABS box, PG glands, 24 V DIN PSU → 5 V</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5720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Cost per site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under ₹10,000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 ₹6,100 indicative bill of materials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bl>
          </a:graphicData>
        </a:graphic>
      </p:graphicFrame>
      <p:sp>
        <p:nvSpPr>
          <p:cNvPr id="5" name="Text 2"/>
          <p:cNvSpPr txBox="1"/>
          <p:nvPr/>
        </p:nvSpPr>
        <p:spPr>
          <a:xfrm>
            <a:off x="7863840" y="1325880"/>
            <a:ext cx="3749040" cy="365760"/>
          </a:xfrm>
          <a:prstGeom prst="rect">
            <a:avLst/>
          </a:prstGeom>
          <a:noFill/>
          <a:ln/>
        </p:spPr>
        <p:txBody>
          <a:bodyPr wrap="square" lIns="0" tIns="0" rIns="0" bIns="0" rtlCol="0" anchor="t"/>
          <a:lstStyle/>
          <a:p>
            <a:pPr indent="0" marL="0">
              <a:buNone/>
            </a:pPr>
            <a:r>
              <a:rPr lang="en-US" sz="1800" b="1" dirty="0">
                <a:solidFill>
                  <a:srgbClr val="0F2730"/>
                </a:solidFill>
                <a:latin typeface="Bahnschrift" pitchFamily="34" charset="0"/>
                <a:ea typeface="Bahnschrift" pitchFamily="34" charset="-122"/>
                <a:cs typeface="Bahnschrift" pitchFamily="34" charset="-120"/>
              </a:rPr>
              <a:t>Software targets, tested</a:t>
            </a:r>
            <a:endParaRPr lang="en-US" sz="1800" dirty="0"/>
          </a:p>
        </p:txBody>
      </p:sp>
      <p:sp>
        <p:nvSpPr>
          <p:cNvPr id="6" name="Text 3"/>
          <p:cNvSpPr txBox="1"/>
          <p:nvPr/>
        </p:nvSpPr>
        <p:spPr>
          <a:xfrm>
            <a:off x="7863840" y="1783080"/>
            <a:ext cx="3749040" cy="685800"/>
          </a:xfrm>
          <a:prstGeom prst="rect">
            <a:avLst/>
          </a:prstGeom>
          <a:noFill/>
          <a:ln/>
        </p:spPr>
        <p:txBody>
          <a:bodyPr wrap="square" lIns="0" tIns="0" rIns="0" bIns="0" rtlCol="0" anchor="t"/>
          <a:lstStyle/>
          <a:p>
            <a:pPr indent="0" marL="0">
              <a:buNone/>
            </a:pPr>
            <a:r>
              <a:rPr lang="en-US" sz="3600" b="1" dirty="0">
                <a:solidFill>
                  <a:srgbClr val="17845A"/>
                </a:solidFill>
                <a:latin typeface="Bahnschrift" pitchFamily="34" charset="0"/>
                <a:ea typeface="Bahnschrift" pitchFamily="34" charset="-122"/>
                <a:cs typeface="Bahnschrift" pitchFamily="34" charset="-120"/>
              </a:rPr>
              <a:t>1.8%</a:t>
            </a:r>
            <a:endParaRPr lang="en-US" sz="3600" dirty="0"/>
          </a:p>
        </p:txBody>
      </p:sp>
      <p:sp>
        <p:nvSpPr>
          <p:cNvPr id="7" name="Text 4"/>
          <p:cNvSpPr txBox="1"/>
          <p:nvPr/>
        </p:nvSpPr>
        <p:spPr>
          <a:xfrm>
            <a:off x="7863840" y="2496312"/>
            <a:ext cx="374904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mean leak error on 30 random plants the twin had never seen (target ±10%)</a:t>
            </a:r>
            <a:endParaRPr lang="en-US" sz="1300" dirty="0"/>
          </a:p>
        </p:txBody>
      </p:sp>
      <p:sp>
        <p:nvSpPr>
          <p:cNvPr id="8" name="Text 5"/>
          <p:cNvSpPr txBox="1"/>
          <p:nvPr/>
        </p:nvSpPr>
        <p:spPr>
          <a:xfrm>
            <a:off x="7863840" y="3154680"/>
            <a:ext cx="3749040" cy="685800"/>
          </a:xfrm>
          <a:prstGeom prst="rect">
            <a:avLst/>
          </a:prstGeom>
          <a:noFill/>
          <a:ln/>
        </p:spPr>
        <p:txBody>
          <a:bodyPr wrap="square" lIns="0" tIns="0" rIns="0" bIns="0" rtlCol="0" anchor="t"/>
          <a:lstStyle/>
          <a:p>
            <a:pPr indent="0" marL="0">
              <a:buNone/>
            </a:pPr>
            <a:r>
              <a:rPr lang="en-US" sz="3600" b="1" dirty="0">
                <a:solidFill>
                  <a:srgbClr val="17845A"/>
                </a:solidFill>
                <a:latin typeface="Bahnschrift" pitchFamily="34" charset="0"/>
                <a:ea typeface="Bahnschrift" pitchFamily="34" charset="-122"/>
                <a:cs typeface="Bahnschrift" pitchFamily="34" charset="-120"/>
              </a:rPr>
              <a:t>30/30</a:t>
            </a:r>
            <a:endParaRPr lang="en-US" sz="3600" dirty="0"/>
          </a:p>
        </p:txBody>
      </p:sp>
      <p:sp>
        <p:nvSpPr>
          <p:cNvPr id="9" name="Text 6"/>
          <p:cNvSpPr txBox="1"/>
          <p:nvPr/>
        </p:nvSpPr>
        <p:spPr>
          <a:xfrm>
            <a:off x="7863840" y="3867912"/>
            <a:ext cx="374904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plants within ±10% · storage error 1.9%, specific power 2.2%</a:t>
            </a:r>
            <a:endParaRPr lang="en-US" sz="1300" dirty="0"/>
          </a:p>
        </p:txBody>
      </p:sp>
      <p:sp>
        <p:nvSpPr>
          <p:cNvPr id="10" name="Text 7"/>
          <p:cNvSpPr txBox="1"/>
          <p:nvPr/>
        </p:nvSpPr>
        <p:spPr>
          <a:xfrm>
            <a:off x="7863840" y="4526280"/>
            <a:ext cx="3749040" cy="685800"/>
          </a:xfrm>
          <a:prstGeom prst="rect">
            <a:avLst/>
          </a:prstGeom>
          <a:noFill/>
          <a:ln/>
        </p:spPr>
        <p:txBody>
          <a:bodyPr wrap="square" lIns="0" tIns="0" rIns="0" bIns="0" rtlCol="0" anchor="t"/>
          <a:lstStyle/>
          <a:p>
            <a:pPr indent="0" marL="0">
              <a:buNone/>
            </a:pPr>
            <a:r>
              <a:rPr lang="en-US" sz="3600" b="1" dirty="0">
                <a:solidFill>
                  <a:srgbClr val="0F2730"/>
                </a:solidFill>
                <a:latin typeface="Bahnschrift" pitchFamily="34" charset="0"/>
                <a:ea typeface="Bahnschrift" pitchFamily="34" charset="-122"/>
                <a:cs typeface="Bahnschrift" pitchFamily="34" charset="-120"/>
              </a:rPr>
              <a:t>1 night</a:t>
            </a:r>
            <a:endParaRPr lang="en-US" sz="3600" dirty="0"/>
          </a:p>
        </p:txBody>
      </p:sp>
      <p:sp>
        <p:nvSpPr>
          <p:cNvPr id="11" name="Text 8"/>
          <p:cNvSpPr txBox="1"/>
          <p:nvPr/>
        </p:nvSpPr>
        <p:spPr>
          <a:xfrm>
            <a:off x="7863840" y="5239512"/>
            <a:ext cx="3749040" cy="731520"/>
          </a:xfrm>
          <a:prstGeom prst="rect">
            <a:avLst/>
          </a:prstGeom>
          <a:noFill/>
          <a:ln/>
        </p:spPr>
        <p:txBody>
          <a:bodyPr wrap="square" lIns="0" tIns="0" rIns="0" bIns="0" rtlCol="0" anchor="t"/>
          <a:lstStyle/>
          <a:p>
            <a:pPr indent="0" marL="0">
              <a:buNone/>
            </a:pPr>
            <a:r>
              <a:rPr lang="en-US" sz="1300" dirty="0">
                <a:solidFill>
                  <a:srgbClr val="5A6A6F"/>
                </a:solidFill>
                <a:latin typeface="Calibri" pitchFamily="34" charset="0"/>
                <a:ea typeface="Calibri" pitchFamily="34" charset="-122"/>
                <a:cs typeface="Calibri" pitchFamily="34" charset="-120"/>
              </a:rPr>
              <a:t>from a new leak to an alert, in the 14-day plant twin</a:t>
            </a:r>
            <a:endParaRPr lang="en-US" sz="1300" dirty="0"/>
          </a:p>
        </p:txBody>
      </p:sp>
      <p:sp>
        <p:nvSpPr>
          <p:cNvPr id="12" name="Text 9"/>
          <p:cNvSpPr txBox="1"/>
          <p:nvPr/>
        </p:nvSpPr>
        <p:spPr>
          <a:xfrm>
            <a:off x="548640" y="5257800"/>
            <a:ext cx="6949440" cy="457200"/>
          </a:xfrm>
          <a:prstGeom prst="rect">
            <a:avLst/>
          </a:prstGeom>
          <a:noFill/>
          <a:ln/>
        </p:spPr>
        <p:txBody>
          <a:bodyPr wrap="square" lIns="0" tIns="0" rIns="0" bIns="0" rtlCol="0" anchor="t"/>
          <a:lstStyle/>
          <a:p>
            <a:pPr indent="0" marL="0">
              <a:buNone/>
            </a:pPr>
            <a:r>
              <a:rPr lang="en-US" sz="1200" i="1" dirty="0">
                <a:solidFill>
                  <a:srgbClr val="5A6A6F"/>
                </a:solidFill>
                <a:latin typeface="Calibri" pitchFamily="34" charset="0"/>
                <a:ea typeface="Calibri" pitchFamily="34" charset="-122"/>
                <a:cs typeface="Calibri" pitchFamily="34" charset="-120"/>
              </a:rPr>
              <a:t>All software results are from simulation; field accuracy is a Stage 3 deliverable.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Mechanical design: a sealed box and a safe pressure tap</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CAD &amp; mechanical</a:t>
            </a:r>
            <a:endParaRPr lang="en-US" sz="1000" dirty="0"/>
          </a:p>
        </p:txBody>
      </p:sp>
      <p:sp>
        <p:nvSpPr>
          <p:cNvPr id="4" name="Shape 2"/>
          <p:cNvSpPr/>
          <p:nvPr/>
        </p:nvSpPr>
        <p:spPr>
          <a:xfrm>
            <a:off x="548640" y="1325880"/>
            <a:ext cx="3749040" cy="3017520"/>
          </a:xfrm>
          <a:prstGeom prst="roundRect">
            <a:avLst>
              <a:gd name="adj" fmla="val 2424"/>
            </a:avLst>
          </a:prstGeom>
          <a:solidFill>
            <a:srgbClr val="F2F4F5"/>
          </a:solidFill>
          <a:ln w="19050">
            <a:solidFill>
              <a:srgbClr val="0F2730"/>
            </a:solidFill>
            <a:prstDash val="solid"/>
          </a:ln>
        </p:spPr>
      </p:sp>
      <p:sp>
        <p:nvSpPr>
          <p:cNvPr id="5" name="Text 3"/>
          <p:cNvSpPr txBox="1"/>
          <p:nvPr/>
        </p:nvSpPr>
        <p:spPr>
          <a:xfrm>
            <a:off x="685800" y="1389888"/>
            <a:ext cx="3474720" cy="274320"/>
          </a:xfrm>
          <a:prstGeom prst="rect">
            <a:avLst/>
          </a:prstGeom>
          <a:noFill/>
          <a:ln/>
        </p:spPr>
        <p:txBody>
          <a:bodyPr wrap="square" lIns="0" tIns="0" rIns="0" bIns="0" rtlCol="0" anchor="t"/>
          <a:lstStyle/>
          <a:p>
            <a:pPr indent="0" marL="0">
              <a:buNone/>
            </a:pPr>
            <a:r>
              <a:rPr lang="en-US" sz="1100" b="1" dirty="0">
                <a:solidFill>
                  <a:srgbClr val="5A6A6F"/>
                </a:solidFill>
                <a:latin typeface="Calibri" pitchFamily="34" charset="0"/>
                <a:ea typeface="Calibri" pitchFamily="34" charset="-122"/>
                <a:cs typeface="Calibri" pitchFamily="34" charset="-120"/>
              </a:rPr>
              <a:t>Enclosure layout (concept, not CAD)</a:t>
            </a:r>
            <a:endParaRPr lang="en-US" sz="1100" dirty="0"/>
          </a:p>
        </p:txBody>
      </p:sp>
      <p:sp>
        <p:nvSpPr>
          <p:cNvPr id="6" name="Shape 4"/>
          <p:cNvSpPr/>
          <p:nvPr/>
        </p:nvSpPr>
        <p:spPr>
          <a:xfrm>
            <a:off x="777240" y="2057400"/>
            <a:ext cx="3291840" cy="109728"/>
          </a:xfrm>
          <a:prstGeom prst="rect">
            <a:avLst/>
          </a:prstGeom>
          <a:solidFill>
            <a:srgbClr val="9AA6AA"/>
          </a:solidFill>
          <a:ln w="12700">
            <a:solidFill>
              <a:srgbClr val="9AA6AA"/>
            </a:solidFill>
            <a:prstDash val="solid"/>
          </a:ln>
        </p:spPr>
      </p:sp>
      <p:sp>
        <p:nvSpPr>
          <p:cNvPr id="7" name="Shape 5"/>
          <p:cNvSpPr/>
          <p:nvPr/>
        </p:nvSpPr>
        <p:spPr>
          <a:xfrm>
            <a:off x="777240" y="2240280"/>
            <a:ext cx="868680" cy="960120"/>
          </a:xfrm>
          <a:prstGeom prst="roundRect">
            <a:avLst>
              <a:gd name="adj" fmla="val 8421"/>
            </a:avLst>
          </a:prstGeom>
          <a:solidFill>
            <a:srgbClr val="FFFFFF"/>
          </a:solidFill>
          <a:ln w="12700">
            <a:solidFill>
              <a:srgbClr val="0F2730"/>
            </a:solidFill>
            <a:prstDash val="solid"/>
          </a:ln>
        </p:spPr>
      </p:sp>
      <p:sp>
        <p:nvSpPr>
          <p:cNvPr id="8" name="Text 6"/>
          <p:cNvSpPr txBox="1"/>
          <p:nvPr/>
        </p:nvSpPr>
        <p:spPr>
          <a:xfrm>
            <a:off x="822960" y="2240280"/>
            <a:ext cx="777240" cy="960120"/>
          </a:xfrm>
          <a:prstGeom prst="rect">
            <a:avLst/>
          </a:prstGeom>
          <a:noFill/>
          <a:ln/>
        </p:spPr>
        <p:txBody>
          <a:bodyPr wrap="square" lIns="0" tIns="0" rIns="0" bIns="0" rtlCol="0" anchor="ctr"/>
          <a:lstStyle/>
          <a:p>
            <a:pPr algn="ctr" indent="0" marL="0">
              <a:buNone/>
            </a:pPr>
            <a:r>
              <a:rPr lang="en-US" sz="1100" dirty="0">
                <a:solidFill>
                  <a:srgbClr val="0F2730"/>
                </a:solidFill>
                <a:latin typeface="Calibri" pitchFamily="34" charset="0"/>
                <a:ea typeface="Calibri" pitchFamily="34" charset="-122"/>
                <a:cs typeface="Calibri" pitchFamily="34" charset="-120"/>
              </a:rPr>
              <a:t>24 V PSU</a:t>
            </a:r>
            <a:endParaRPr lang="en-US" sz="1100" dirty="0"/>
          </a:p>
        </p:txBody>
      </p:sp>
      <p:sp>
        <p:nvSpPr>
          <p:cNvPr id="9" name="Shape 7"/>
          <p:cNvSpPr/>
          <p:nvPr/>
        </p:nvSpPr>
        <p:spPr>
          <a:xfrm>
            <a:off x="1737360" y="2240280"/>
            <a:ext cx="685800" cy="960120"/>
          </a:xfrm>
          <a:prstGeom prst="roundRect">
            <a:avLst>
              <a:gd name="adj" fmla="val 10667"/>
            </a:avLst>
          </a:prstGeom>
          <a:solidFill>
            <a:srgbClr val="FFFFFF"/>
          </a:solidFill>
          <a:ln w="12700">
            <a:solidFill>
              <a:srgbClr val="0F2730"/>
            </a:solidFill>
            <a:prstDash val="solid"/>
          </a:ln>
        </p:spPr>
      </p:sp>
      <p:sp>
        <p:nvSpPr>
          <p:cNvPr id="10" name="Text 8"/>
          <p:cNvSpPr txBox="1"/>
          <p:nvPr/>
        </p:nvSpPr>
        <p:spPr>
          <a:xfrm>
            <a:off x="1783080" y="2240280"/>
            <a:ext cx="594360" cy="960120"/>
          </a:xfrm>
          <a:prstGeom prst="rect">
            <a:avLst/>
          </a:prstGeom>
          <a:noFill/>
          <a:ln/>
        </p:spPr>
        <p:txBody>
          <a:bodyPr wrap="square" lIns="0" tIns="0" rIns="0" bIns="0" rtlCol="0" anchor="ctr"/>
          <a:lstStyle/>
          <a:p>
            <a:pPr algn="ctr" indent="0" marL="0">
              <a:buNone/>
            </a:pPr>
            <a:r>
              <a:rPr lang="en-US" sz="1100" dirty="0">
                <a:solidFill>
                  <a:srgbClr val="0F2730"/>
                </a:solidFill>
                <a:latin typeface="Calibri" pitchFamily="34" charset="0"/>
                <a:ea typeface="Calibri" pitchFamily="34" charset="-122"/>
                <a:cs typeface="Calibri" pitchFamily="34" charset="-120"/>
              </a:rPr>
              <a:t>5 V buck</a:t>
            </a:r>
            <a:endParaRPr lang="en-US" sz="1100" dirty="0"/>
          </a:p>
        </p:txBody>
      </p:sp>
      <p:sp>
        <p:nvSpPr>
          <p:cNvPr id="11" name="Shape 9"/>
          <p:cNvSpPr/>
          <p:nvPr/>
        </p:nvSpPr>
        <p:spPr>
          <a:xfrm>
            <a:off x="2514600" y="2240280"/>
            <a:ext cx="1554480" cy="960120"/>
          </a:xfrm>
          <a:prstGeom prst="roundRect">
            <a:avLst>
              <a:gd name="adj" fmla="val 7619"/>
            </a:avLst>
          </a:prstGeom>
          <a:solidFill>
            <a:srgbClr val="FFFFFF"/>
          </a:solidFill>
          <a:ln w="12700">
            <a:solidFill>
              <a:srgbClr val="0F2730"/>
            </a:solidFill>
            <a:prstDash val="solid"/>
          </a:ln>
        </p:spPr>
      </p:sp>
      <p:sp>
        <p:nvSpPr>
          <p:cNvPr id="12" name="Text 10"/>
          <p:cNvSpPr txBox="1"/>
          <p:nvPr/>
        </p:nvSpPr>
        <p:spPr>
          <a:xfrm>
            <a:off x="2560320" y="2240280"/>
            <a:ext cx="1463040" cy="960120"/>
          </a:xfrm>
          <a:prstGeom prst="rect">
            <a:avLst/>
          </a:prstGeom>
          <a:noFill/>
          <a:ln/>
        </p:spPr>
        <p:txBody>
          <a:bodyPr wrap="square" lIns="0" tIns="0" rIns="0" bIns="0" rtlCol="0" anchor="ctr"/>
          <a:lstStyle/>
          <a:p>
            <a:pPr algn="ctr" indent="0" marL="0">
              <a:buNone/>
            </a:pPr>
            <a:r>
              <a:rPr lang="en-US" sz="1100" dirty="0">
                <a:solidFill>
                  <a:srgbClr val="0F2730"/>
                </a:solidFill>
                <a:latin typeface="Calibri" pitchFamily="34" charset="0"/>
                <a:ea typeface="Calibri" pitchFamily="34" charset="-122"/>
                <a:cs typeface="Calibri" pitchFamily="34" charset="-120"/>
              </a:rPr>
              <a:t>ESP32-S3 + ADS1115 carrier</a:t>
            </a:r>
            <a:endParaRPr lang="en-US" sz="1100" dirty="0"/>
          </a:p>
        </p:txBody>
      </p:sp>
      <p:sp>
        <p:nvSpPr>
          <p:cNvPr id="13" name="Shape 11"/>
          <p:cNvSpPr/>
          <p:nvPr/>
        </p:nvSpPr>
        <p:spPr>
          <a:xfrm>
            <a:off x="2514600" y="3291840"/>
            <a:ext cx="822960" cy="457200"/>
          </a:xfrm>
          <a:prstGeom prst="roundRect">
            <a:avLst>
              <a:gd name="adj" fmla="val 16000"/>
            </a:avLst>
          </a:prstGeom>
          <a:solidFill>
            <a:srgbClr val="FFFFFF"/>
          </a:solidFill>
          <a:ln w="12700">
            <a:solidFill>
              <a:srgbClr val="0F2730"/>
            </a:solidFill>
            <a:prstDash val="solid"/>
          </a:ln>
        </p:spPr>
      </p:sp>
      <p:sp>
        <p:nvSpPr>
          <p:cNvPr id="14" name="Text 12"/>
          <p:cNvSpPr txBox="1"/>
          <p:nvPr/>
        </p:nvSpPr>
        <p:spPr>
          <a:xfrm>
            <a:off x="2514600" y="3291840"/>
            <a:ext cx="822960" cy="457200"/>
          </a:xfrm>
          <a:prstGeom prst="rect">
            <a:avLst/>
          </a:prstGeom>
          <a:noFill/>
          <a:ln/>
        </p:spPr>
        <p:txBody>
          <a:bodyPr wrap="square" lIns="0" tIns="0" rIns="0" bIns="0" rtlCol="0" anchor="ctr"/>
          <a:lstStyle/>
          <a:p>
            <a:pPr algn="ctr" indent="0" marL="0">
              <a:buNone/>
            </a:pPr>
            <a:r>
              <a:rPr lang="en-US" sz="1000" dirty="0">
                <a:solidFill>
                  <a:srgbClr val="0F2730"/>
                </a:solidFill>
                <a:latin typeface="Calibri" pitchFamily="34" charset="0"/>
                <a:ea typeface="Calibri" pitchFamily="34" charset="-122"/>
                <a:cs typeface="Calibri" pitchFamily="34" charset="-120"/>
              </a:rPr>
              <a:t>microSD</a:t>
            </a:r>
            <a:endParaRPr lang="en-US" sz="1000" dirty="0"/>
          </a:p>
        </p:txBody>
      </p:sp>
      <p:sp>
        <p:nvSpPr>
          <p:cNvPr id="15" name="Shape 13"/>
          <p:cNvSpPr/>
          <p:nvPr/>
        </p:nvSpPr>
        <p:spPr>
          <a:xfrm>
            <a:off x="960120" y="4041648"/>
            <a:ext cx="292608" cy="292608"/>
          </a:xfrm>
          <a:prstGeom prst="ellipse">
            <a:avLst/>
          </a:prstGeom>
          <a:solidFill>
            <a:srgbClr val="0F2730"/>
          </a:solidFill>
          <a:ln w="12700">
            <a:solidFill>
              <a:srgbClr val="0F2730"/>
            </a:solidFill>
            <a:prstDash val="solid"/>
          </a:ln>
        </p:spPr>
      </p:sp>
      <p:sp>
        <p:nvSpPr>
          <p:cNvPr id="16" name="Shape 14"/>
          <p:cNvSpPr/>
          <p:nvPr/>
        </p:nvSpPr>
        <p:spPr>
          <a:xfrm>
            <a:off x="1463040" y="4041648"/>
            <a:ext cx="292608" cy="292608"/>
          </a:xfrm>
          <a:prstGeom prst="ellipse">
            <a:avLst/>
          </a:prstGeom>
          <a:solidFill>
            <a:srgbClr val="0F2730"/>
          </a:solidFill>
          <a:ln w="12700">
            <a:solidFill>
              <a:srgbClr val="0F2730"/>
            </a:solidFill>
            <a:prstDash val="solid"/>
          </a:ln>
        </p:spPr>
      </p:sp>
      <p:sp>
        <p:nvSpPr>
          <p:cNvPr id="17" name="Shape 15"/>
          <p:cNvSpPr/>
          <p:nvPr/>
        </p:nvSpPr>
        <p:spPr>
          <a:xfrm>
            <a:off x="1965960" y="4041648"/>
            <a:ext cx="292608" cy="292608"/>
          </a:xfrm>
          <a:prstGeom prst="ellipse">
            <a:avLst/>
          </a:prstGeom>
          <a:solidFill>
            <a:srgbClr val="0F2730"/>
          </a:solidFill>
          <a:ln w="12700">
            <a:solidFill>
              <a:srgbClr val="0F2730"/>
            </a:solidFill>
            <a:prstDash val="solid"/>
          </a:ln>
        </p:spPr>
      </p:sp>
      <p:sp>
        <p:nvSpPr>
          <p:cNvPr id="18" name="Text 16"/>
          <p:cNvSpPr txBox="1"/>
          <p:nvPr/>
        </p:nvSpPr>
        <p:spPr>
          <a:xfrm>
            <a:off x="2331720" y="4005072"/>
            <a:ext cx="1920240" cy="365760"/>
          </a:xfrm>
          <a:prstGeom prst="rect">
            <a:avLst/>
          </a:prstGeom>
          <a:noFill/>
          <a:ln/>
        </p:spPr>
        <p:txBody>
          <a:bodyPr wrap="square" lIns="0" tIns="0" rIns="0" bIns="0" rtlCol="0" anchor="t"/>
          <a:lstStyle/>
          <a:p>
            <a:pPr indent="0" marL="0">
              <a:buNone/>
            </a:pPr>
            <a:r>
              <a:rPr lang="en-US" sz="1000" dirty="0">
                <a:solidFill>
                  <a:srgbClr val="5A6A6F"/>
                </a:solidFill>
                <a:latin typeface="Calibri" pitchFamily="34" charset="0"/>
                <a:ea typeface="Calibri" pitchFamily="34" charset="-122"/>
                <a:cs typeface="Calibri" pitchFamily="34" charset="-120"/>
              </a:rPr>
              <a:t>PG7 glands: CT, transmitter, contact</a:t>
            </a:r>
            <a:endParaRPr lang="en-US" sz="1000" dirty="0"/>
          </a:p>
        </p:txBody>
      </p:sp>
      <p:sp>
        <p:nvSpPr>
          <p:cNvPr id="19" name="Shape 17"/>
          <p:cNvSpPr/>
          <p:nvPr/>
        </p:nvSpPr>
        <p:spPr>
          <a:xfrm>
            <a:off x="548640" y="4526280"/>
            <a:ext cx="3749040" cy="1645920"/>
          </a:xfrm>
          <a:prstGeom prst="roundRect">
            <a:avLst>
              <a:gd name="adj" fmla="val 4444"/>
            </a:avLst>
          </a:prstGeom>
          <a:solidFill>
            <a:srgbClr val="F2F4F5"/>
          </a:solidFill>
          <a:ln w="19050">
            <a:solidFill>
              <a:srgbClr val="0F2730"/>
            </a:solidFill>
            <a:prstDash val="solid"/>
          </a:ln>
        </p:spPr>
      </p:sp>
      <p:sp>
        <p:nvSpPr>
          <p:cNvPr id="20" name="Text 18"/>
          <p:cNvSpPr txBox="1"/>
          <p:nvPr/>
        </p:nvSpPr>
        <p:spPr>
          <a:xfrm>
            <a:off x="685800" y="4590288"/>
            <a:ext cx="3474720" cy="274320"/>
          </a:xfrm>
          <a:prstGeom prst="rect">
            <a:avLst/>
          </a:prstGeom>
          <a:noFill/>
          <a:ln/>
        </p:spPr>
        <p:txBody>
          <a:bodyPr wrap="square" lIns="0" tIns="0" rIns="0" bIns="0" rtlCol="0" anchor="t"/>
          <a:lstStyle/>
          <a:p>
            <a:pPr indent="0" marL="0">
              <a:buNone/>
            </a:pPr>
            <a:r>
              <a:rPr lang="en-US" sz="1100" b="1" dirty="0">
                <a:solidFill>
                  <a:srgbClr val="5A6A6F"/>
                </a:solidFill>
                <a:latin typeface="Calibri" pitchFamily="34" charset="0"/>
                <a:ea typeface="Calibri" pitchFamily="34" charset="-122"/>
                <a:cs typeface="Calibri" pitchFamily="34" charset="-120"/>
              </a:rPr>
              <a:t>Pressure tap (concept)</a:t>
            </a:r>
            <a:endParaRPr lang="en-US" sz="1100" dirty="0"/>
          </a:p>
        </p:txBody>
      </p:sp>
      <p:sp>
        <p:nvSpPr>
          <p:cNvPr id="21" name="Shape 19"/>
          <p:cNvSpPr/>
          <p:nvPr/>
        </p:nvSpPr>
        <p:spPr>
          <a:xfrm>
            <a:off x="731520" y="5120640"/>
            <a:ext cx="749808" cy="685800"/>
          </a:xfrm>
          <a:prstGeom prst="roundRect">
            <a:avLst>
              <a:gd name="adj" fmla="val 10667"/>
            </a:avLst>
          </a:prstGeom>
          <a:solidFill>
            <a:srgbClr val="7FC4EA"/>
          </a:solidFill>
          <a:ln w="12700">
            <a:solidFill>
              <a:srgbClr val="7FC4EA"/>
            </a:solidFill>
            <a:prstDash val="solid"/>
          </a:ln>
        </p:spPr>
      </p:sp>
      <p:sp>
        <p:nvSpPr>
          <p:cNvPr id="22" name="Text 20"/>
          <p:cNvSpPr txBox="1"/>
          <p:nvPr/>
        </p:nvSpPr>
        <p:spPr>
          <a:xfrm>
            <a:off x="731520" y="5120640"/>
            <a:ext cx="749808" cy="685800"/>
          </a:xfrm>
          <a:prstGeom prst="rect">
            <a:avLst/>
          </a:prstGeom>
          <a:noFill/>
          <a:ln/>
        </p:spPr>
        <p:txBody>
          <a:bodyPr wrap="square" lIns="0" tIns="0" rIns="0" bIns="0" rtlCol="0" anchor="ctr"/>
          <a:lstStyle/>
          <a:p>
            <a:pPr algn="ctr" indent="0" marL="0">
              <a:buNone/>
            </a:pPr>
            <a:r>
              <a:rPr lang="en-US" sz="1000" b="1" dirty="0">
                <a:solidFill>
                  <a:srgbClr val="0F2730"/>
                </a:solidFill>
                <a:latin typeface="Calibri" pitchFamily="34" charset="0"/>
                <a:ea typeface="Calibri" pitchFamily="34" charset="-122"/>
                <a:cs typeface="Calibri" pitchFamily="34" charset="-120"/>
              </a:rPr>
              <a:t>Gauge port</a:t>
            </a:r>
            <a:endParaRPr lang="en-US" sz="1000" dirty="0"/>
          </a:p>
        </p:txBody>
      </p:sp>
      <p:sp>
        <p:nvSpPr>
          <p:cNvPr id="23" name="Shape 21"/>
          <p:cNvSpPr/>
          <p:nvPr/>
        </p:nvSpPr>
        <p:spPr>
          <a:xfrm>
            <a:off x="1627632" y="5120640"/>
            <a:ext cx="749808" cy="685800"/>
          </a:xfrm>
          <a:prstGeom prst="roundRect">
            <a:avLst>
              <a:gd name="adj" fmla="val 10667"/>
            </a:avLst>
          </a:prstGeom>
          <a:solidFill>
            <a:srgbClr val="7FC4EA"/>
          </a:solidFill>
          <a:ln w="12700">
            <a:solidFill>
              <a:srgbClr val="7FC4EA"/>
            </a:solidFill>
            <a:prstDash val="solid"/>
          </a:ln>
        </p:spPr>
      </p:sp>
      <p:sp>
        <p:nvSpPr>
          <p:cNvPr id="24" name="Text 22"/>
          <p:cNvSpPr txBox="1"/>
          <p:nvPr/>
        </p:nvSpPr>
        <p:spPr>
          <a:xfrm>
            <a:off x="1627632" y="5120640"/>
            <a:ext cx="749808" cy="685800"/>
          </a:xfrm>
          <a:prstGeom prst="rect">
            <a:avLst/>
          </a:prstGeom>
          <a:noFill/>
          <a:ln/>
        </p:spPr>
        <p:txBody>
          <a:bodyPr wrap="square" lIns="0" tIns="0" rIns="0" bIns="0" rtlCol="0" anchor="ctr"/>
          <a:lstStyle/>
          <a:p>
            <a:pPr algn="ctr" indent="0" marL="0">
              <a:buNone/>
            </a:pPr>
            <a:r>
              <a:rPr lang="en-US" sz="1000" b="1" dirty="0">
                <a:solidFill>
                  <a:srgbClr val="0F2730"/>
                </a:solidFill>
                <a:latin typeface="Calibri" pitchFamily="34" charset="0"/>
                <a:ea typeface="Calibri" pitchFamily="34" charset="-122"/>
                <a:cs typeface="Calibri" pitchFamily="34" charset="-120"/>
              </a:rPr>
              <a:t>G¼ tee</a:t>
            </a:r>
            <a:endParaRPr lang="en-US" sz="1000" dirty="0"/>
          </a:p>
        </p:txBody>
      </p:sp>
      <p:sp>
        <p:nvSpPr>
          <p:cNvPr id="25" name="Shape 23"/>
          <p:cNvSpPr/>
          <p:nvPr/>
        </p:nvSpPr>
        <p:spPr>
          <a:xfrm>
            <a:off x="2523744" y="5120640"/>
            <a:ext cx="749808" cy="685800"/>
          </a:xfrm>
          <a:prstGeom prst="roundRect">
            <a:avLst>
              <a:gd name="adj" fmla="val 10667"/>
            </a:avLst>
          </a:prstGeom>
          <a:solidFill>
            <a:srgbClr val="1C6A96"/>
          </a:solidFill>
          <a:ln w="12700">
            <a:solidFill>
              <a:srgbClr val="1C6A96"/>
            </a:solidFill>
            <a:prstDash val="solid"/>
          </a:ln>
        </p:spPr>
      </p:sp>
      <p:sp>
        <p:nvSpPr>
          <p:cNvPr id="26" name="Text 24"/>
          <p:cNvSpPr txBox="1"/>
          <p:nvPr/>
        </p:nvSpPr>
        <p:spPr>
          <a:xfrm>
            <a:off x="2523744" y="5120640"/>
            <a:ext cx="749808"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Ball valve</a:t>
            </a:r>
            <a:endParaRPr lang="en-US" sz="1000" dirty="0"/>
          </a:p>
        </p:txBody>
      </p:sp>
      <p:sp>
        <p:nvSpPr>
          <p:cNvPr id="27" name="Shape 25"/>
          <p:cNvSpPr/>
          <p:nvPr/>
        </p:nvSpPr>
        <p:spPr>
          <a:xfrm>
            <a:off x="3419856" y="5120640"/>
            <a:ext cx="749808" cy="685800"/>
          </a:xfrm>
          <a:prstGeom prst="roundRect">
            <a:avLst>
              <a:gd name="adj" fmla="val 10667"/>
            </a:avLst>
          </a:prstGeom>
          <a:solidFill>
            <a:srgbClr val="0F2730"/>
          </a:solidFill>
          <a:ln w="12700">
            <a:solidFill>
              <a:srgbClr val="0F2730"/>
            </a:solidFill>
            <a:prstDash val="solid"/>
          </a:ln>
        </p:spPr>
      </p:sp>
      <p:sp>
        <p:nvSpPr>
          <p:cNvPr id="28" name="Text 26"/>
          <p:cNvSpPr txBox="1"/>
          <p:nvPr/>
        </p:nvSpPr>
        <p:spPr>
          <a:xfrm>
            <a:off x="3419856" y="5120640"/>
            <a:ext cx="749808"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Transmitter</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0" y="1325880"/>
          <a:ext cx="7040880" cy="914400"/>
        </p:xfrm>
        <a:graphic>
          <a:graphicData uri="http://schemas.openxmlformats.org/drawingml/2006/table">
            <a:tbl>
              <a:tblPr/>
              <a:tblGrid>
                <a:gridCol w="1463040"/>
                <a:gridCol w="2286000"/>
                <a:gridCol w="32918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Options weighed</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Choice and reason</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r>
              <a:tr h="50292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Enclosure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Aluminium · ABS · PC/ABS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PC/ABS IP65: non-conductive near mains, light, ≈ ₹700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50292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Pressure fittings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Push-fit nylon · brass · SS304</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Brass G¼ rated ≥ 16 bar: over 2× the 7.4 bar band, relief-protected</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50292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Mounting</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Magnet · screws · DIN rail</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Steel DIN rail on the panel wall: away from compressor vibration</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bl>
          </a:graphicData>
        </a:graphic>
      </p:graphicFrame>
      <p:sp>
        <p:nvSpPr>
          <p:cNvPr id="30" name="Shape 27"/>
          <p:cNvSpPr/>
          <p:nvPr/>
        </p:nvSpPr>
        <p:spPr>
          <a:xfrm>
            <a:off x="4572000" y="3520440"/>
            <a:ext cx="7040880" cy="1143000"/>
          </a:xfrm>
          <a:prstGeom prst="roundRect">
            <a:avLst>
              <a:gd name="adj" fmla="val 6400"/>
            </a:avLst>
          </a:prstGeom>
          <a:solidFill>
            <a:srgbClr val="E8F3FA"/>
          </a:solidFill>
          <a:ln w="12700">
            <a:solidFill>
              <a:srgbClr val="E8F3FA"/>
            </a:solidFill>
            <a:prstDash val="solid"/>
          </a:ln>
        </p:spPr>
      </p:sp>
      <p:sp>
        <p:nvSpPr>
          <p:cNvPr id="31" name="Text 28"/>
          <p:cNvSpPr txBox="1"/>
          <p:nvPr/>
        </p:nvSpPr>
        <p:spPr>
          <a:xfrm>
            <a:off x="4754880" y="3520440"/>
            <a:ext cx="6675120" cy="1143000"/>
          </a:xfrm>
          <a:prstGeom prst="rect">
            <a:avLst/>
          </a:prstGeom>
          <a:noFill/>
          <a:ln/>
        </p:spPr>
        <p:txBody>
          <a:bodyPr wrap="square" lIns="0" tIns="0" rIns="0" bIns="0" rtlCol="0" anchor="ctr"/>
          <a:lstStyle/>
          <a:p>
            <a:pPr indent="0" marL="0">
              <a:buNone/>
            </a:pPr>
            <a:r>
              <a:rPr lang="en-US" sz="1300" b="1" dirty="0">
                <a:solidFill>
                  <a:srgbClr val="1C6A96"/>
                </a:solidFill>
                <a:latin typeface="Calibri" pitchFamily="34" charset="0"/>
                <a:ea typeface="Calibri" pitchFamily="34" charset="-122"/>
                <a:cs typeface="Calibri" pitchFamily="34" charset="-120"/>
              </a:rPr>
              <a:t>Stress analysis: </a:t>
            </a:r>
            <a:pPr indent="0" marL="0">
              <a:buNone/>
            </a:pPr>
            <a:r>
              <a:rPr lang="en-US" sz="1300" dirty="0">
                <a:solidFill>
                  <a:srgbClr val="0F2730"/>
                </a:solidFill>
                <a:latin typeface="Calibri" pitchFamily="34" charset="0"/>
                <a:ea typeface="Calibri" pitchFamily="34" charset="-122"/>
                <a:cs typeface="Calibri" pitchFamily="34" charset="-120"/>
              </a:rPr>
              <a:t>no load-bearing structure at Stage 2. The only pressure-retaining parts are off-the-shelf fittings rated above twice the working pressure. Stage 3 adds a vibration check of the bracket next to the compressor.</a:t>
            </a:r>
            <a:endParaRPr lang="en-US" sz="1300" dirty="0"/>
          </a:p>
        </p:txBody>
      </p:sp>
      <p:sp>
        <p:nvSpPr>
          <p:cNvPr id="32" name="Shape 29"/>
          <p:cNvSpPr/>
          <p:nvPr/>
        </p:nvSpPr>
        <p:spPr>
          <a:xfrm>
            <a:off x="4572000" y="4846320"/>
            <a:ext cx="7040880" cy="1325880"/>
          </a:xfrm>
          <a:prstGeom prst="roundRect">
            <a:avLst>
              <a:gd name="adj" fmla="val 5517"/>
            </a:avLst>
          </a:prstGeom>
          <a:solidFill>
            <a:srgbClr val="FDF1D8"/>
          </a:solidFill>
          <a:ln w="19050">
            <a:solidFill>
              <a:srgbClr val="F2A516"/>
            </a:solidFill>
            <a:prstDash val="dash"/>
          </a:ln>
        </p:spPr>
      </p:sp>
      <p:sp>
        <p:nvSpPr>
          <p:cNvPr id="33" name="Text 30"/>
          <p:cNvSpPr txBox="1"/>
          <p:nvPr/>
        </p:nvSpPr>
        <p:spPr>
          <a:xfrm>
            <a:off x="4709160" y="4846320"/>
            <a:ext cx="6766560" cy="1325880"/>
          </a:xfrm>
          <a:prstGeom prst="rect">
            <a:avLst/>
          </a:prstGeom>
          <a:noFill/>
          <a:ln/>
        </p:spPr>
        <p:txBody>
          <a:bodyPr wrap="square" lIns="0" tIns="0" rIns="0" bIns="0" rtlCol="0" anchor="ctr"/>
          <a:lstStyle/>
          <a:p>
            <a:pPr algn="ctr" indent="0" marL="0">
              <a:buNone/>
            </a:pPr>
            <a:r>
              <a:rPr lang="en-US" sz="1300" b="1" dirty="0">
                <a:solidFill>
                  <a:srgbClr val="8F5600"/>
                </a:solidFill>
                <a:latin typeface="Calibri" pitchFamily="34" charset="0"/>
                <a:ea typeface="Calibri" pitchFamily="34" charset="-122"/>
                <a:cs typeface="Calibri" pitchFamily="34" charset="-120"/>
              </a:rPr>
              <a:t>ADD: screenshot of the team's enclosure CAD model (isometric + exploded view, feature tree visible)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Electronics connections and bill of materials</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Electronics &amp; BOM</a:t>
            </a:r>
            <a:endParaRPr lang="en-US" sz="1000" dirty="0"/>
          </a:p>
        </p:txBody>
      </p:sp>
      <p:sp>
        <p:nvSpPr>
          <p:cNvPr id="4" name="Text 2"/>
          <p:cNvSpPr txBox="1"/>
          <p:nvPr/>
        </p:nvSpPr>
        <p:spPr>
          <a:xfrm>
            <a:off x="548640" y="1280160"/>
            <a:ext cx="5120640" cy="320040"/>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Connection diagram (wiring plan)</a:t>
            </a:r>
            <a:endParaRPr lang="en-US" sz="1600" dirty="0"/>
          </a:p>
        </p:txBody>
      </p:sp>
      <p:sp>
        <p:nvSpPr>
          <p:cNvPr id="5" name="Shape 3"/>
          <p:cNvSpPr/>
          <p:nvPr/>
        </p:nvSpPr>
        <p:spPr>
          <a:xfrm>
            <a:off x="548640" y="1783080"/>
            <a:ext cx="2331720" cy="777240"/>
          </a:xfrm>
          <a:prstGeom prst="roundRect">
            <a:avLst>
              <a:gd name="adj" fmla="val 9412"/>
            </a:avLst>
          </a:prstGeom>
          <a:solidFill>
            <a:srgbClr val="E8F3FA"/>
          </a:solidFill>
          <a:ln w="12700">
            <a:solidFill>
              <a:srgbClr val="D9DEE0"/>
            </a:solidFill>
            <a:prstDash val="solid"/>
          </a:ln>
        </p:spPr>
      </p:sp>
      <p:sp>
        <p:nvSpPr>
          <p:cNvPr id="6" name="Text 4"/>
          <p:cNvSpPr txBox="1"/>
          <p:nvPr/>
        </p:nvSpPr>
        <p:spPr>
          <a:xfrm>
            <a:off x="640080" y="178308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Pressure transmitter</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4–20 mA, 24 V loop</a:t>
            </a:r>
            <a:endParaRPr lang="en-US" sz="1150" dirty="0"/>
          </a:p>
        </p:txBody>
      </p:sp>
      <p:sp>
        <p:nvSpPr>
          <p:cNvPr id="7" name="Shape 5"/>
          <p:cNvSpPr/>
          <p:nvPr/>
        </p:nvSpPr>
        <p:spPr>
          <a:xfrm>
            <a:off x="3154680" y="1783080"/>
            <a:ext cx="2331720" cy="777240"/>
          </a:xfrm>
          <a:prstGeom prst="roundRect">
            <a:avLst>
              <a:gd name="adj" fmla="val 9412"/>
            </a:avLst>
          </a:prstGeom>
          <a:solidFill>
            <a:srgbClr val="F2F4F5"/>
          </a:solidFill>
          <a:ln w="12700">
            <a:solidFill>
              <a:srgbClr val="D9DEE0"/>
            </a:solidFill>
            <a:prstDash val="solid"/>
          </a:ln>
        </p:spPr>
      </p:sp>
      <p:sp>
        <p:nvSpPr>
          <p:cNvPr id="8" name="Text 6"/>
          <p:cNvSpPr txBox="1"/>
          <p:nvPr/>
        </p:nvSpPr>
        <p:spPr>
          <a:xfrm>
            <a:off x="3246120" y="178308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165 Ω shunt</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0.66–3.30 V</a:t>
            </a:r>
            <a:endParaRPr lang="en-US" sz="1150" dirty="0"/>
          </a:p>
        </p:txBody>
      </p:sp>
      <p:sp>
        <p:nvSpPr>
          <p:cNvPr id="9" name="Shape 7"/>
          <p:cNvSpPr/>
          <p:nvPr/>
        </p:nvSpPr>
        <p:spPr>
          <a:xfrm>
            <a:off x="548640" y="2788920"/>
            <a:ext cx="2331720" cy="777240"/>
          </a:xfrm>
          <a:prstGeom prst="roundRect">
            <a:avLst>
              <a:gd name="adj" fmla="val 9412"/>
            </a:avLst>
          </a:prstGeom>
          <a:solidFill>
            <a:srgbClr val="E8F3FA"/>
          </a:solidFill>
          <a:ln w="12700">
            <a:solidFill>
              <a:srgbClr val="D9DEE0"/>
            </a:solidFill>
            <a:prstDash val="solid"/>
          </a:ln>
        </p:spPr>
      </p:sp>
      <p:sp>
        <p:nvSpPr>
          <p:cNvPr id="10" name="Text 8"/>
          <p:cNvSpPr txBox="1"/>
          <p:nvPr/>
        </p:nvSpPr>
        <p:spPr>
          <a:xfrm>
            <a:off x="640080" y="278892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CT SCT-013-030</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30 A : 1 V</a:t>
            </a:r>
            <a:endParaRPr lang="en-US" sz="1150" dirty="0"/>
          </a:p>
        </p:txBody>
      </p:sp>
      <p:sp>
        <p:nvSpPr>
          <p:cNvPr id="11" name="Shape 9"/>
          <p:cNvSpPr/>
          <p:nvPr/>
        </p:nvSpPr>
        <p:spPr>
          <a:xfrm>
            <a:off x="548640" y="3794760"/>
            <a:ext cx="2331720" cy="777240"/>
          </a:xfrm>
          <a:prstGeom prst="roundRect">
            <a:avLst>
              <a:gd name="adj" fmla="val 9412"/>
            </a:avLst>
          </a:prstGeom>
          <a:solidFill>
            <a:srgbClr val="E8F3FA"/>
          </a:solidFill>
          <a:ln w="12700">
            <a:solidFill>
              <a:srgbClr val="D9DEE0"/>
            </a:solidFill>
            <a:prstDash val="solid"/>
          </a:ln>
        </p:spPr>
      </p:sp>
      <p:sp>
        <p:nvSpPr>
          <p:cNvPr id="12" name="Text 10"/>
          <p:cNvSpPr txBox="1"/>
          <p:nvPr/>
        </p:nvSpPr>
        <p:spPr>
          <a:xfrm>
            <a:off x="640080" y="379476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Machine-on contact</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dry, to GND</a:t>
            </a:r>
            <a:endParaRPr lang="en-US" sz="1150" dirty="0"/>
          </a:p>
        </p:txBody>
      </p:sp>
      <p:sp>
        <p:nvSpPr>
          <p:cNvPr id="13" name="Shape 11"/>
          <p:cNvSpPr/>
          <p:nvPr/>
        </p:nvSpPr>
        <p:spPr>
          <a:xfrm>
            <a:off x="3154680" y="2788920"/>
            <a:ext cx="2331720" cy="777240"/>
          </a:xfrm>
          <a:prstGeom prst="roundRect">
            <a:avLst>
              <a:gd name="adj" fmla="val 9412"/>
            </a:avLst>
          </a:prstGeom>
          <a:solidFill>
            <a:srgbClr val="F2F4F5"/>
          </a:solidFill>
          <a:ln w="12700">
            <a:solidFill>
              <a:srgbClr val="D9DEE0"/>
            </a:solidFill>
            <a:prstDash val="solid"/>
          </a:ln>
        </p:spPr>
      </p:sp>
      <p:sp>
        <p:nvSpPr>
          <p:cNvPr id="14" name="Text 12"/>
          <p:cNvSpPr txBox="1"/>
          <p:nvPr/>
        </p:nvSpPr>
        <p:spPr>
          <a:xfrm>
            <a:off x="3246120" y="278892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ADS1115</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A0 · A1–A3 diff.</a:t>
            </a:r>
            <a:endParaRPr lang="en-US" sz="1150" dirty="0"/>
          </a:p>
        </p:txBody>
      </p:sp>
      <p:sp>
        <p:nvSpPr>
          <p:cNvPr id="15" name="Shape 13"/>
          <p:cNvSpPr/>
          <p:nvPr/>
        </p:nvSpPr>
        <p:spPr>
          <a:xfrm>
            <a:off x="3154680" y="3794760"/>
            <a:ext cx="2331720" cy="1097280"/>
          </a:xfrm>
          <a:prstGeom prst="roundRect">
            <a:avLst>
              <a:gd name="adj" fmla="val 6667"/>
            </a:avLst>
          </a:prstGeom>
          <a:solidFill>
            <a:srgbClr val="DCEBF5"/>
          </a:solidFill>
          <a:ln w="12700">
            <a:solidFill>
              <a:srgbClr val="D9DEE0"/>
            </a:solidFill>
            <a:prstDash val="solid"/>
          </a:ln>
        </p:spPr>
      </p:sp>
      <p:sp>
        <p:nvSpPr>
          <p:cNvPr id="16" name="Text 14"/>
          <p:cNvSpPr txBox="1"/>
          <p:nvPr/>
        </p:nvSpPr>
        <p:spPr>
          <a:xfrm>
            <a:off x="3246120" y="3794760"/>
            <a:ext cx="2148840" cy="109728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ESP32-S3</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GPIO8 SDA · GPIO9 SCL</a:t>
            </a:r>
            <a:endParaRPr lang="en-US" sz="1150" dirty="0"/>
          </a:p>
          <a:p>
            <a:pPr algn="ctr" indent="0" marL="0">
              <a:buNone/>
            </a:pPr>
            <a:r>
              <a:rPr lang="en-US" sz="1150" dirty="0">
                <a:solidFill>
                  <a:srgbClr val="0F2730"/>
                </a:solidFill>
                <a:latin typeface="Calibri" pitchFamily="34" charset="0"/>
                <a:ea typeface="Calibri" pitchFamily="34" charset="-122"/>
                <a:cs typeface="Calibri" pitchFamily="34" charset="-120"/>
              </a:rPr>
              <a:t>GPIO7 contact · GPIO10 SD CS</a:t>
            </a:r>
            <a:endParaRPr lang="en-US" sz="1150" dirty="0"/>
          </a:p>
        </p:txBody>
      </p:sp>
      <p:sp>
        <p:nvSpPr>
          <p:cNvPr id="17" name="Shape 15"/>
          <p:cNvSpPr/>
          <p:nvPr/>
        </p:nvSpPr>
        <p:spPr>
          <a:xfrm>
            <a:off x="548640" y="4846320"/>
            <a:ext cx="2331720" cy="777240"/>
          </a:xfrm>
          <a:prstGeom prst="roundRect">
            <a:avLst>
              <a:gd name="adj" fmla="val 9412"/>
            </a:avLst>
          </a:prstGeom>
          <a:solidFill>
            <a:srgbClr val="F2F4F5"/>
          </a:solidFill>
          <a:ln w="12700">
            <a:solidFill>
              <a:srgbClr val="D9DEE0"/>
            </a:solidFill>
            <a:prstDash val="solid"/>
          </a:ln>
        </p:spPr>
      </p:sp>
      <p:sp>
        <p:nvSpPr>
          <p:cNvPr id="18" name="Text 16"/>
          <p:cNvSpPr txBox="1"/>
          <p:nvPr/>
        </p:nvSpPr>
        <p:spPr>
          <a:xfrm>
            <a:off x="640080" y="484632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24 V PSU → 5 V buck</a:t>
            </a:r>
            <a:endParaRPr lang="en-US" sz="1150" dirty="0"/>
          </a:p>
        </p:txBody>
      </p:sp>
      <p:sp>
        <p:nvSpPr>
          <p:cNvPr id="19" name="Shape 17"/>
          <p:cNvSpPr/>
          <p:nvPr/>
        </p:nvSpPr>
        <p:spPr>
          <a:xfrm>
            <a:off x="3154680" y="5074920"/>
            <a:ext cx="2331720" cy="777240"/>
          </a:xfrm>
          <a:prstGeom prst="roundRect">
            <a:avLst>
              <a:gd name="adj" fmla="val 9412"/>
            </a:avLst>
          </a:prstGeom>
          <a:solidFill>
            <a:srgbClr val="F2F4F5"/>
          </a:solidFill>
          <a:ln w="12700">
            <a:solidFill>
              <a:srgbClr val="D9DEE0"/>
            </a:solidFill>
            <a:prstDash val="solid"/>
          </a:ln>
        </p:spPr>
      </p:sp>
      <p:sp>
        <p:nvSpPr>
          <p:cNvPr id="20" name="Text 18"/>
          <p:cNvSpPr txBox="1"/>
          <p:nvPr/>
        </p:nvSpPr>
        <p:spPr>
          <a:xfrm>
            <a:off x="3246120" y="5074920"/>
            <a:ext cx="2148840" cy="777240"/>
          </a:xfrm>
          <a:prstGeom prst="rect">
            <a:avLst/>
          </a:prstGeom>
          <a:noFill/>
          <a:ln/>
        </p:spPr>
        <p:txBody>
          <a:bodyPr wrap="square" lIns="0" tIns="0" rIns="0" bIns="0" rtlCol="0" anchor="ctr"/>
          <a:lstStyle/>
          <a:p>
            <a:pPr algn="ctr" indent="0" marL="0">
              <a:buNone/>
            </a:pPr>
            <a:r>
              <a:rPr lang="en-US" sz="1150" dirty="0">
                <a:solidFill>
                  <a:srgbClr val="0F2730"/>
                </a:solidFill>
                <a:latin typeface="Calibri" pitchFamily="34" charset="0"/>
                <a:ea typeface="Calibri" pitchFamily="34" charset="-122"/>
                <a:cs typeface="Calibri" pitchFamily="34" charset="-120"/>
              </a:rPr>
              <a:t>microSD (SPI)</a:t>
            </a:r>
            <a:endParaRPr lang="en-US" sz="1150" dirty="0"/>
          </a:p>
        </p:txBody>
      </p:sp>
      <p:sp>
        <p:nvSpPr>
          <p:cNvPr id="21" name="Shape 19"/>
          <p:cNvSpPr/>
          <p:nvPr/>
        </p:nvSpPr>
        <p:spPr>
          <a:xfrm>
            <a:off x="2880360" y="2020824"/>
            <a:ext cx="256032" cy="292608"/>
          </a:xfrm>
          <a:prstGeom prst="rightArrow">
            <a:avLst/>
          </a:prstGeom>
          <a:solidFill>
            <a:srgbClr val="1C6A96"/>
          </a:solidFill>
          <a:ln w="12700">
            <a:solidFill>
              <a:srgbClr val="1C6A96"/>
            </a:solidFill>
            <a:prstDash val="solid"/>
          </a:ln>
        </p:spPr>
      </p:sp>
      <p:sp>
        <p:nvSpPr>
          <p:cNvPr id="22" name="Shape 20"/>
          <p:cNvSpPr/>
          <p:nvPr/>
        </p:nvSpPr>
        <p:spPr>
          <a:xfrm>
            <a:off x="2880360" y="3026664"/>
            <a:ext cx="256032" cy="292608"/>
          </a:xfrm>
          <a:prstGeom prst="rightArrow">
            <a:avLst/>
          </a:prstGeom>
          <a:solidFill>
            <a:srgbClr val="1C6A96"/>
          </a:solidFill>
          <a:ln w="12700">
            <a:solidFill>
              <a:srgbClr val="1C6A96"/>
            </a:solidFill>
            <a:prstDash val="solid"/>
          </a:ln>
        </p:spPr>
      </p:sp>
      <p:sp>
        <p:nvSpPr>
          <p:cNvPr id="23" name="Shape 21"/>
          <p:cNvSpPr/>
          <p:nvPr/>
        </p:nvSpPr>
        <p:spPr>
          <a:xfrm>
            <a:off x="4315968" y="2560320"/>
            <a:ext cx="0" cy="228600"/>
          </a:xfrm>
          <a:prstGeom prst="line">
            <a:avLst/>
          </a:prstGeom>
          <a:noFill/>
          <a:ln w="25400">
            <a:solidFill>
              <a:srgbClr val="1C6A96"/>
            </a:solidFill>
            <a:prstDash val="solid"/>
            <a:tailEnd type="triangle"/>
          </a:ln>
        </p:spPr>
      </p:sp>
      <p:sp>
        <p:nvSpPr>
          <p:cNvPr id="24" name="Shape 22"/>
          <p:cNvSpPr/>
          <p:nvPr/>
        </p:nvSpPr>
        <p:spPr>
          <a:xfrm>
            <a:off x="4315968" y="3566160"/>
            <a:ext cx="0" cy="228600"/>
          </a:xfrm>
          <a:prstGeom prst="line">
            <a:avLst/>
          </a:prstGeom>
          <a:noFill/>
          <a:ln w="25400">
            <a:solidFill>
              <a:srgbClr val="1C6A96"/>
            </a:solidFill>
            <a:prstDash val="solid"/>
            <a:tailEnd type="triangle"/>
          </a:ln>
        </p:spPr>
      </p:sp>
      <p:sp>
        <p:nvSpPr>
          <p:cNvPr id="25" name="Shape 23"/>
          <p:cNvSpPr/>
          <p:nvPr/>
        </p:nvSpPr>
        <p:spPr>
          <a:xfrm>
            <a:off x="2880360" y="4041648"/>
            <a:ext cx="256032" cy="292608"/>
          </a:xfrm>
          <a:prstGeom prst="rightArrow">
            <a:avLst/>
          </a:prstGeom>
          <a:solidFill>
            <a:srgbClr val="1C6A96"/>
          </a:solidFill>
          <a:ln w="12700">
            <a:solidFill>
              <a:srgbClr val="1C6A96"/>
            </a:solidFill>
            <a:prstDash val="solid"/>
          </a:ln>
        </p:spPr>
      </p:sp>
      <p:sp>
        <p:nvSpPr>
          <p:cNvPr id="26" name="Shape 24"/>
          <p:cNvSpPr/>
          <p:nvPr/>
        </p:nvSpPr>
        <p:spPr>
          <a:xfrm>
            <a:off x="4315968" y="4892040"/>
            <a:ext cx="0" cy="182880"/>
          </a:xfrm>
          <a:prstGeom prst="line">
            <a:avLst/>
          </a:prstGeom>
          <a:noFill/>
          <a:ln w="25400">
            <a:solidFill>
              <a:srgbClr val="1C6A96"/>
            </a:solidFill>
            <a:prstDash val="solid"/>
            <a:headEnd type="triangle"/>
          </a:ln>
        </p:spPr>
      </p:sp>
      <p:sp>
        <p:nvSpPr>
          <p:cNvPr id="27" name="Shape 25"/>
          <p:cNvSpPr/>
          <p:nvPr/>
        </p:nvSpPr>
        <p:spPr>
          <a:xfrm>
            <a:off x="2880360" y="5084064"/>
            <a:ext cx="256032" cy="292608"/>
          </a:xfrm>
          <a:prstGeom prst="rightArrow">
            <a:avLst/>
          </a:prstGeom>
          <a:solidFill>
            <a:srgbClr val="5A6A6F"/>
          </a:solidFill>
          <a:ln w="12700">
            <a:solidFill>
              <a:srgbClr val="5A6A6F"/>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35040" y="1280160"/>
          <a:ext cx="5577840" cy="914400"/>
        </p:xfrm>
        <a:graphic>
          <a:graphicData uri="http://schemas.openxmlformats.org/drawingml/2006/table">
            <a:tbl>
              <a:tblPr/>
              <a:tblGrid>
                <a:gridCol w="3840480"/>
                <a:gridCol w="640080"/>
                <a:gridCol w="10972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Qty</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ESP32-S3 DevKitC</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800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ADS1115 16-bit ADC module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350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4–20 mA transmitter 0–16 bar</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1,800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SCT-013-030 split-core CT</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450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165 Ω 0.1 % shunt, TVS, fuses</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150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24 V DIN PSU + 5 V buck</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1,100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microSD module + 16 GB card</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400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IP65 box, glands, DIN rail</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700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G¼ brass tee + ball valve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dirty="0">
                          <a:solidFill>
                            <a:srgbClr val="0F2730"/>
                          </a:solidFill>
                          <a:latin typeface="Calibri" pitchFamily="34" charset="0"/>
                          <a:ea typeface="Calibri" pitchFamily="34" charset="-122"/>
                          <a:cs typeface="Calibri" pitchFamily="34" charset="-120"/>
                        </a:rPr>
                        <a:t>350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365760">
                <a:tc>
                  <a:txBody>
                    <a:bodyPr/>
                    <a:lstStyle/>
                    <a:p>
                      <a:pPr indent="0" marL="0">
                        <a:buNone/>
                      </a:pPr>
                      <a:r>
                        <a:rPr lang="en-US" sz="1200" b="1" dirty="0">
                          <a:solidFill>
                            <a:srgbClr val="0F2730"/>
                          </a:solidFill>
                          <a:latin typeface="Calibri" pitchFamily="34" charset="0"/>
                          <a:ea typeface="Calibri" pitchFamily="34" charset="-122"/>
                          <a:cs typeface="Calibri" pitchFamily="34" charset="-120"/>
                        </a:rPr>
                        <a:t>Total (indicative)</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200" b="1" dirty="0">
                          <a:solidFill>
                            <a:srgbClr val="0F2730"/>
                          </a:solidFill>
                          <a:latin typeface="Calibri" pitchFamily="34" charset="0"/>
                          <a:ea typeface="Calibri" pitchFamily="34" charset="-122"/>
                          <a:cs typeface="Calibri" pitchFamily="34" charset="-120"/>
                        </a:rPr>
                        <a:t>6,100</a:t>
                      </a:r>
                      <a:endParaRPr lang="en-US" sz="12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bl>
          </a:graphicData>
        </a:graphic>
      </p:graphicFrame>
      <p:sp>
        <p:nvSpPr>
          <p:cNvPr id="29" name="Text 26"/>
          <p:cNvSpPr txBox="1"/>
          <p:nvPr/>
        </p:nvSpPr>
        <p:spPr>
          <a:xfrm>
            <a:off x="6035040" y="5532120"/>
            <a:ext cx="5577840" cy="685800"/>
          </a:xfrm>
          <a:prstGeom prst="rect">
            <a:avLst/>
          </a:prstGeom>
          <a:noFill/>
          <a:ln/>
        </p:spPr>
        <p:txBody>
          <a:bodyPr wrap="square" lIns="0" tIns="0" rIns="0" bIns="0" rtlCol="0" anchor="t"/>
          <a:lstStyle/>
          <a:p>
            <a:pPr indent="0" marL="0">
              <a:buNone/>
            </a:pPr>
            <a:r>
              <a:rPr lang="en-US" sz="1200" i="1" dirty="0">
                <a:solidFill>
                  <a:srgbClr val="5A6A6F"/>
                </a:solidFill>
                <a:latin typeface="Calibri" pitchFamily="34" charset="0"/>
                <a:ea typeface="Calibri" pitchFamily="34" charset="-122"/>
                <a:cs typeface="Calibri" pitchFamily="34" charset="-120"/>
              </a:rPr>
              <a:t>Sourcing: every part is sold by Indian online electronics and pneumatics distributors; prices and lead times to be confirmed with vendor quotes before ordering.</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Maker journey: working software, built and tested by the team</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Maker journey</a:t>
            </a:r>
            <a:endParaRPr lang="en-US" sz="1000" dirty="0"/>
          </a:p>
        </p:txBody>
      </p:sp>
      <p:pic>
        <p:nvPicPr>
          <p:cNvPr id="4" name="Image 0" descr="Screenshot: gateway screen">    </p:cNvPr>
          <p:cNvPicPr>
            <a:picLocks noChangeAspect="1"/>
          </p:cNvPicPr>
          <p:nvPr/>
        </p:nvPicPr>
        <p:blipFill>
          <a:blip r:embed="rId1"/>
          <a:stretch>
            <a:fillRect/>
          </a:stretch>
        </p:blipFill>
        <p:spPr>
          <a:xfrm>
            <a:off x="548640" y="1280160"/>
            <a:ext cx="3840480" cy="2400300"/>
          </a:xfrm>
          <a:prstGeom prst="rect">
            <a:avLst/>
          </a:prstGeom>
        </p:spPr>
      </p:pic>
      <p:sp>
        <p:nvSpPr>
          <p:cNvPr id="5" name="Shape 2"/>
          <p:cNvSpPr/>
          <p:nvPr/>
        </p:nvSpPr>
        <p:spPr>
          <a:xfrm>
            <a:off x="548640" y="1280160"/>
            <a:ext cx="3840480" cy="2400300"/>
          </a:xfrm>
          <a:prstGeom prst="rect">
            <a:avLst/>
          </a:prstGeom>
          <a:ln w="9525">
            <a:solidFill>
              <a:srgbClr val="D9DEE0"/>
            </a:solidFill>
            <a:prstDash val="solid"/>
          </a:ln>
        </p:spPr>
      </p:sp>
      <p:pic>
        <p:nvPicPr>
          <p:cNvPr id="6" name="Image 1" descr="Screenshot: leaks screen">    </p:cNvPr>
          <p:cNvPicPr>
            <a:picLocks noChangeAspect="1"/>
          </p:cNvPicPr>
          <p:nvPr/>
        </p:nvPicPr>
        <p:blipFill>
          <a:blip r:embed="rId2"/>
          <a:stretch>
            <a:fillRect/>
          </a:stretch>
        </p:blipFill>
        <p:spPr>
          <a:xfrm>
            <a:off x="4526280" y="1280160"/>
            <a:ext cx="3840480" cy="2400300"/>
          </a:xfrm>
          <a:prstGeom prst="rect">
            <a:avLst/>
          </a:prstGeom>
        </p:spPr>
      </p:pic>
      <p:sp>
        <p:nvSpPr>
          <p:cNvPr id="7" name="Shape 3"/>
          <p:cNvSpPr/>
          <p:nvPr/>
        </p:nvSpPr>
        <p:spPr>
          <a:xfrm>
            <a:off x="4526280" y="1280160"/>
            <a:ext cx="3840480" cy="2400300"/>
          </a:xfrm>
          <a:prstGeom prst="rect">
            <a:avLst/>
          </a:prstGeom>
          <a:ln w="9525">
            <a:solidFill>
              <a:srgbClr val="D9DEE0"/>
            </a:solidFill>
            <a:prstDash val="solid"/>
          </a:ln>
        </p:spPr>
      </p:sp>
      <p:sp>
        <p:nvSpPr>
          <p:cNvPr id="8" name="Text 4"/>
          <p:cNvSpPr txBox="1"/>
          <p:nvPr/>
        </p:nvSpPr>
        <p:spPr>
          <a:xfrm>
            <a:off x="548640" y="3730752"/>
            <a:ext cx="3840480" cy="502920"/>
          </a:xfrm>
          <a:prstGeom prst="rect">
            <a:avLst/>
          </a:prstGeom>
          <a:noFill/>
          <a:ln/>
        </p:spPr>
        <p:txBody>
          <a:bodyPr wrap="square" lIns="0" tIns="0" rIns="0" bIns="0" rtlCol="0" anchor="t"/>
          <a:lstStyle/>
          <a:p>
            <a:pPr indent="0" marL="0">
              <a:buNone/>
            </a:pPr>
            <a:r>
              <a:rPr lang="en-US" sz="1100" dirty="0">
                <a:solidFill>
                  <a:srgbClr val="5A6A6F"/>
                </a:solidFill>
                <a:latin typeface="Calibri" pitchFamily="34" charset="0"/>
                <a:ea typeface="Calibri" pitchFamily="34" charset="-122"/>
                <a:cs typeface="Calibri" pitchFamily="34" charset="-120"/>
              </a:rPr>
              <a:t>Live gateway: virtual edge node streaming real firmware frames, one impossible spike rejected</a:t>
            </a:r>
            <a:endParaRPr lang="en-US" sz="1100" dirty="0"/>
          </a:p>
        </p:txBody>
      </p:sp>
      <p:sp>
        <p:nvSpPr>
          <p:cNvPr id="9" name="Text 5"/>
          <p:cNvSpPr txBox="1"/>
          <p:nvPr/>
        </p:nvSpPr>
        <p:spPr>
          <a:xfrm>
            <a:off x="4526280" y="3730752"/>
            <a:ext cx="3840480" cy="502920"/>
          </a:xfrm>
          <a:prstGeom prst="rect">
            <a:avLst/>
          </a:prstGeom>
          <a:noFill/>
          <a:ln/>
        </p:spPr>
        <p:txBody>
          <a:bodyPr wrap="square" lIns="0" tIns="0" rIns="0" bIns="0" rtlCol="0" anchor="t"/>
          <a:lstStyle/>
          <a:p>
            <a:pPr indent="0" marL="0">
              <a:buNone/>
            </a:pPr>
            <a:r>
              <a:rPr lang="en-US" sz="1100" dirty="0">
                <a:solidFill>
                  <a:srgbClr val="5A6A6F"/>
                </a:solidFill>
                <a:latin typeface="Calibri" pitchFamily="34" charset="0"/>
                <a:ea typeface="Calibri" pitchFamily="34" charset="-122"/>
                <a:cs typeface="Calibri" pitchFamily="34" charset="-120"/>
              </a:rPr>
              <a:t>Leak Hunter: guided valve survey finds Bay 2 carries 58% of the leakage</a:t>
            </a:r>
            <a:endParaRPr lang="en-US" sz="1100" dirty="0"/>
          </a:p>
        </p:txBody>
      </p:sp>
      <p:sp>
        <p:nvSpPr>
          <p:cNvPr id="10" name="Shape 6"/>
          <p:cNvSpPr/>
          <p:nvPr/>
        </p:nvSpPr>
        <p:spPr>
          <a:xfrm>
            <a:off x="8549640" y="1280160"/>
            <a:ext cx="3063240" cy="1417320"/>
          </a:xfrm>
          <a:prstGeom prst="roundRect">
            <a:avLst>
              <a:gd name="adj" fmla="val 5161"/>
            </a:avLst>
          </a:prstGeom>
          <a:solidFill>
            <a:srgbClr val="FDF1D8"/>
          </a:solidFill>
          <a:ln w="19050">
            <a:solidFill>
              <a:srgbClr val="F2A516"/>
            </a:solidFill>
            <a:prstDash val="dash"/>
          </a:ln>
        </p:spPr>
      </p:sp>
      <p:sp>
        <p:nvSpPr>
          <p:cNvPr id="11" name="Text 7"/>
          <p:cNvSpPr txBox="1"/>
          <p:nvPr/>
        </p:nvSpPr>
        <p:spPr>
          <a:xfrm>
            <a:off x="8686800" y="1280160"/>
            <a:ext cx="2788920" cy="1417320"/>
          </a:xfrm>
          <a:prstGeom prst="rect">
            <a:avLst/>
          </a:prstGeom>
          <a:noFill/>
          <a:ln/>
        </p:spPr>
        <p:txBody>
          <a:bodyPr wrap="square" lIns="0" tIns="0" rIns="0" bIns="0" rtlCol="0" anchor="ctr"/>
          <a:lstStyle/>
          <a:p>
            <a:pPr algn="ctr" indent="0" marL="0">
              <a:buNone/>
            </a:pPr>
            <a:r>
              <a:rPr lang="en-US" sz="1300" b="1" dirty="0">
                <a:solidFill>
                  <a:srgbClr val="8F5600"/>
                </a:solidFill>
                <a:latin typeface="Calibri" pitchFamily="34" charset="0"/>
                <a:ea typeface="Calibri" pitchFamily="34" charset="-122"/>
                <a:cs typeface="Calibri" pitchFamily="34" charset="-120"/>
              </a:rPr>
              <a:t>ADD: lab photo of team members with ID badges</a:t>
            </a:r>
            <a:endParaRPr lang="en-US" sz="1300" dirty="0"/>
          </a:p>
        </p:txBody>
      </p:sp>
      <p:sp>
        <p:nvSpPr>
          <p:cNvPr id="12" name="Shape 8"/>
          <p:cNvSpPr/>
          <p:nvPr/>
        </p:nvSpPr>
        <p:spPr>
          <a:xfrm>
            <a:off x="8549640" y="2834640"/>
            <a:ext cx="3063240" cy="1417320"/>
          </a:xfrm>
          <a:prstGeom prst="roundRect">
            <a:avLst>
              <a:gd name="adj" fmla="val 5161"/>
            </a:avLst>
          </a:prstGeom>
          <a:solidFill>
            <a:srgbClr val="FDF1D8"/>
          </a:solidFill>
          <a:ln w="19050">
            <a:solidFill>
              <a:srgbClr val="F2A516"/>
            </a:solidFill>
            <a:prstDash val="dash"/>
          </a:ln>
        </p:spPr>
      </p:sp>
      <p:sp>
        <p:nvSpPr>
          <p:cNvPr id="13" name="Text 9"/>
          <p:cNvSpPr txBox="1"/>
          <p:nvPr/>
        </p:nvSpPr>
        <p:spPr>
          <a:xfrm>
            <a:off x="8686800" y="2834640"/>
            <a:ext cx="2788920" cy="1417320"/>
          </a:xfrm>
          <a:prstGeom prst="rect">
            <a:avLst/>
          </a:prstGeom>
          <a:noFill/>
          <a:ln/>
        </p:spPr>
        <p:txBody>
          <a:bodyPr wrap="square" lIns="0" tIns="0" rIns="0" bIns="0" rtlCol="0" anchor="ctr"/>
          <a:lstStyle/>
          <a:p>
            <a:pPr algn="ctr" indent="0" marL="0">
              <a:buNone/>
            </a:pPr>
            <a:r>
              <a:rPr lang="en-US" sz="1300" b="1" dirty="0">
                <a:solidFill>
                  <a:srgbClr val="8F5600"/>
                </a:solidFill>
                <a:latin typeface="Calibri" pitchFamily="34" charset="0"/>
                <a:ea typeface="Calibri" pitchFamily="34" charset="-122"/>
                <a:cs typeface="Calibri" pitchFamily="34" charset="-120"/>
              </a:rPr>
              <a:t>ADD: joint review photo with faculty mentor</a:t>
            </a:r>
            <a:endParaRPr lang="en-US" sz="1300" dirty="0"/>
          </a:p>
        </p:txBody>
      </p:sp>
      <p:sp>
        <p:nvSpPr>
          <p:cNvPr id="14" name="Shape 10"/>
          <p:cNvSpPr/>
          <p:nvPr/>
        </p:nvSpPr>
        <p:spPr>
          <a:xfrm>
            <a:off x="548640" y="4389120"/>
            <a:ext cx="11064240" cy="1783080"/>
          </a:xfrm>
          <a:prstGeom prst="roundRect">
            <a:avLst>
              <a:gd name="adj" fmla="val 4103"/>
            </a:avLst>
          </a:prstGeom>
          <a:solidFill>
            <a:srgbClr val="F2F4F5"/>
          </a:solidFill>
          <a:ln w="12700">
            <a:solidFill>
              <a:srgbClr val="F2F4F5"/>
            </a:solidFill>
            <a:prstDash val="solid"/>
          </a:ln>
        </p:spPr>
      </p:sp>
      <p:sp>
        <p:nvSpPr>
          <p:cNvPr id="15" name="Text 11"/>
          <p:cNvSpPr txBox="1"/>
          <p:nvPr/>
        </p:nvSpPr>
        <p:spPr>
          <a:xfrm>
            <a:off x="777240" y="4526280"/>
            <a:ext cx="10607040" cy="1554480"/>
          </a:xfrm>
          <a:prstGeom prst="rect">
            <a:avLst/>
          </a:prstGeom>
          <a:noFill/>
          <a:ln/>
        </p:spPr>
        <p:txBody>
          <a:bodyPr wrap="square" lIns="0" tIns="0" rIns="0" bIns="0" rtlCol="0" anchor="t"/>
          <a:lstStyle/>
          <a:p>
            <a:pPr indent="0" marL="0">
              <a:spcAft>
                <a:spcPts val="600"/>
              </a:spcAft>
              <a:buNone/>
            </a:pPr>
            <a:r>
              <a:rPr lang="en-US" sz="1400" b="1" dirty="0">
                <a:solidFill>
                  <a:srgbClr val="0F2730"/>
                </a:solidFill>
                <a:latin typeface="Calibri" pitchFamily="34" charset="0"/>
                <a:ea typeface="Calibri" pitchFamily="34" charset="-122"/>
                <a:cs typeface="Calibri" pitchFamily="34" charset="-120"/>
              </a:rPr>
              <a:t>Repository: </a:t>
            </a:r>
            <a:pPr indent="0" marL="0">
              <a:spcAft>
                <a:spcPts val="600"/>
              </a:spcAft>
              <a:buNone/>
            </a:pPr>
            <a:r>
              <a:rPr lang="en-US" sz="1400" dirty="0">
                <a:solidFill>
                  <a:srgbClr val="1C6A96"/>
                </a:solidFill>
                <a:latin typeface="Calibri" pitchFamily="34" charset="0"/>
                <a:ea typeface="Calibri" pitchFamily="34" charset="-122"/>
                <a:cs typeface="Calibri" pitchFamily="34" charset="-120"/>
              </a:rPr>
              <a:t>github.com/Suheerthan/FactoryAirTwin</a:t>
            </a:r>
            <a:endParaRPr lang="en-US" sz="1400" dirty="0"/>
          </a:p>
          <a:p>
            <a:pPr indent="0" marL="0">
              <a:spcAft>
                <a:spcPts val="600"/>
              </a:spcAft>
              <a:buNone/>
            </a:pPr>
            <a:r>
              <a:rPr lang="en-US" sz="1400" b="1" dirty="0">
                <a:solidFill>
                  <a:srgbClr val="0F2730"/>
                </a:solidFill>
                <a:latin typeface="Calibri" pitchFamily="34" charset="0"/>
                <a:ea typeface="Calibri" pitchFamily="34" charset="-122"/>
                <a:cs typeface="Calibri" pitchFamily="34" charset="-120"/>
              </a:rPr>
              <a:t>Native files: </a:t>
            </a:r>
            <a:pPr indent="0" marL="0">
              <a:spcAft>
                <a:spcPts val="600"/>
              </a:spcAft>
              <a:buNone/>
            </a:pPr>
            <a:r>
              <a:rPr lang="en-US" sz="1400" dirty="0">
                <a:solidFill>
                  <a:srgbClr val="0F2730"/>
                </a:solidFill>
                <a:latin typeface="Calibri" pitchFamily="34" charset="0"/>
                <a:ea typeface="Calibri" pitchFamily="34" charset="-122"/>
                <a:cs typeface="Calibri" pitchFamily="34" charset="-120"/>
              </a:rPr>
              <a:t>Python source, firmware/factoryair_edge/factoryair_edge.ino, firmware/README.md (wiring, BOM), test suite</a:t>
            </a:r>
            <a:endParaRPr lang="en-US" sz="1400" dirty="0"/>
          </a:p>
          <a:p>
            <a:pPr indent="0" marL="0">
              <a:spcAft>
                <a:spcPts val="600"/>
              </a:spcAft>
              <a:buNone/>
            </a:pPr>
            <a:r>
              <a:rPr lang="en-US" sz="1400" b="1" dirty="0">
                <a:solidFill>
                  <a:srgbClr val="0F2730"/>
                </a:solidFill>
                <a:latin typeface="Calibri" pitchFamily="34" charset="0"/>
                <a:ea typeface="Calibri" pitchFamily="34" charset="-122"/>
                <a:cs typeface="Calibri" pitchFamily="34" charset="-120"/>
              </a:rPr>
              <a:t>Evidence: </a:t>
            </a:r>
            <a:pPr indent="0" marL="0">
              <a:spcAft>
                <a:spcPts val="600"/>
              </a:spcAft>
              <a:buNone/>
            </a:pPr>
            <a:r>
              <a:rPr lang="en-US" sz="1400" dirty="0">
                <a:solidFill>
                  <a:srgbClr val="0F2730"/>
                </a:solidFill>
                <a:latin typeface="Calibri" pitchFamily="34" charset="0"/>
                <a:ea typeface="Calibri" pitchFamily="34" charset="-122"/>
                <a:cs typeface="Calibri" pitchFamily="34" charset="-120"/>
              </a:rPr>
              <a:t>124 automated tests pass · every number on these slides is reproduced by the code · commit timestamps show Stage 2 work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Stage 1 → Stage 2: what we learned and changed</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Maker journey</a:t>
            </a:r>
            <a:endParaRPr lang="en-US" sz="1000" dirty="0"/>
          </a:p>
        </p:txBody>
      </p:sp>
      <p:sp>
        <p:nvSpPr>
          <p:cNvPr id="4" name="Shape 2"/>
          <p:cNvSpPr/>
          <p:nvPr/>
        </p:nvSpPr>
        <p:spPr>
          <a:xfrm>
            <a:off x="548640" y="1371600"/>
            <a:ext cx="502920" cy="502920"/>
          </a:xfrm>
          <a:prstGeom prst="ellipse">
            <a:avLst/>
          </a:prstGeom>
          <a:solidFill>
            <a:srgbClr val="1C6A96"/>
          </a:solidFill>
          <a:ln w="12700">
            <a:solidFill>
              <a:srgbClr val="1C6A96"/>
            </a:solidFill>
            <a:prstDash val="solid"/>
          </a:ln>
        </p:spPr>
      </p:sp>
      <p:sp>
        <p:nvSpPr>
          <p:cNvPr id="5" name="Text 3"/>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1</a:t>
            </a:r>
            <a:endParaRPr lang="en-US" sz="1800" dirty="0"/>
          </a:p>
        </p:txBody>
      </p:sp>
      <p:sp>
        <p:nvSpPr>
          <p:cNvPr id="6" name="Text 4"/>
          <p:cNvSpPr txBox="1"/>
          <p:nvPr/>
        </p:nvSpPr>
        <p:spPr>
          <a:xfrm>
            <a:off x="1234440" y="1325880"/>
            <a:ext cx="4663440" cy="347472"/>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Real data humbled the AI</a:t>
            </a:r>
            <a:endParaRPr lang="en-US" sz="1600" dirty="0"/>
          </a:p>
        </p:txBody>
      </p:sp>
      <p:sp>
        <p:nvSpPr>
          <p:cNvPr id="7" name="Text 5"/>
          <p:cNvSpPr txBox="1"/>
          <p:nvPr/>
        </p:nvSpPr>
        <p:spPr>
          <a:xfrm>
            <a:off x="1234440" y="1691640"/>
            <a:ext cx="4663440" cy="77724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On 1.5 million real MetroPT-3 readings the synthetic anomaly threshold flagged 0 windows (AUC 0.58). So money figures now come from a physics test that learns each plant.</a:t>
            </a:r>
            <a:endParaRPr lang="en-US" sz="1300" dirty="0"/>
          </a:p>
        </p:txBody>
      </p:sp>
      <p:sp>
        <p:nvSpPr>
          <p:cNvPr id="8" name="Shape 6"/>
          <p:cNvSpPr/>
          <p:nvPr/>
        </p:nvSpPr>
        <p:spPr>
          <a:xfrm>
            <a:off x="548640" y="2578608"/>
            <a:ext cx="502920" cy="502920"/>
          </a:xfrm>
          <a:prstGeom prst="ellipse">
            <a:avLst/>
          </a:prstGeom>
          <a:solidFill>
            <a:srgbClr val="1C6A96"/>
          </a:solidFill>
          <a:ln w="12700">
            <a:solidFill>
              <a:srgbClr val="1C6A96"/>
            </a:solidFill>
            <a:prstDash val="solid"/>
          </a:ln>
        </p:spPr>
      </p:sp>
      <p:sp>
        <p:nvSpPr>
          <p:cNvPr id="9" name="Text 7"/>
          <p:cNvSpPr txBox="1"/>
          <p:nvPr/>
        </p:nvSpPr>
        <p:spPr>
          <a:xfrm>
            <a:off x="548640" y="25786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2</a:t>
            </a:r>
            <a:endParaRPr lang="en-US" sz="1800" dirty="0"/>
          </a:p>
        </p:txBody>
      </p:sp>
      <p:sp>
        <p:nvSpPr>
          <p:cNvPr id="10" name="Text 8"/>
          <p:cNvSpPr txBox="1"/>
          <p:nvPr/>
        </p:nvSpPr>
        <p:spPr>
          <a:xfrm>
            <a:off x="1234440" y="2532888"/>
            <a:ext cx="4663440" cy="347472"/>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30 minutes → 14 days</a:t>
            </a:r>
            <a:endParaRPr lang="en-US" sz="1600" dirty="0"/>
          </a:p>
        </p:txBody>
      </p:sp>
      <p:sp>
        <p:nvSpPr>
          <p:cNvPr id="11" name="Text 9"/>
          <p:cNvSpPr txBox="1"/>
          <p:nvPr/>
        </p:nvSpPr>
        <p:spPr>
          <a:xfrm>
            <a:off x="1234440" y="2898648"/>
            <a:ext cx="4663440" cy="77724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A two-week plant twin with shifts, nights and Sundays runs the leak test every night and caught the new leak the same night.</a:t>
            </a:r>
            <a:endParaRPr lang="en-US" sz="1300" dirty="0"/>
          </a:p>
        </p:txBody>
      </p:sp>
      <p:sp>
        <p:nvSpPr>
          <p:cNvPr id="12" name="Shape 10"/>
          <p:cNvSpPr/>
          <p:nvPr/>
        </p:nvSpPr>
        <p:spPr>
          <a:xfrm>
            <a:off x="548640" y="3785616"/>
            <a:ext cx="502920" cy="502920"/>
          </a:xfrm>
          <a:prstGeom prst="ellipse">
            <a:avLst/>
          </a:prstGeom>
          <a:solidFill>
            <a:srgbClr val="1C6A96"/>
          </a:solidFill>
          <a:ln w="12700">
            <a:solidFill>
              <a:srgbClr val="1C6A96"/>
            </a:solidFill>
            <a:prstDash val="solid"/>
          </a:ln>
        </p:spPr>
      </p:sp>
      <p:sp>
        <p:nvSpPr>
          <p:cNvPr id="13" name="Text 11"/>
          <p:cNvSpPr txBox="1"/>
          <p:nvPr/>
        </p:nvSpPr>
        <p:spPr>
          <a:xfrm>
            <a:off x="548640" y="37856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3</a:t>
            </a:r>
            <a:endParaRPr lang="en-US" sz="1800" dirty="0"/>
          </a:p>
        </p:txBody>
      </p:sp>
      <p:sp>
        <p:nvSpPr>
          <p:cNvPr id="14" name="Text 12"/>
          <p:cNvSpPr txBox="1"/>
          <p:nvPr/>
        </p:nvSpPr>
        <p:spPr>
          <a:xfrm>
            <a:off x="1234440" y="3739896"/>
            <a:ext cx="4663440" cy="347472"/>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"Where is it?"</a:t>
            </a:r>
            <a:endParaRPr lang="en-US" sz="1600" dirty="0"/>
          </a:p>
        </p:txBody>
      </p:sp>
      <p:sp>
        <p:nvSpPr>
          <p:cNvPr id="15" name="Text 13"/>
          <p:cNvSpPr txBox="1"/>
          <p:nvPr/>
        </p:nvSpPr>
        <p:spPr>
          <a:xfrm>
            <a:off x="1234440" y="4105656"/>
            <a:ext cx="4663440" cy="77724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Leak Hunter uses the plant's own branch valves to allocate leakage by zone, then verifies the repair with a repeat survey.</a:t>
            </a:r>
            <a:endParaRPr lang="en-US" sz="1300" dirty="0"/>
          </a:p>
        </p:txBody>
      </p:sp>
      <p:sp>
        <p:nvSpPr>
          <p:cNvPr id="16" name="Shape 14"/>
          <p:cNvSpPr/>
          <p:nvPr/>
        </p:nvSpPr>
        <p:spPr>
          <a:xfrm>
            <a:off x="548640" y="4992624"/>
            <a:ext cx="502920" cy="502920"/>
          </a:xfrm>
          <a:prstGeom prst="ellipse">
            <a:avLst/>
          </a:prstGeom>
          <a:solidFill>
            <a:srgbClr val="1C6A96"/>
          </a:solidFill>
          <a:ln w="12700">
            <a:solidFill>
              <a:srgbClr val="1C6A96"/>
            </a:solidFill>
            <a:prstDash val="solid"/>
          </a:ln>
        </p:spPr>
      </p:sp>
      <p:sp>
        <p:nvSpPr>
          <p:cNvPr id="17" name="Text 15"/>
          <p:cNvSpPr txBox="1"/>
          <p:nvPr/>
        </p:nvSpPr>
        <p:spPr>
          <a:xfrm>
            <a:off x="548640" y="4992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Bahnschrift" pitchFamily="34" charset="0"/>
                <a:ea typeface="Bahnschrift" pitchFamily="34" charset="-122"/>
                <a:cs typeface="Bahnschrift" pitchFamily="34" charset="-120"/>
              </a:rPr>
              <a:t>4</a:t>
            </a:r>
            <a:endParaRPr lang="en-US" sz="1800" dirty="0"/>
          </a:p>
        </p:txBody>
      </p:sp>
      <p:sp>
        <p:nvSpPr>
          <p:cNvPr id="18" name="Text 16"/>
          <p:cNvSpPr txBox="1"/>
          <p:nvPr/>
        </p:nvSpPr>
        <p:spPr>
          <a:xfrm>
            <a:off x="1234440" y="4946904"/>
            <a:ext cx="4663440" cy="347472"/>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No hardware budget</a:t>
            </a:r>
            <a:endParaRPr lang="en-US" sz="1600" dirty="0"/>
          </a:p>
        </p:txBody>
      </p:sp>
      <p:sp>
        <p:nvSpPr>
          <p:cNvPr id="19" name="Text 17"/>
          <p:cNvSpPr txBox="1"/>
          <p:nvPr/>
        </p:nvSpPr>
        <p:spPr>
          <a:xfrm>
            <a:off x="1234440" y="5312664"/>
            <a:ext cx="4663440" cy="77724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Virtual edge node, ESP32 firmware and CSV upload: the full pipeline runs today without the box.</a:t>
            </a:r>
            <a:endParaRPr lang="en-US" sz="1300" dirty="0"/>
          </a:p>
        </p:txBody>
      </p:sp>
      <p:graphicFrame>
        <p:nvGraphicFramePr>
          <p:cNvPr id="20" name="Chart 0" descr=""/>
          <p:cNvGraphicFramePr/>
          <p:nvPr/>
        </p:nvGraphicFramePr>
        <p:xfrm>
          <a:off x="6217920" y="1280160"/>
          <a:ext cx="5394960" cy="379476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6217920" y="5120640"/>
            <a:ext cx="5394960" cy="320040"/>
          </a:xfrm>
          <a:prstGeom prst="rect">
            <a:avLst/>
          </a:prstGeom>
          <a:noFill/>
          <a:ln/>
        </p:spPr>
        <p:txBody>
          <a:bodyPr wrap="square" lIns="0" tIns="0" rIns="0" bIns="0" rtlCol="0" anchor="t"/>
          <a:lstStyle/>
          <a:p>
            <a:pPr indent="0" marL="0">
              <a:buNone/>
            </a:pPr>
            <a:r>
              <a:rPr lang="en-US" sz="1200" dirty="0">
                <a:solidFill>
                  <a:srgbClr val="5A6A6F"/>
                </a:solidFill>
                <a:latin typeface="Calibri" pitchFamily="34" charset="0"/>
                <a:ea typeface="Calibri" pitchFamily="34" charset="-122"/>
                <a:cs typeface="Calibri" pitchFamily="34" charset="-120"/>
              </a:rPr>
              <a:t>Mean error 1.8% · storage volume 1.9% · all 30 within ±10% (simulated)</a:t>
            </a:r>
            <a:endParaRPr lang="en-US" sz="1200" dirty="0"/>
          </a:p>
        </p:txBody>
      </p:sp>
      <p:sp>
        <p:nvSpPr>
          <p:cNvPr id="22" name="Shape 19"/>
          <p:cNvSpPr/>
          <p:nvPr/>
        </p:nvSpPr>
        <p:spPr>
          <a:xfrm>
            <a:off x="6217920" y="5532120"/>
            <a:ext cx="5394960" cy="640080"/>
          </a:xfrm>
          <a:prstGeom prst="roundRect">
            <a:avLst>
              <a:gd name="adj" fmla="val 11429"/>
            </a:avLst>
          </a:prstGeom>
          <a:solidFill>
            <a:srgbClr val="FDF1D8"/>
          </a:solidFill>
          <a:ln w="19050">
            <a:solidFill>
              <a:srgbClr val="F2A516"/>
            </a:solidFill>
            <a:prstDash val="dash"/>
          </a:ln>
        </p:spPr>
      </p:sp>
      <p:sp>
        <p:nvSpPr>
          <p:cNvPr id="23" name="Text 20"/>
          <p:cNvSpPr txBox="1"/>
          <p:nvPr/>
        </p:nvSpPr>
        <p:spPr>
          <a:xfrm>
            <a:off x="6355080" y="5532120"/>
            <a:ext cx="5120640" cy="640080"/>
          </a:xfrm>
          <a:prstGeom prst="rect">
            <a:avLst/>
          </a:prstGeom>
          <a:noFill/>
          <a:ln/>
        </p:spPr>
        <p:txBody>
          <a:bodyPr wrap="square" lIns="0" tIns="0" rIns="0" bIns="0" rtlCol="0" anchor="ctr"/>
          <a:lstStyle/>
          <a:p>
            <a:pPr algn="ctr" indent="0" marL="0">
              <a:buNone/>
            </a:pPr>
            <a:r>
              <a:rPr lang="en-US" sz="1300" b="1" dirty="0">
                <a:solidFill>
                  <a:srgbClr val="8F5600"/>
                </a:solidFill>
                <a:latin typeface="Calibri" pitchFamily="34" charset="0"/>
                <a:ea typeface="Calibri" pitchFamily="34" charset="-122"/>
                <a:cs typeface="Calibri" pitchFamily="34" charset="-120"/>
              </a:rPr>
              <a:t>ADD: faculty sign-off line (name, department, college)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Safety by design: read-only, clip-on, fail-quiet</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Safety &amp; hazard mitigation</a:t>
            </a:r>
            <a:endParaRPr lang="en-US" sz="1000" dirty="0"/>
          </a:p>
        </p:txBody>
      </p:sp>
      <p:sp>
        <p:nvSpPr>
          <p:cNvPr id="4" name="Text 2"/>
          <p:cNvSpPr txBox="1"/>
          <p:nvPr/>
        </p:nvSpPr>
        <p:spPr>
          <a:xfrm>
            <a:off x="548640" y="1325880"/>
            <a:ext cx="3840480" cy="320040"/>
          </a:xfrm>
          <a:prstGeom prst="rect">
            <a:avLst/>
          </a:prstGeom>
          <a:noFill/>
          <a:ln/>
        </p:spPr>
        <p:txBody>
          <a:bodyPr wrap="square" lIns="0" tIns="0" rIns="0" bIns="0" rtlCol="0" anchor="t"/>
          <a:lstStyle/>
          <a:p>
            <a:pPr indent="0" marL="0">
              <a:buNone/>
            </a:pPr>
            <a:r>
              <a:rPr lang="en-US" sz="1500" b="1" dirty="0">
                <a:solidFill>
                  <a:srgbClr val="1C6A96"/>
                </a:solidFill>
                <a:latin typeface="Bahnschrift" pitchFamily="34" charset="0"/>
                <a:ea typeface="Bahnschrift" pitchFamily="34" charset="-122"/>
                <a:cs typeface="Bahnschrift" pitchFamily="34" charset="-120"/>
              </a:rPr>
              <a:t>No output stage</a:t>
            </a:r>
            <a:endParaRPr lang="en-US" sz="1500" dirty="0"/>
          </a:p>
        </p:txBody>
      </p:sp>
      <p:sp>
        <p:nvSpPr>
          <p:cNvPr id="5" name="Text 3"/>
          <p:cNvSpPr txBox="1"/>
          <p:nvPr/>
        </p:nvSpPr>
        <p:spPr>
          <a:xfrm>
            <a:off x="548640" y="1655064"/>
            <a:ext cx="3840480" cy="548640"/>
          </a:xfrm>
          <a:prstGeom prst="rect">
            <a:avLst/>
          </a:prstGeom>
          <a:noFill/>
          <a:ln/>
        </p:spPr>
        <p:txBody>
          <a:bodyPr wrap="square" lIns="0" tIns="0" rIns="0" bIns="0" rtlCol="0" anchor="t"/>
          <a:lstStyle/>
          <a:p>
            <a:pPr indent="0" marL="0">
              <a:buNone/>
            </a:pPr>
            <a:r>
              <a:rPr lang="en-US" sz="1250" dirty="0">
                <a:solidFill>
                  <a:srgbClr val="0F2730"/>
                </a:solidFill>
                <a:latin typeface="Calibri" pitchFamily="34" charset="0"/>
                <a:ea typeface="Calibri" pitchFamily="34" charset="-122"/>
                <a:cs typeface="Calibri" pitchFamily="34" charset="-120"/>
              </a:rPr>
              <a:t>The node has no relay or analogue output: it cannot start, stop or reload the compressor.</a:t>
            </a:r>
            <a:endParaRPr lang="en-US" sz="1250" dirty="0"/>
          </a:p>
        </p:txBody>
      </p:sp>
      <p:sp>
        <p:nvSpPr>
          <p:cNvPr id="6" name="Text 4"/>
          <p:cNvSpPr txBox="1"/>
          <p:nvPr/>
        </p:nvSpPr>
        <p:spPr>
          <a:xfrm>
            <a:off x="548640" y="2240280"/>
            <a:ext cx="3840480" cy="320040"/>
          </a:xfrm>
          <a:prstGeom prst="rect">
            <a:avLst/>
          </a:prstGeom>
          <a:noFill/>
          <a:ln/>
        </p:spPr>
        <p:txBody>
          <a:bodyPr wrap="square" lIns="0" tIns="0" rIns="0" bIns="0" rtlCol="0" anchor="t"/>
          <a:lstStyle/>
          <a:p>
            <a:pPr indent="0" marL="0">
              <a:buNone/>
            </a:pPr>
            <a:r>
              <a:rPr lang="en-US" sz="1500" b="1" dirty="0">
                <a:solidFill>
                  <a:srgbClr val="1C6A96"/>
                </a:solidFill>
                <a:latin typeface="Bahnschrift" pitchFamily="34" charset="0"/>
                <a:ea typeface="Bahnschrift" pitchFamily="34" charset="-122"/>
                <a:cs typeface="Bahnschrift" pitchFamily="34" charset="-120"/>
              </a:rPr>
              <a:t>Clip-on current sensing</a:t>
            </a:r>
            <a:endParaRPr lang="en-US" sz="1500" dirty="0"/>
          </a:p>
        </p:txBody>
      </p:sp>
      <p:sp>
        <p:nvSpPr>
          <p:cNvPr id="7" name="Text 5"/>
          <p:cNvSpPr txBox="1"/>
          <p:nvPr/>
        </p:nvSpPr>
        <p:spPr>
          <a:xfrm>
            <a:off x="548640" y="2569464"/>
            <a:ext cx="3840480" cy="548640"/>
          </a:xfrm>
          <a:prstGeom prst="rect">
            <a:avLst/>
          </a:prstGeom>
          <a:noFill/>
          <a:ln/>
        </p:spPr>
        <p:txBody>
          <a:bodyPr wrap="square" lIns="0" tIns="0" rIns="0" bIns="0" rtlCol="0" anchor="t"/>
          <a:lstStyle/>
          <a:p>
            <a:pPr indent="0" marL="0">
              <a:buNone/>
            </a:pPr>
            <a:r>
              <a:rPr lang="en-US" sz="1250" dirty="0">
                <a:solidFill>
                  <a:srgbClr val="0F2730"/>
                </a:solidFill>
                <a:latin typeface="Calibri" pitchFamily="34" charset="0"/>
                <a:ea typeface="Calibri" pitchFamily="34" charset="-122"/>
                <a:cs typeface="Calibri" pitchFamily="34" charset="-120"/>
              </a:rPr>
              <a:t>No mains conductor is opened; the CT's built-in burden avoids open-secondary voltage.</a:t>
            </a:r>
            <a:endParaRPr lang="en-US" sz="1250" dirty="0"/>
          </a:p>
        </p:txBody>
      </p:sp>
      <p:sp>
        <p:nvSpPr>
          <p:cNvPr id="8" name="Text 6"/>
          <p:cNvSpPr txBox="1"/>
          <p:nvPr/>
        </p:nvSpPr>
        <p:spPr>
          <a:xfrm>
            <a:off x="548640" y="3154680"/>
            <a:ext cx="3840480" cy="320040"/>
          </a:xfrm>
          <a:prstGeom prst="rect">
            <a:avLst/>
          </a:prstGeom>
          <a:noFill/>
          <a:ln/>
        </p:spPr>
        <p:txBody>
          <a:bodyPr wrap="square" lIns="0" tIns="0" rIns="0" bIns="0" rtlCol="0" anchor="t"/>
          <a:lstStyle/>
          <a:p>
            <a:pPr indent="0" marL="0">
              <a:buNone/>
            </a:pPr>
            <a:r>
              <a:rPr lang="en-US" sz="1500" b="1" dirty="0">
                <a:solidFill>
                  <a:srgbClr val="1C6A96"/>
                </a:solidFill>
                <a:latin typeface="Bahnschrift" pitchFamily="34" charset="0"/>
                <a:ea typeface="Bahnschrift" pitchFamily="34" charset="-122"/>
                <a:cs typeface="Bahnschrift" pitchFamily="34" charset="-120"/>
              </a:rPr>
              <a:t>Isolated pressure tap</a:t>
            </a:r>
            <a:endParaRPr lang="en-US" sz="1500" dirty="0"/>
          </a:p>
        </p:txBody>
      </p:sp>
      <p:sp>
        <p:nvSpPr>
          <p:cNvPr id="9" name="Text 7"/>
          <p:cNvSpPr txBox="1"/>
          <p:nvPr/>
        </p:nvSpPr>
        <p:spPr>
          <a:xfrm>
            <a:off x="548640" y="3483864"/>
            <a:ext cx="3840480" cy="548640"/>
          </a:xfrm>
          <a:prstGeom prst="rect">
            <a:avLst/>
          </a:prstGeom>
          <a:noFill/>
          <a:ln/>
        </p:spPr>
        <p:txBody>
          <a:bodyPr wrap="square" lIns="0" tIns="0" rIns="0" bIns="0" rtlCol="0" anchor="t"/>
          <a:lstStyle/>
          <a:p>
            <a:pPr indent="0" marL="0">
              <a:buNone/>
            </a:pPr>
            <a:r>
              <a:rPr lang="en-US" sz="1250" dirty="0">
                <a:solidFill>
                  <a:srgbClr val="0F2730"/>
                </a:solidFill>
                <a:latin typeface="Calibri" pitchFamily="34" charset="0"/>
                <a:ea typeface="Calibri" pitchFamily="34" charset="-122"/>
                <a:cs typeface="Calibri" pitchFamily="34" charset="-120"/>
              </a:rPr>
              <a:t>Transmitter sits behind a ball valve on a fitting rated above 2× working pressure.</a:t>
            </a:r>
            <a:endParaRPr lang="en-US" sz="1250" dirty="0"/>
          </a:p>
        </p:txBody>
      </p:sp>
      <p:sp>
        <p:nvSpPr>
          <p:cNvPr id="10" name="Text 8"/>
          <p:cNvSpPr txBox="1"/>
          <p:nvPr/>
        </p:nvSpPr>
        <p:spPr>
          <a:xfrm>
            <a:off x="548640" y="4069080"/>
            <a:ext cx="3840480" cy="320040"/>
          </a:xfrm>
          <a:prstGeom prst="rect">
            <a:avLst/>
          </a:prstGeom>
          <a:noFill/>
          <a:ln/>
        </p:spPr>
        <p:txBody>
          <a:bodyPr wrap="square" lIns="0" tIns="0" rIns="0" bIns="0" rtlCol="0" anchor="t"/>
          <a:lstStyle/>
          <a:p>
            <a:pPr indent="0" marL="0">
              <a:buNone/>
            </a:pPr>
            <a:r>
              <a:rPr lang="en-US" sz="1500" b="1" dirty="0">
                <a:solidFill>
                  <a:srgbClr val="1C6A96"/>
                </a:solidFill>
                <a:latin typeface="Bahnschrift" pitchFamily="34" charset="0"/>
                <a:ea typeface="Bahnschrift" pitchFamily="34" charset="-122"/>
                <a:cs typeface="Bahnschrift" pitchFamily="34" charset="-120"/>
              </a:rPr>
              <a:t>Fused, sealed supply</a:t>
            </a:r>
            <a:endParaRPr lang="en-US" sz="1500" dirty="0"/>
          </a:p>
        </p:txBody>
      </p:sp>
      <p:sp>
        <p:nvSpPr>
          <p:cNvPr id="11" name="Text 9"/>
          <p:cNvSpPr txBox="1"/>
          <p:nvPr/>
        </p:nvSpPr>
        <p:spPr>
          <a:xfrm>
            <a:off x="548640" y="4398264"/>
            <a:ext cx="3840480" cy="548640"/>
          </a:xfrm>
          <a:prstGeom prst="rect">
            <a:avLst/>
          </a:prstGeom>
          <a:noFill/>
          <a:ln/>
        </p:spPr>
        <p:txBody>
          <a:bodyPr wrap="square" lIns="0" tIns="0" rIns="0" bIns="0" rtlCol="0" anchor="t"/>
          <a:lstStyle/>
          <a:p>
            <a:pPr indent="0" marL="0">
              <a:buNone/>
            </a:pPr>
            <a:r>
              <a:rPr lang="en-US" sz="1250" dirty="0">
                <a:solidFill>
                  <a:srgbClr val="0F2730"/>
                </a:solidFill>
                <a:latin typeface="Calibri" pitchFamily="34" charset="0"/>
                <a:ea typeface="Calibri" pitchFamily="34" charset="-122"/>
                <a:cs typeface="Calibri" pitchFamily="34" charset="-120"/>
              </a:rPr>
              <a:t>Fused 24 V DIN supply inside an IP65 box with glands.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6949440" cy="914400"/>
        </p:xfrm>
        <a:graphic>
          <a:graphicData uri="http://schemas.openxmlformats.org/drawingml/2006/table">
            <a:tbl>
              <a:tblPr/>
              <a:tblGrid>
                <a:gridCol w="2011680"/>
                <a:gridCol w="1371600"/>
                <a:gridCol w="356616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Failure mode</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Hazard</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Built-in protection</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r>
              <a:tr h="475488">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Transmitter open loop / drift</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Wrong leak figure</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&lt; 3.6 mA frames dropped; stuck-signal and range checks before any scoring</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75488">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Wi-Fi dropout</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Lost data</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72 h SD spool; gaps flagged by sensor health</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75488">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Clock jumps / bad frame</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Corrupt history</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Ingest rejects non-increasing time and impossible values (tested)</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75488">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False leak alarm</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Wasted labour</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Two independent estimators must agree; low-confidence nights are graded down</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75488">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Wrong nameplate FAD</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Biased ₹</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Shown openly; Stage 3 pump-up test calibrates FAD once</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475488">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Unauthorised change</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Bad settings</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150" dirty="0">
                          <a:solidFill>
                            <a:srgbClr val="0F2730"/>
                          </a:solidFill>
                          <a:latin typeface="Calibri" pitchFamily="34" charset="0"/>
                          <a:ea typeface="Calibri" pitchFamily="34" charset="-122"/>
                          <a:cs typeface="Calibri" pitchFamily="34" charset="-120"/>
                        </a:rPr>
                        <a:t>Role-gated API: operators cannot change calibration</a:t>
                      </a:r>
                      <a:endParaRPr lang="en-US" sz="115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bl>
          </a:graphicData>
        </a:graphic>
      </p:graphicFrame>
      <p:sp>
        <p:nvSpPr>
          <p:cNvPr id="13" name="Shape 10"/>
          <p:cNvSpPr/>
          <p:nvPr/>
        </p:nvSpPr>
        <p:spPr>
          <a:xfrm>
            <a:off x="548640" y="5120640"/>
            <a:ext cx="11064240" cy="1051560"/>
          </a:xfrm>
          <a:prstGeom prst="roundRect">
            <a:avLst>
              <a:gd name="adj" fmla="val 6957"/>
            </a:avLst>
          </a:prstGeom>
          <a:solidFill>
            <a:srgbClr val="E8F3FA"/>
          </a:solidFill>
          <a:ln w="12700">
            <a:solidFill>
              <a:srgbClr val="E8F3FA"/>
            </a:solidFill>
            <a:prstDash val="solid"/>
          </a:ln>
        </p:spPr>
      </p:sp>
      <p:sp>
        <p:nvSpPr>
          <p:cNvPr id="14" name="Text 11"/>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350" b="1" dirty="0">
                <a:solidFill>
                  <a:srgbClr val="1C6A96"/>
                </a:solidFill>
                <a:latin typeface="Calibri" pitchFamily="34" charset="0"/>
                <a:ea typeface="Calibri" pitchFamily="34" charset="-122"/>
                <a:cs typeface="Calibri" pitchFamily="34" charset="-120"/>
              </a:rPr>
              <a:t>Standards considered: </a:t>
            </a:r>
            <a:pPr indent="0" marL="0">
              <a:buNone/>
            </a:pPr>
            <a:r>
              <a:rPr lang="en-US" sz="1350" dirty="0">
                <a:solidFill>
                  <a:srgbClr val="0F2730"/>
                </a:solidFill>
                <a:latin typeface="Calibri" pitchFamily="34" charset="0"/>
                <a:ea typeface="Calibri" pitchFamily="34" charset="-122"/>
                <a:cs typeface="Calibri" pitchFamily="34" charset="-120"/>
              </a:rPr>
              <a:t>IEC 61010-1 and IEC 61010-2-032 (measurement equipment, current clamps) · IEC 60529 (IP65) · ISO 11011 (compressed-air energy assessment) · IS 2379 (pipe colour coding, used in the UI)</a:t>
            </a:r>
            <a:endParaRPr lang="en-US" sz="13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Four-month plan to a field-tested prototype</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Roadmap</a:t>
            </a:r>
            <a:endParaRPr lang="en-US" sz="1000" dirty="0"/>
          </a:p>
        </p:txBody>
      </p:sp>
      <p:sp>
        <p:nvSpPr>
          <p:cNvPr id="4" name="Shape 2"/>
          <p:cNvSpPr/>
          <p:nvPr/>
        </p:nvSpPr>
        <p:spPr>
          <a:xfrm>
            <a:off x="822960" y="1828800"/>
            <a:ext cx="10515600" cy="0"/>
          </a:xfrm>
          <a:prstGeom prst="line">
            <a:avLst/>
          </a:prstGeom>
          <a:noFill/>
          <a:ln w="38100">
            <a:solidFill>
              <a:srgbClr val="7FC4EA"/>
            </a:solidFill>
            <a:prstDash val="solid"/>
          </a:ln>
        </p:spPr>
      </p:sp>
      <p:sp>
        <p:nvSpPr>
          <p:cNvPr id="5" name="Shape 3"/>
          <p:cNvSpPr/>
          <p:nvPr/>
        </p:nvSpPr>
        <p:spPr>
          <a:xfrm>
            <a:off x="640080" y="1645920"/>
            <a:ext cx="365760" cy="365760"/>
          </a:xfrm>
          <a:prstGeom prst="ellipse">
            <a:avLst/>
          </a:prstGeom>
          <a:solidFill>
            <a:srgbClr val="1C6A96"/>
          </a:solidFill>
          <a:ln w="25400">
            <a:solidFill>
              <a:srgbClr val="FFFFFF"/>
            </a:solidFill>
            <a:prstDash val="solid"/>
          </a:ln>
        </p:spPr>
      </p:sp>
      <p:sp>
        <p:nvSpPr>
          <p:cNvPr id="6" name="Text 4"/>
          <p:cNvSpPr txBox="1"/>
          <p:nvPr/>
        </p:nvSpPr>
        <p:spPr>
          <a:xfrm>
            <a:off x="548640" y="2148840"/>
            <a:ext cx="2606040" cy="292608"/>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Month 1 · Nov 2026</a:t>
            </a:r>
            <a:endParaRPr lang="en-US" sz="1200" dirty="0"/>
          </a:p>
        </p:txBody>
      </p:sp>
      <p:sp>
        <p:nvSpPr>
          <p:cNvPr id="7" name="Text 5"/>
          <p:cNvSpPr txBox="1"/>
          <p:nvPr/>
        </p:nvSpPr>
        <p:spPr>
          <a:xfrm>
            <a:off x="548640" y="2441448"/>
            <a:ext cx="2606040" cy="457200"/>
          </a:xfrm>
          <a:prstGeom prst="rect">
            <a:avLst/>
          </a:prstGeom>
          <a:noFill/>
          <a:ln/>
        </p:spPr>
        <p:txBody>
          <a:bodyPr wrap="square" lIns="0" tIns="0" rIns="0" bIns="0" rtlCol="0" anchor="t"/>
          <a:lstStyle/>
          <a:p>
            <a:pPr indent="0" marL="0">
              <a:buNone/>
            </a:pPr>
            <a:r>
              <a:rPr lang="en-US" sz="2200" b="1" dirty="0">
                <a:solidFill>
                  <a:srgbClr val="0F2730"/>
                </a:solidFill>
                <a:latin typeface="Bahnschrift" pitchFamily="34" charset="0"/>
                <a:ea typeface="Bahnschrift" pitchFamily="34" charset="-122"/>
                <a:cs typeface="Bahnschrift" pitchFamily="34" charset="-120"/>
              </a:rPr>
              <a:t>Build</a:t>
            </a:r>
            <a:endParaRPr lang="en-US" sz="2200" dirty="0"/>
          </a:p>
        </p:txBody>
      </p:sp>
      <p:sp>
        <p:nvSpPr>
          <p:cNvPr id="8" name="Text 6"/>
          <p:cNvSpPr txBox="1"/>
          <p:nvPr/>
        </p:nvSpPr>
        <p:spPr>
          <a:xfrm>
            <a:off x="548640" y="2971800"/>
            <a:ext cx="26060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Order parts, assemble node on a breadboard</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Flash firmware; bench-test against a calibrated gauge and clamp meter</a:t>
            </a:r>
            <a:endParaRPr lang="en-US" sz="1300" dirty="0"/>
          </a:p>
        </p:txBody>
      </p:sp>
      <p:sp>
        <p:nvSpPr>
          <p:cNvPr id="9" name="Shape 7"/>
          <p:cNvSpPr/>
          <p:nvPr/>
        </p:nvSpPr>
        <p:spPr>
          <a:xfrm>
            <a:off x="3459175" y="1645920"/>
            <a:ext cx="365760" cy="365760"/>
          </a:xfrm>
          <a:prstGeom prst="ellipse">
            <a:avLst/>
          </a:prstGeom>
          <a:solidFill>
            <a:srgbClr val="1C6A96"/>
          </a:solidFill>
          <a:ln w="25400">
            <a:solidFill>
              <a:srgbClr val="FFFFFF"/>
            </a:solidFill>
            <a:prstDash val="solid"/>
          </a:ln>
        </p:spPr>
      </p:sp>
      <p:sp>
        <p:nvSpPr>
          <p:cNvPr id="10" name="Text 8"/>
          <p:cNvSpPr txBox="1"/>
          <p:nvPr/>
        </p:nvSpPr>
        <p:spPr>
          <a:xfrm>
            <a:off x="3367735" y="2148840"/>
            <a:ext cx="2606040" cy="292608"/>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Month 2 · Dec 2026</a:t>
            </a:r>
            <a:endParaRPr lang="en-US" sz="1200" dirty="0"/>
          </a:p>
        </p:txBody>
      </p:sp>
      <p:sp>
        <p:nvSpPr>
          <p:cNvPr id="11" name="Text 9"/>
          <p:cNvSpPr txBox="1"/>
          <p:nvPr/>
        </p:nvSpPr>
        <p:spPr>
          <a:xfrm>
            <a:off x="3367735" y="2441448"/>
            <a:ext cx="2606040" cy="457200"/>
          </a:xfrm>
          <a:prstGeom prst="rect">
            <a:avLst/>
          </a:prstGeom>
          <a:noFill/>
          <a:ln/>
        </p:spPr>
        <p:txBody>
          <a:bodyPr wrap="square" lIns="0" tIns="0" rIns="0" bIns="0" rtlCol="0" anchor="t"/>
          <a:lstStyle/>
          <a:p>
            <a:pPr indent="0" marL="0">
              <a:buNone/>
            </a:pPr>
            <a:r>
              <a:rPr lang="en-US" sz="2200" b="1" dirty="0">
                <a:solidFill>
                  <a:srgbClr val="0F2730"/>
                </a:solidFill>
                <a:latin typeface="Bahnschrift" pitchFamily="34" charset="0"/>
                <a:ea typeface="Bahnschrift" pitchFamily="34" charset="-122"/>
                <a:cs typeface="Bahnschrift" pitchFamily="34" charset="-120"/>
              </a:rPr>
              <a:t>Integrate</a:t>
            </a:r>
            <a:endParaRPr lang="en-US" sz="2200" dirty="0"/>
          </a:p>
        </p:txBody>
      </p:sp>
      <p:sp>
        <p:nvSpPr>
          <p:cNvPr id="12" name="Text 10"/>
          <p:cNvSpPr txBox="1"/>
          <p:nvPr/>
        </p:nvSpPr>
        <p:spPr>
          <a:xfrm>
            <a:off x="3367735" y="2971800"/>
            <a:ext cx="26060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Enclosure CAD and print/fit-out</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Install on a college workshop compressor; stream to the twin</a:t>
            </a:r>
            <a:endParaRPr lang="en-US" sz="1300" dirty="0"/>
          </a:p>
        </p:txBody>
      </p:sp>
      <p:sp>
        <p:nvSpPr>
          <p:cNvPr id="13" name="Shape 11"/>
          <p:cNvSpPr/>
          <p:nvPr/>
        </p:nvSpPr>
        <p:spPr>
          <a:xfrm>
            <a:off x="6278270" y="1645920"/>
            <a:ext cx="365760" cy="365760"/>
          </a:xfrm>
          <a:prstGeom prst="ellipse">
            <a:avLst/>
          </a:prstGeom>
          <a:solidFill>
            <a:srgbClr val="1C6A96"/>
          </a:solidFill>
          <a:ln w="25400">
            <a:solidFill>
              <a:srgbClr val="FFFFFF"/>
            </a:solidFill>
            <a:prstDash val="solid"/>
          </a:ln>
        </p:spPr>
      </p:sp>
      <p:sp>
        <p:nvSpPr>
          <p:cNvPr id="14" name="Text 12"/>
          <p:cNvSpPr txBox="1"/>
          <p:nvPr/>
        </p:nvSpPr>
        <p:spPr>
          <a:xfrm>
            <a:off x="6186830" y="2148840"/>
            <a:ext cx="2606040" cy="292608"/>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Month 3 · Jan 2027</a:t>
            </a:r>
            <a:endParaRPr lang="en-US" sz="1200" dirty="0"/>
          </a:p>
        </p:txBody>
      </p:sp>
      <p:sp>
        <p:nvSpPr>
          <p:cNvPr id="15" name="Text 13"/>
          <p:cNvSpPr txBox="1"/>
          <p:nvPr/>
        </p:nvSpPr>
        <p:spPr>
          <a:xfrm>
            <a:off x="6186830" y="2441448"/>
            <a:ext cx="2606040" cy="457200"/>
          </a:xfrm>
          <a:prstGeom prst="rect">
            <a:avLst/>
          </a:prstGeom>
          <a:noFill/>
          <a:ln/>
        </p:spPr>
        <p:txBody>
          <a:bodyPr wrap="square" lIns="0" tIns="0" rIns="0" bIns="0" rtlCol="0" anchor="t"/>
          <a:lstStyle/>
          <a:p>
            <a:pPr indent="0" marL="0">
              <a:buNone/>
            </a:pPr>
            <a:r>
              <a:rPr lang="en-US" sz="2200" b="1" dirty="0">
                <a:solidFill>
                  <a:srgbClr val="0F2730"/>
                </a:solidFill>
                <a:latin typeface="Bahnschrift" pitchFamily="34" charset="0"/>
                <a:ea typeface="Bahnschrift" pitchFamily="34" charset="-122"/>
                <a:cs typeface="Bahnschrift" pitchFamily="34" charset="-120"/>
              </a:rPr>
              <a:t>Validate</a:t>
            </a:r>
            <a:endParaRPr lang="en-US" sz="2200" dirty="0"/>
          </a:p>
        </p:txBody>
      </p:sp>
      <p:sp>
        <p:nvSpPr>
          <p:cNvPr id="16" name="Text 14"/>
          <p:cNvSpPr txBox="1"/>
          <p:nvPr/>
        </p:nvSpPr>
        <p:spPr>
          <a:xfrm>
            <a:off x="6186830" y="2971800"/>
            <a:ext cx="26060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Pilot at one MSME unit</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Compare nightly test with a manual leak-down test and an ultrasonic walk</a:t>
            </a:r>
            <a:endParaRPr lang="en-US" sz="1300" dirty="0"/>
          </a:p>
        </p:txBody>
      </p:sp>
      <p:sp>
        <p:nvSpPr>
          <p:cNvPr id="17" name="Shape 15"/>
          <p:cNvSpPr/>
          <p:nvPr/>
        </p:nvSpPr>
        <p:spPr>
          <a:xfrm>
            <a:off x="9097366" y="1645920"/>
            <a:ext cx="365760" cy="365760"/>
          </a:xfrm>
          <a:prstGeom prst="ellipse">
            <a:avLst/>
          </a:prstGeom>
          <a:solidFill>
            <a:srgbClr val="17845A"/>
          </a:solidFill>
          <a:ln w="25400">
            <a:solidFill>
              <a:srgbClr val="FFFFFF"/>
            </a:solidFill>
            <a:prstDash val="solid"/>
          </a:ln>
        </p:spPr>
      </p:sp>
      <p:sp>
        <p:nvSpPr>
          <p:cNvPr id="18" name="Text 16"/>
          <p:cNvSpPr txBox="1"/>
          <p:nvPr/>
        </p:nvSpPr>
        <p:spPr>
          <a:xfrm>
            <a:off x="9005926" y="2148840"/>
            <a:ext cx="2606040" cy="292608"/>
          </a:xfrm>
          <a:prstGeom prst="rect">
            <a:avLst/>
          </a:prstGeom>
          <a:noFill/>
          <a:ln/>
        </p:spPr>
        <p:txBody>
          <a:bodyPr wrap="square" lIns="0" tIns="0" rIns="0" bIns="0" rtlCol="0" anchor="t"/>
          <a:lstStyle/>
          <a:p>
            <a:pPr indent="0" marL="0">
              <a:buNone/>
            </a:pPr>
            <a:r>
              <a:rPr lang="en-US" sz="1200" b="1" dirty="0">
                <a:solidFill>
                  <a:srgbClr val="5A6A6F"/>
                </a:solidFill>
                <a:latin typeface="Calibri" pitchFamily="34" charset="0"/>
                <a:ea typeface="Calibri" pitchFamily="34" charset="-122"/>
                <a:cs typeface="Calibri" pitchFamily="34" charset="-120"/>
              </a:rPr>
              <a:t>Month 4 · Feb 2027</a:t>
            </a:r>
            <a:endParaRPr lang="en-US" sz="1200" dirty="0"/>
          </a:p>
        </p:txBody>
      </p:sp>
      <p:sp>
        <p:nvSpPr>
          <p:cNvPr id="19" name="Text 17"/>
          <p:cNvSpPr txBox="1"/>
          <p:nvPr/>
        </p:nvSpPr>
        <p:spPr>
          <a:xfrm>
            <a:off x="9005926" y="2441448"/>
            <a:ext cx="2606040" cy="457200"/>
          </a:xfrm>
          <a:prstGeom prst="rect">
            <a:avLst/>
          </a:prstGeom>
          <a:noFill/>
          <a:ln/>
        </p:spPr>
        <p:txBody>
          <a:bodyPr wrap="square" lIns="0" tIns="0" rIns="0" bIns="0" rtlCol="0" anchor="t"/>
          <a:lstStyle/>
          <a:p>
            <a:pPr indent="0" marL="0">
              <a:buNone/>
            </a:pPr>
            <a:r>
              <a:rPr lang="en-US" sz="2200" b="1" dirty="0">
                <a:solidFill>
                  <a:srgbClr val="17845A"/>
                </a:solidFill>
                <a:latin typeface="Bahnschrift" pitchFamily="34" charset="0"/>
                <a:ea typeface="Bahnschrift" pitchFamily="34" charset="-122"/>
                <a:cs typeface="Bahnschrift" pitchFamily="34" charset="-120"/>
              </a:rPr>
              <a:t>Prove</a:t>
            </a:r>
            <a:endParaRPr lang="en-US" sz="2200" dirty="0"/>
          </a:p>
        </p:txBody>
      </p:sp>
      <p:sp>
        <p:nvSpPr>
          <p:cNvPr id="20" name="Text 18"/>
          <p:cNvSpPr txBox="1"/>
          <p:nvPr/>
        </p:nvSpPr>
        <p:spPr>
          <a:xfrm>
            <a:off x="9005926" y="2971800"/>
            <a:ext cx="260604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Recalibrate on site data; one-time FAD pump-up test</a:t>
            </a:r>
            <a:endParaRPr lang="en-US" sz="1300" dirty="0"/>
          </a:p>
          <a:p>
            <a:pPr marL="342900" indent="-342900">
              <a:spcAft>
                <a:spcPts val="600"/>
              </a:spcAft>
              <a:buSzPct val="100000"/>
              <a:buChar char="•"/>
            </a:pPr>
            <a:r>
              <a:rPr lang="en-US" sz="1300" dirty="0">
                <a:solidFill>
                  <a:srgbClr val="0F2730"/>
                </a:solidFill>
                <a:latin typeface="Calibri" pitchFamily="34" charset="0"/>
                <a:ea typeface="Calibri" pitchFamily="34" charset="-122"/>
                <a:cs typeface="Calibri" pitchFamily="34" charset="-120"/>
              </a:rPr>
              <a:t>Repair a found leak and verify the saving overnight</a:t>
            </a:r>
            <a:endParaRPr lang="en-US" sz="1300" dirty="0"/>
          </a:p>
        </p:txBody>
      </p:sp>
      <p:sp>
        <p:nvSpPr>
          <p:cNvPr id="21" name="Shape 19"/>
          <p:cNvSpPr/>
          <p:nvPr/>
        </p:nvSpPr>
        <p:spPr>
          <a:xfrm>
            <a:off x="548640" y="4937760"/>
            <a:ext cx="11064240" cy="1234440"/>
          </a:xfrm>
          <a:prstGeom prst="roundRect">
            <a:avLst>
              <a:gd name="adj" fmla="val 5926"/>
            </a:avLst>
          </a:prstGeom>
          <a:solidFill>
            <a:srgbClr val="E2F2EA"/>
          </a:solidFill>
          <a:ln w="12700">
            <a:solidFill>
              <a:srgbClr val="E2F2EA"/>
            </a:solidFill>
            <a:prstDash val="solid"/>
          </a:ln>
        </p:spPr>
      </p:sp>
      <p:sp>
        <p:nvSpPr>
          <p:cNvPr id="22" name="Text 20"/>
          <p:cNvSpPr txBox="1"/>
          <p:nvPr/>
        </p:nvSpPr>
        <p:spPr>
          <a:xfrm>
            <a:off x="777240" y="4937760"/>
            <a:ext cx="10607040" cy="1234440"/>
          </a:xfrm>
          <a:prstGeom prst="rect">
            <a:avLst/>
          </a:prstGeom>
          <a:noFill/>
          <a:ln/>
        </p:spPr>
        <p:txBody>
          <a:bodyPr wrap="square" lIns="0" tIns="0" rIns="0" bIns="0" rtlCol="0" anchor="ctr"/>
          <a:lstStyle/>
          <a:p>
            <a:pPr indent="0" marL="0">
              <a:buNone/>
            </a:pPr>
            <a:r>
              <a:rPr lang="en-US" sz="1500" b="1" dirty="0">
                <a:solidFill>
                  <a:srgbClr val="17845A"/>
                </a:solidFill>
                <a:latin typeface="Calibri" pitchFamily="34" charset="0"/>
                <a:ea typeface="Calibri" pitchFamily="34" charset="-122"/>
                <a:cs typeface="Calibri" pitchFamily="34" charset="-120"/>
              </a:rPr>
              <a:t>Stage 3 commitment: </a:t>
            </a:r>
            <a:pPr indent="0" marL="0">
              <a:buNone/>
            </a:pPr>
            <a:r>
              <a:rPr lang="en-US" sz="1500" dirty="0">
                <a:solidFill>
                  <a:srgbClr val="0F2730"/>
                </a:solidFill>
                <a:latin typeface="Calibri" pitchFamily="34" charset="0"/>
                <a:ea typeface="Calibri" pitchFamily="34" charset="-122"/>
                <a:cs typeface="Calibri" pitchFamily="34" charset="-120"/>
              </a:rPr>
              <a:t>a working edge node on a real compressor, a nightly leak index from real data, one located and repaired leak with its saving measured — demonstrated live on the same dashboard shown here.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Engineering bottlenecks we hit in simulation</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Technical challenges &amp; risks</a:t>
            </a:r>
            <a:endParaRPr lang="en-US" sz="1000" dirty="0"/>
          </a:p>
        </p:txBody>
      </p:sp>
      <p:sp>
        <p:nvSpPr>
          <p:cNvPr id="4" name="Shape 2"/>
          <p:cNvSpPr/>
          <p:nvPr/>
        </p:nvSpPr>
        <p:spPr>
          <a:xfrm>
            <a:off x="548640" y="1325880"/>
            <a:ext cx="5440680" cy="1417320"/>
          </a:xfrm>
          <a:prstGeom prst="roundRect">
            <a:avLst>
              <a:gd name="adj" fmla="val 5161"/>
            </a:avLst>
          </a:prstGeom>
          <a:solidFill>
            <a:srgbClr val="F2F4F5"/>
          </a:solidFill>
          <a:ln w="12700">
            <a:solidFill>
              <a:srgbClr val="F2F4F5"/>
            </a:solidFill>
            <a:prstDash val="solid"/>
          </a:ln>
        </p:spPr>
      </p:sp>
      <p:sp>
        <p:nvSpPr>
          <p:cNvPr id="5" name="Text 3"/>
          <p:cNvSpPr txBox="1"/>
          <p:nvPr/>
        </p:nvSpPr>
        <p:spPr>
          <a:xfrm>
            <a:off x="731520" y="1435608"/>
            <a:ext cx="5074920" cy="365760"/>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A leak looks like demand</a:t>
            </a:r>
            <a:endParaRPr lang="en-US" sz="1600" dirty="0"/>
          </a:p>
        </p:txBody>
      </p:sp>
      <p:sp>
        <p:nvSpPr>
          <p:cNvPr id="6" name="Text 4"/>
          <p:cNvSpPr txBox="1"/>
          <p:nvPr/>
        </p:nvSpPr>
        <p:spPr>
          <a:xfrm>
            <a:off x="731520" y="1828800"/>
            <a:ext cx="5074920" cy="86868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With no flow meter, extra production air and a leak raise the same signal. Daytime data alone cannot separate them.</a:t>
            </a:r>
            <a:endParaRPr lang="en-US" sz="1300" dirty="0"/>
          </a:p>
        </p:txBody>
      </p:sp>
      <p:sp>
        <p:nvSpPr>
          <p:cNvPr id="7" name="Shape 5"/>
          <p:cNvSpPr/>
          <p:nvPr/>
        </p:nvSpPr>
        <p:spPr>
          <a:xfrm>
            <a:off x="6172200" y="1325880"/>
            <a:ext cx="5440680" cy="1417320"/>
          </a:xfrm>
          <a:prstGeom prst="roundRect">
            <a:avLst>
              <a:gd name="adj" fmla="val 5161"/>
            </a:avLst>
          </a:prstGeom>
          <a:solidFill>
            <a:srgbClr val="F2F4F5"/>
          </a:solidFill>
          <a:ln w="12700">
            <a:solidFill>
              <a:srgbClr val="F2F4F5"/>
            </a:solidFill>
            <a:prstDash val="solid"/>
          </a:ln>
        </p:spPr>
      </p:sp>
      <p:sp>
        <p:nvSpPr>
          <p:cNvPr id="8" name="Text 6"/>
          <p:cNvSpPr txBox="1"/>
          <p:nvPr/>
        </p:nvSpPr>
        <p:spPr>
          <a:xfrm>
            <a:off x="6355080" y="1435608"/>
            <a:ext cx="5074920" cy="365760"/>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Nameplate is not the truth</a:t>
            </a:r>
            <a:endParaRPr lang="en-US" sz="1600" dirty="0"/>
          </a:p>
        </p:txBody>
      </p:sp>
      <p:sp>
        <p:nvSpPr>
          <p:cNvPr id="9" name="Text 7"/>
          <p:cNvSpPr txBox="1"/>
          <p:nvPr/>
        </p:nvSpPr>
        <p:spPr>
          <a:xfrm>
            <a:off x="6355080" y="1828800"/>
            <a:ext cx="5074920" cy="86868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A machine delivering 3% below nameplate biased leak and storage estimates by about 3% in the 14-day twin.</a:t>
            </a:r>
            <a:endParaRPr lang="en-US" sz="1300" dirty="0"/>
          </a:p>
        </p:txBody>
      </p:sp>
      <p:sp>
        <p:nvSpPr>
          <p:cNvPr id="10" name="Shape 8"/>
          <p:cNvSpPr/>
          <p:nvPr/>
        </p:nvSpPr>
        <p:spPr>
          <a:xfrm>
            <a:off x="548640" y="2926080"/>
            <a:ext cx="5440680" cy="1417320"/>
          </a:xfrm>
          <a:prstGeom prst="roundRect">
            <a:avLst>
              <a:gd name="adj" fmla="val 5161"/>
            </a:avLst>
          </a:prstGeom>
          <a:solidFill>
            <a:srgbClr val="FDF1D8"/>
          </a:solidFill>
          <a:ln w="12700">
            <a:solidFill>
              <a:srgbClr val="FDF1D8"/>
            </a:solidFill>
            <a:prstDash val="solid"/>
          </a:ln>
        </p:spPr>
      </p:sp>
      <p:sp>
        <p:nvSpPr>
          <p:cNvPr id="11" name="Text 9"/>
          <p:cNvSpPr txBox="1"/>
          <p:nvPr/>
        </p:nvSpPr>
        <p:spPr>
          <a:xfrm>
            <a:off x="731520" y="3035808"/>
            <a:ext cx="5074920" cy="365760"/>
          </a:xfrm>
          <a:prstGeom prst="rect">
            <a:avLst/>
          </a:prstGeom>
          <a:noFill/>
          <a:ln/>
        </p:spPr>
        <p:txBody>
          <a:bodyPr wrap="square" lIns="0" tIns="0" rIns="0" bIns="0" rtlCol="0" anchor="t"/>
          <a:lstStyle/>
          <a:p>
            <a:pPr indent="0" marL="0">
              <a:buNone/>
            </a:pPr>
            <a:r>
              <a:rPr lang="en-US" sz="1600" b="1" dirty="0">
                <a:solidFill>
                  <a:srgbClr val="8F5600"/>
                </a:solidFill>
                <a:latin typeface="Bahnschrift" pitchFamily="34" charset="0"/>
                <a:ea typeface="Bahnschrift" pitchFamily="34" charset="-122"/>
                <a:cs typeface="Bahnschrift" pitchFamily="34" charset="-120"/>
              </a:rPr>
              <a:t>Synthetic AI does not transfer</a:t>
            </a:r>
            <a:endParaRPr lang="en-US" sz="1600" dirty="0"/>
          </a:p>
        </p:txBody>
      </p:sp>
      <p:sp>
        <p:nvSpPr>
          <p:cNvPr id="12" name="Text 10"/>
          <p:cNvSpPr txBox="1"/>
          <p:nvPr/>
        </p:nvSpPr>
        <p:spPr>
          <a:xfrm>
            <a:off x="731520" y="3429000"/>
            <a:ext cx="5074920" cy="86868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MetroPT-3: 0 real windows flagged by the synthetic threshold, AUC 0.58. Good on simulation is not good in the field.</a:t>
            </a:r>
            <a:endParaRPr lang="en-US" sz="1300" dirty="0"/>
          </a:p>
        </p:txBody>
      </p:sp>
      <p:sp>
        <p:nvSpPr>
          <p:cNvPr id="13" name="Shape 11"/>
          <p:cNvSpPr/>
          <p:nvPr/>
        </p:nvSpPr>
        <p:spPr>
          <a:xfrm>
            <a:off x="6172200" y="2926080"/>
            <a:ext cx="5440680" cy="1417320"/>
          </a:xfrm>
          <a:prstGeom prst="roundRect">
            <a:avLst>
              <a:gd name="adj" fmla="val 5161"/>
            </a:avLst>
          </a:prstGeom>
          <a:solidFill>
            <a:srgbClr val="F2F4F5"/>
          </a:solidFill>
          <a:ln w="12700">
            <a:solidFill>
              <a:srgbClr val="F2F4F5"/>
            </a:solidFill>
            <a:prstDash val="solid"/>
          </a:ln>
        </p:spPr>
      </p:sp>
      <p:sp>
        <p:nvSpPr>
          <p:cNvPr id="14" name="Text 12"/>
          <p:cNvSpPr txBox="1"/>
          <p:nvPr/>
        </p:nvSpPr>
        <p:spPr>
          <a:xfrm>
            <a:off x="6355080" y="3035808"/>
            <a:ext cx="5074920" cy="365760"/>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No quiet hours</a:t>
            </a:r>
            <a:endParaRPr lang="en-US" sz="1600" dirty="0"/>
          </a:p>
        </p:txBody>
      </p:sp>
      <p:sp>
        <p:nvSpPr>
          <p:cNvPr id="15" name="Text 13"/>
          <p:cNvSpPr txBox="1"/>
          <p:nvPr/>
        </p:nvSpPr>
        <p:spPr>
          <a:xfrm>
            <a:off x="6355080" y="3429000"/>
            <a:ext cx="5074920" cy="86868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Plants running 24×7 never idle, so the nightly test has no window.</a:t>
            </a:r>
            <a:endParaRPr lang="en-US" sz="1300" dirty="0"/>
          </a:p>
        </p:txBody>
      </p:sp>
      <p:sp>
        <p:nvSpPr>
          <p:cNvPr id="16" name="Shape 14"/>
          <p:cNvSpPr/>
          <p:nvPr/>
        </p:nvSpPr>
        <p:spPr>
          <a:xfrm>
            <a:off x="548640" y="4526280"/>
            <a:ext cx="5440680" cy="1417320"/>
          </a:xfrm>
          <a:prstGeom prst="roundRect">
            <a:avLst>
              <a:gd name="adj" fmla="val 5161"/>
            </a:avLst>
          </a:prstGeom>
          <a:solidFill>
            <a:srgbClr val="F2F4F5"/>
          </a:solidFill>
          <a:ln w="12700">
            <a:solidFill>
              <a:srgbClr val="F2F4F5"/>
            </a:solidFill>
            <a:prstDash val="solid"/>
          </a:ln>
        </p:spPr>
      </p:sp>
      <p:sp>
        <p:nvSpPr>
          <p:cNvPr id="17" name="Text 15"/>
          <p:cNvSpPr txBox="1"/>
          <p:nvPr/>
        </p:nvSpPr>
        <p:spPr>
          <a:xfrm>
            <a:off x="731520" y="4636008"/>
            <a:ext cx="5074920" cy="365760"/>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Valves are not perfect</a:t>
            </a:r>
            <a:endParaRPr lang="en-US" sz="1600" dirty="0"/>
          </a:p>
        </p:txBody>
      </p:sp>
      <p:sp>
        <p:nvSpPr>
          <p:cNvPr id="18" name="Text 16"/>
          <p:cNvSpPr txBox="1"/>
          <p:nvPr/>
        </p:nvSpPr>
        <p:spPr>
          <a:xfrm>
            <a:off x="731520" y="5029200"/>
            <a:ext cx="5074920" cy="86868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Leak Hunter assumes tight valve seats; seeping valves blur the zone split.</a:t>
            </a:r>
            <a:endParaRPr lang="en-US" sz="1300" dirty="0"/>
          </a:p>
        </p:txBody>
      </p:sp>
      <p:sp>
        <p:nvSpPr>
          <p:cNvPr id="19" name="Shape 17"/>
          <p:cNvSpPr/>
          <p:nvPr/>
        </p:nvSpPr>
        <p:spPr>
          <a:xfrm>
            <a:off x="6172200" y="4526280"/>
            <a:ext cx="5440680" cy="1417320"/>
          </a:xfrm>
          <a:prstGeom prst="roundRect">
            <a:avLst>
              <a:gd name="adj" fmla="val 5161"/>
            </a:avLst>
          </a:prstGeom>
          <a:solidFill>
            <a:srgbClr val="F2F4F5"/>
          </a:solidFill>
          <a:ln w="12700">
            <a:solidFill>
              <a:srgbClr val="F2F4F5"/>
            </a:solidFill>
            <a:prstDash val="solid"/>
          </a:ln>
        </p:spPr>
      </p:sp>
      <p:sp>
        <p:nvSpPr>
          <p:cNvPr id="20" name="Text 18"/>
          <p:cNvSpPr txBox="1"/>
          <p:nvPr/>
        </p:nvSpPr>
        <p:spPr>
          <a:xfrm>
            <a:off x="6355080" y="4636008"/>
            <a:ext cx="5074920" cy="365760"/>
          </a:xfrm>
          <a:prstGeom prst="rect">
            <a:avLst/>
          </a:prstGeom>
          <a:noFill/>
          <a:ln/>
        </p:spPr>
        <p:txBody>
          <a:bodyPr wrap="square" lIns="0" tIns="0" rIns="0" bIns="0" rtlCol="0" anchor="t"/>
          <a:lstStyle/>
          <a:p>
            <a:pPr indent="0" marL="0">
              <a:buNone/>
            </a:pPr>
            <a:r>
              <a:rPr lang="en-US" sz="1600" b="1" dirty="0">
                <a:solidFill>
                  <a:srgbClr val="0F2730"/>
                </a:solidFill>
                <a:latin typeface="Bahnschrift" pitchFamily="34" charset="0"/>
                <a:ea typeface="Bahnschrift" pitchFamily="34" charset="-122"/>
                <a:cs typeface="Bahnschrift" pitchFamily="34" charset="-120"/>
              </a:rPr>
              <a:t>Field data is messy</a:t>
            </a:r>
            <a:endParaRPr lang="en-US" sz="1600" dirty="0"/>
          </a:p>
        </p:txBody>
      </p:sp>
      <p:sp>
        <p:nvSpPr>
          <p:cNvPr id="21" name="Text 19"/>
          <p:cNvSpPr txBox="1"/>
          <p:nvPr/>
        </p:nvSpPr>
        <p:spPr>
          <a:xfrm>
            <a:off x="6355080" y="5029200"/>
            <a:ext cx="5074920" cy="868680"/>
          </a:xfrm>
          <a:prstGeom prst="rect">
            <a:avLst/>
          </a:prstGeom>
          <a:noFill/>
          <a:ln/>
        </p:spPr>
        <p:txBody>
          <a:bodyPr wrap="square" lIns="0" tIns="0" rIns="0" bIns="0" rtlCol="0" anchor="t"/>
          <a:lstStyle/>
          <a:p>
            <a:pPr indent="0" marL="0">
              <a:buNone/>
            </a:pPr>
            <a:r>
              <a:rPr lang="en-US" sz="1300" dirty="0">
                <a:solidFill>
                  <a:srgbClr val="0F2730"/>
                </a:solidFill>
                <a:latin typeface="Calibri" pitchFamily="34" charset="0"/>
                <a:ea typeface="Calibri" pitchFamily="34" charset="-122"/>
                <a:cs typeface="Calibri" pitchFamily="34" charset="-120"/>
              </a:rPr>
              <a:t>Wi-Fi drops, stuck transmitters, impossible spikes and clock jumps. The Live gateway injects all four; each one must be caught before any scoring.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Backup solutions for each risk</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Technical challenges &amp; risks</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11680"/>
                <a:gridCol w="4846320"/>
                <a:gridCol w="4206240"/>
              </a:tblGrid>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Primary solution</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Fallback</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solidFill>
                      <a:srgbClr val="0F2730"/>
                    </a:solidFill>
                  </a:tcPr>
                </a:tc>
              </a:tr>
              <a:tr h="603504">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Leak vs demand</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Test only in idle windows (night, lunch) using the machine-on contact</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Weekend leak-down test scheduled from the dashboard</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603504">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Nameplate bias</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One-time pump-up test at install to measure real FAD</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Show the bias band openly on every ₹ figure</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603504">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AI transfer gap</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Physics self-calibration sets all ₹ figures; ML only ranks anomalies</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Per-site recalibration of the anomaly model (recalibrate.py)</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603504">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No quiet hours</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Short lunch-break tests + decay-only mode with known volume</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Branch-valve isolation during planned stops</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r h="603504">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Seeping valves</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Two-direction survey (open-up and close-down) and compare</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c>
                  <a:txBody>
                    <a:bodyPr/>
                    <a:lstStyle/>
                    <a:p>
                      <a:pPr indent="0" marL="0">
                        <a:buNone/>
                      </a:pPr>
                      <a:r>
                        <a:rPr lang="en-US" sz="1300" dirty="0">
                          <a:solidFill>
                            <a:srgbClr val="0F2730"/>
                          </a:solidFill>
                          <a:latin typeface="Calibri" pitchFamily="34" charset="0"/>
                          <a:ea typeface="Calibri" pitchFamily="34" charset="-122"/>
                          <a:cs typeface="Calibri" pitchFamily="34" charset="-120"/>
                        </a:rPr>
                        <a:t>Repeat the decay test; ultrasonic walk in the top zone</a:t>
                      </a:r>
                      <a:endParaRPr lang="en-US" sz="1300" dirty="0">
                        <a:latin typeface="Calibri" charset="0"/>
                        <a:ea typeface="Calibri" charset="0"/>
                        <a:cs typeface="Calibri" charset="0"/>
                      </a:endParaRPr>
                    </a:p>
                  </a:txBody>
                  <a:tcPr marL="73152" marR="73152" marT="36576" marB="36576" anchor="ctr">
                    <a:lnL w="9525" cap="flat" cmpd="sng" algn="ctr">
                      <a:solidFill>
                        <a:srgbClr val="D9DEE0"/>
                      </a:solidFill>
                      <a:prstDash val="solid"/>
                      <a:round/>
                      <a:headEnd type="none" w="med" len="med"/>
                      <a:tailEnd type="none" w="med" len="med"/>
                    </a:lnL>
                    <a:lnR w="9525" cap="flat" cmpd="sng" algn="ctr">
                      <a:solidFill>
                        <a:srgbClr val="D9DEE0"/>
                      </a:solidFill>
                      <a:prstDash val="solid"/>
                      <a:round/>
                      <a:headEnd type="none" w="med" len="med"/>
                      <a:tailEnd type="none" w="med" len="med"/>
                    </a:lnR>
                    <a:lnT w="9525" cap="flat" cmpd="sng" algn="ctr">
                      <a:solidFill>
                        <a:srgbClr val="D9DEE0"/>
                      </a:solidFill>
                      <a:prstDash val="solid"/>
                      <a:round/>
                      <a:headEnd type="none" w="med" len="med"/>
                      <a:tailEnd type="none" w="med" len="med"/>
                    </a:lnT>
                    <a:lnB w="9525" cap="flat" cmpd="sng" algn="ctr">
                      <a:solidFill>
                        <a:srgbClr val="D9DEE0"/>
                      </a:solidFill>
                      <a:prstDash val="solid"/>
                      <a:round/>
                      <a:headEnd type="none" w="med" len="med"/>
                      <a:tailEnd type="none" w="med" len="med"/>
                    </a:lnB>
                  </a:tcPr>
                </a:tc>
              </a:tr>
            </a:tbl>
          </a:graphicData>
        </a:graphic>
      </p:graphicFrame>
      <p:sp>
        <p:nvSpPr>
          <p:cNvPr id="5" name="Shape 2"/>
          <p:cNvSpPr/>
          <p:nvPr/>
        </p:nvSpPr>
        <p:spPr>
          <a:xfrm>
            <a:off x="548640" y="5120640"/>
            <a:ext cx="11064240" cy="1051560"/>
          </a:xfrm>
          <a:prstGeom prst="roundRect">
            <a:avLst>
              <a:gd name="adj" fmla="val 6957"/>
            </a:avLst>
          </a:prstGeom>
          <a:solidFill>
            <a:srgbClr val="E2F2EA"/>
          </a:solidFill>
          <a:ln w="12700">
            <a:solidFill>
              <a:srgbClr val="E2F2EA"/>
            </a:solidFill>
            <a:prstDash val="solid"/>
          </a:ln>
        </p:spPr>
      </p:sp>
      <p:sp>
        <p:nvSpPr>
          <p:cNvPr id="6" name="Text 3"/>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400" b="1" dirty="0">
                <a:solidFill>
                  <a:srgbClr val="17845A"/>
                </a:solidFill>
                <a:latin typeface="Calibri" pitchFamily="34" charset="0"/>
                <a:ea typeface="Calibri" pitchFamily="34" charset="-122"/>
                <a:cs typeface="Calibri" pitchFamily="34" charset="-120"/>
              </a:rPr>
              <a:t>Already verified in simulation: </a:t>
            </a:r>
            <a:pPr indent="0" marL="0">
              <a:buNone/>
            </a:pPr>
            <a:r>
              <a:rPr lang="en-US" sz="1400" dirty="0">
                <a:solidFill>
                  <a:srgbClr val="0F2730"/>
                </a:solidFill>
                <a:latin typeface="Calibri" pitchFamily="34" charset="0"/>
                <a:ea typeface="Calibri" pitchFamily="34" charset="-122"/>
                <a:cs typeface="Calibri" pitchFamily="34" charset="-120"/>
              </a:rPr>
              <a:t>Leak Hunter's repeat-survey check measured ₹4,276/month against ₹4,741 predicted (−9.8%, explained by 92% repair efficacy).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000" b="1" dirty="0">
                <a:solidFill>
                  <a:srgbClr val="0F2730"/>
                </a:solidFill>
                <a:latin typeface="Bahnschrift" pitchFamily="34" charset="0"/>
                <a:ea typeface="Bahnschrift" pitchFamily="34" charset="-122"/>
                <a:cs typeface="Bahnschrift" pitchFamily="34" charset="-120"/>
              </a:rPr>
              <a:t>References and sources</a:t>
            </a:r>
            <a:endParaRPr lang="en-US" sz="3000" dirty="0"/>
          </a:p>
        </p:txBody>
      </p:sp>
      <p:sp>
        <p:nvSpPr>
          <p:cNvPr id="3" name="Text 0"/>
          <p:cNvSpPr/>
          <p:nvPr>
            <p:ph idx="101"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rgbClr val="5A6A6F"/>
                </a:solidFill>
                <a:latin typeface="Calibri" pitchFamily="34" charset="0"/>
                <a:ea typeface="Calibri" pitchFamily="34" charset="-122"/>
                <a:cs typeface="Calibri" pitchFamily="34" charset="-120"/>
              </a:rPr>
              <a:t>FactoryAir Twin · VK26-IITI-AHM-0210 · References</a:t>
            </a:r>
            <a:endParaRPr lang="en-US" sz="1000" dirty="0"/>
          </a:p>
        </p:txBody>
      </p:sp>
      <p:sp>
        <p:nvSpPr>
          <p:cNvPr id="4" name="Text 2"/>
          <p:cNvSpPr txBox="1"/>
          <p:nvPr/>
        </p:nvSpPr>
        <p:spPr>
          <a:xfrm>
            <a:off x="548640" y="1325880"/>
            <a:ext cx="11064240" cy="4846320"/>
          </a:xfrm>
          <a:prstGeom prst="rect">
            <a:avLst/>
          </a:prstGeom>
          <a:noFill/>
          <a:ln/>
        </p:spPr>
        <p:txBody>
          <a:bodyPr wrap="square" lIns="0" tIns="0" rIns="0" bIns="0" rtlCol="0" anchor="t"/>
          <a:lstStyle/>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[1] U.S. Department of Energy &amp; Compressed Air Challenge, Improving Compressed Air System Performance: A Sourcebook for Industry (3rd ed.).</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[2] ISO 11011:2013, Compressed air — Energy efficiency — Assessment.</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[3] Bureau of Energy Efficiency (India), Energy Efficiency in Electrical Utilities, Chapter 3: Compressed Air System.</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[4] Veloso, B. et al., "The MetroPT dataset for predictive maintenance", Scientific Data 9, 764 (2022); UCI Machine Learning Repository, MetroPT-3 Dataset (id 791).</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[5] IEC 61010-1 and IEC 61010-2-032 (safety of measurement equipment and hand-held current clamps); IEC 60529 (degrees of protection, IP code).</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[6] IS 2379, Pipelines — Identification colour code (Bureau of Indian Standards).</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[7] Component data sheets: Espressif ESP32-S3, Texas Instruments ADS1115, YHDC SCT-013 series.</a:t>
            </a:r>
            <a:endParaRPr lang="en-US" sz="1400" dirty="0"/>
          </a:p>
          <a:p>
            <a:pPr indent="0" marL="0">
              <a:spcAft>
                <a:spcPts val="1000"/>
              </a:spcAft>
              <a:buNone/>
            </a:pPr>
            <a:r>
              <a:rPr lang="en-US" sz="1400" dirty="0">
                <a:solidFill>
                  <a:srgbClr val="0F2730"/>
                </a:solidFill>
                <a:latin typeface="Calibri" pitchFamily="34" charset="0"/>
                <a:ea typeface="Calibri" pitchFamily="34" charset="-122"/>
                <a:cs typeface="Calibri" pitchFamily="34" charset="-120"/>
              </a:rPr>
              <a:t>Images: all screenshots are of the team's own FactoryAir Twin software; diagrams drawn by the team. No third-party images used.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A6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actoryAir Twin">
  <a:themeElements>
    <a:clrScheme name="FactoryAir Twin">
      <a:dk1>
        <a:srgbClr val="0F2730"/>
      </a:dk1>
      <a:lt1>
        <a:srgbClr val="FFFFFF"/>
      </a:lt1>
      <a:dk2>
        <a:srgbClr val="183A45"/>
      </a:dk2>
      <a:lt2>
        <a:srgbClr val="F2F4F5"/>
      </a:lt2>
      <a:accent1>
        <a:srgbClr val="1C6A96"/>
      </a:accent1>
      <a:accent2>
        <a:srgbClr val="F2A516"/>
      </a:accent2>
      <a:accent3>
        <a:srgbClr val="17845A"/>
      </a:accent3>
      <a:accent4>
        <a:srgbClr val="7FC4EA"/>
      </a:accent4>
      <a:accent5>
        <a:srgbClr val="B93A2A"/>
      </a:accent5>
      <a:accent6>
        <a:srgbClr val="5A6A6F"/>
      </a:accent6>
      <a:hlink>
        <a:srgbClr val="1C6A96"/>
      </a:hlink>
      <a:folHlink>
        <a:srgbClr val="183A45"/>
      </a:folHlink>
    </a:clrScheme>
    <a:fontScheme name="FactoryAir Twin">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FactoryAir Twin — Vishwakarma Stage 2</dc:title>
  <dc:subject>PptxGenJS Presentation</dc:subject>
  <dc:creator>Team Volts and Bolts</dc:creator>
  <cp:lastModifiedBy>Team Volts and Bolts</cp:lastModifiedBy>
  <cp:revision>1</cp:revision>
  <dcterms:created xsi:type="dcterms:W3CDTF">2026-10-22T07:08:25Z</dcterms:created>
  <dcterms:modified xsi:type="dcterms:W3CDTF">2026-10-22T07:08:25Z</dcterms:modified>
</cp:coreProperties>
</file>